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4" r:id="rId3"/>
    <p:sldId id="268" r:id="rId4"/>
    <p:sldId id="269" r:id="rId5"/>
    <p:sldId id="270" r:id="rId6"/>
    <p:sldId id="271" r:id="rId7"/>
    <p:sldId id="273" r:id="rId8"/>
    <p:sldId id="272" r:id="rId9"/>
    <p:sldId id="274" r:id="rId10"/>
    <p:sldId id="275" r:id="rId11"/>
    <p:sldId id="276" r:id="rId12"/>
    <p:sldId id="277" r:id="rId13"/>
    <p:sldId id="278" r:id="rId14"/>
    <p:sldId id="279"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963D"/>
    <a:srgbClr val="776612"/>
    <a:srgbClr val="FDDB89"/>
    <a:srgbClr val="FCECAE"/>
    <a:srgbClr val="AA988F"/>
    <a:srgbClr val="BE7C26"/>
    <a:srgbClr val="F7C05A"/>
    <a:srgbClr val="BF5A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22"/>
    <p:restoredTop sz="94976" autoAdjust="0"/>
  </p:normalViewPr>
  <p:slideViewPr>
    <p:cSldViewPr snapToGrid="0">
      <p:cViewPr varScale="1">
        <p:scale>
          <a:sx n="78" d="100"/>
          <a:sy n="78" d="100"/>
        </p:scale>
        <p:origin x="100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0D744-E84F-6343-A86E-B978A19DD840}" type="datetimeFigureOut">
              <a:rPr lang="en-US" smtClean="0"/>
              <a:t>8/1/2026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38C1E9-10D7-BC49-9440-411BDAEE25AF}" type="slidenum">
              <a:rPr lang="en-US" smtClean="0"/>
              <a:t>‹#›</a:t>
            </a:fld>
            <a:endParaRPr lang="en-US" dirty="0"/>
          </a:p>
        </p:txBody>
      </p:sp>
    </p:spTree>
    <p:extLst>
      <p:ext uri="{BB962C8B-B14F-4D97-AF65-F5344CB8AC3E}">
        <p14:creationId xmlns:p14="http://schemas.microsoft.com/office/powerpoint/2010/main" val="3926083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38C1E9-10D7-BC49-9440-411BDAEE25AF}" type="slidenum">
              <a:rPr lang="en-US" smtClean="0"/>
              <a:t>1</a:t>
            </a:fld>
            <a:endParaRPr lang="en-US" dirty="0"/>
          </a:p>
        </p:txBody>
      </p:sp>
    </p:spTree>
    <p:extLst>
      <p:ext uri="{BB962C8B-B14F-4D97-AF65-F5344CB8AC3E}">
        <p14:creationId xmlns:p14="http://schemas.microsoft.com/office/powerpoint/2010/main" val="2045631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38C1E9-10D7-BC49-9440-411BDAEE25AF}" type="slidenum">
              <a:rPr lang="en-US" smtClean="0"/>
              <a:t>2</a:t>
            </a:fld>
            <a:endParaRPr lang="en-US" dirty="0"/>
          </a:p>
        </p:txBody>
      </p:sp>
    </p:spTree>
    <p:extLst>
      <p:ext uri="{BB962C8B-B14F-4D97-AF65-F5344CB8AC3E}">
        <p14:creationId xmlns:p14="http://schemas.microsoft.com/office/powerpoint/2010/main" val="1805267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4869D-E4D1-D339-9315-003F4CFF3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06BA1-20B8-6BA3-9454-C5C1471499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2C47D7-4666-F648-B548-57F5170EF1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C82F62-9958-9397-2217-1F976DE548B2}"/>
              </a:ext>
            </a:extLst>
          </p:cNvPr>
          <p:cNvSpPr>
            <a:spLocks noGrp="1"/>
          </p:cNvSpPr>
          <p:nvPr>
            <p:ph type="sldNum" sz="quarter" idx="5"/>
          </p:nvPr>
        </p:nvSpPr>
        <p:spPr/>
        <p:txBody>
          <a:bodyPr/>
          <a:lstStyle/>
          <a:p>
            <a:fld id="{1C38C1E9-10D7-BC49-9440-411BDAEE25AF}" type="slidenum">
              <a:rPr lang="en-US" smtClean="0"/>
              <a:t>3</a:t>
            </a:fld>
            <a:endParaRPr lang="en-US" dirty="0"/>
          </a:p>
        </p:txBody>
      </p:sp>
    </p:spTree>
    <p:extLst>
      <p:ext uri="{BB962C8B-B14F-4D97-AF65-F5344CB8AC3E}">
        <p14:creationId xmlns:p14="http://schemas.microsoft.com/office/powerpoint/2010/main" val="4151002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967CE-1BDA-BBB1-3B73-21BCC31B4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387FF-A74E-6931-C36E-E64594648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BD6856-762D-61DA-804F-CE8B587C48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D8E908-6AFA-0A62-0CDE-53B6E7995493}"/>
              </a:ext>
            </a:extLst>
          </p:cNvPr>
          <p:cNvSpPr>
            <a:spLocks noGrp="1"/>
          </p:cNvSpPr>
          <p:nvPr>
            <p:ph type="sldNum" sz="quarter" idx="5"/>
          </p:nvPr>
        </p:nvSpPr>
        <p:spPr/>
        <p:txBody>
          <a:bodyPr/>
          <a:lstStyle/>
          <a:p>
            <a:fld id="{1C38C1E9-10D7-BC49-9440-411BDAEE25AF}" type="slidenum">
              <a:rPr lang="en-US" smtClean="0"/>
              <a:t>4</a:t>
            </a:fld>
            <a:endParaRPr lang="en-US" dirty="0"/>
          </a:p>
        </p:txBody>
      </p:sp>
    </p:spTree>
    <p:extLst>
      <p:ext uri="{BB962C8B-B14F-4D97-AF65-F5344CB8AC3E}">
        <p14:creationId xmlns:p14="http://schemas.microsoft.com/office/powerpoint/2010/main" val="2705858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54402-3A91-0E16-F111-F76F526535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BBB51-49D8-EE9D-4AB8-457B7B478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24EA28-5040-BB48-80E1-7643C82588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343DB6-651D-900B-3745-BDF6BAC01FA2}"/>
              </a:ext>
            </a:extLst>
          </p:cNvPr>
          <p:cNvSpPr>
            <a:spLocks noGrp="1"/>
          </p:cNvSpPr>
          <p:nvPr>
            <p:ph type="sldNum" sz="quarter" idx="5"/>
          </p:nvPr>
        </p:nvSpPr>
        <p:spPr/>
        <p:txBody>
          <a:bodyPr/>
          <a:lstStyle/>
          <a:p>
            <a:fld id="{1C38C1E9-10D7-BC49-9440-411BDAEE25AF}" type="slidenum">
              <a:rPr lang="en-US" smtClean="0"/>
              <a:t>5</a:t>
            </a:fld>
            <a:endParaRPr lang="en-US" dirty="0"/>
          </a:p>
        </p:txBody>
      </p:sp>
    </p:spTree>
    <p:extLst>
      <p:ext uri="{BB962C8B-B14F-4D97-AF65-F5344CB8AC3E}">
        <p14:creationId xmlns:p14="http://schemas.microsoft.com/office/powerpoint/2010/main" val="2198731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822F7-B1F0-CE86-D5C5-68A74348F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54578-3D8E-90D6-90D6-6ECD11CC0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65501-F822-906E-A2E0-0FF33798BA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CC329D-CC94-40AF-1614-83BB8D9E9AF9}"/>
              </a:ext>
            </a:extLst>
          </p:cNvPr>
          <p:cNvSpPr>
            <a:spLocks noGrp="1"/>
          </p:cNvSpPr>
          <p:nvPr>
            <p:ph type="sldNum" sz="quarter" idx="5"/>
          </p:nvPr>
        </p:nvSpPr>
        <p:spPr/>
        <p:txBody>
          <a:bodyPr/>
          <a:lstStyle/>
          <a:p>
            <a:fld id="{1C38C1E9-10D7-BC49-9440-411BDAEE25AF}" type="slidenum">
              <a:rPr lang="en-US" smtClean="0"/>
              <a:t>6</a:t>
            </a:fld>
            <a:endParaRPr lang="en-US" dirty="0"/>
          </a:p>
        </p:txBody>
      </p:sp>
    </p:spTree>
    <p:extLst>
      <p:ext uri="{BB962C8B-B14F-4D97-AF65-F5344CB8AC3E}">
        <p14:creationId xmlns:p14="http://schemas.microsoft.com/office/powerpoint/2010/main" val="3891490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B2C62-9511-6402-A246-BE24E3CA4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26EF9-F9C7-DE16-38ED-785FC824F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21BFF-6826-E1F7-E9EE-3D1F87786D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17C7FC-3CC5-F6F0-B1D0-181117F8AEF6}"/>
              </a:ext>
            </a:extLst>
          </p:cNvPr>
          <p:cNvSpPr>
            <a:spLocks noGrp="1"/>
          </p:cNvSpPr>
          <p:nvPr>
            <p:ph type="sldNum" sz="quarter" idx="5"/>
          </p:nvPr>
        </p:nvSpPr>
        <p:spPr/>
        <p:txBody>
          <a:bodyPr/>
          <a:lstStyle/>
          <a:p>
            <a:fld id="{1C38C1E9-10D7-BC49-9440-411BDAEE25AF}" type="slidenum">
              <a:rPr lang="en-US" smtClean="0"/>
              <a:t>7</a:t>
            </a:fld>
            <a:endParaRPr lang="en-US" dirty="0"/>
          </a:p>
        </p:txBody>
      </p:sp>
    </p:spTree>
    <p:extLst>
      <p:ext uri="{BB962C8B-B14F-4D97-AF65-F5344CB8AC3E}">
        <p14:creationId xmlns:p14="http://schemas.microsoft.com/office/powerpoint/2010/main" val="3839599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1F39F-F75E-A9E9-28CA-77CBA8D6E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7781A-979E-2D3C-4BD4-3D4FC398C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E3067C-26E4-8281-B866-8C1F0C048C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AD9CFF-5C6A-9245-9A5B-2C40C683708C}"/>
              </a:ext>
            </a:extLst>
          </p:cNvPr>
          <p:cNvSpPr>
            <a:spLocks noGrp="1"/>
          </p:cNvSpPr>
          <p:nvPr>
            <p:ph type="sldNum" sz="quarter" idx="5"/>
          </p:nvPr>
        </p:nvSpPr>
        <p:spPr/>
        <p:txBody>
          <a:bodyPr/>
          <a:lstStyle/>
          <a:p>
            <a:fld id="{1C38C1E9-10D7-BC49-9440-411BDAEE25AF}" type="slidenum">
              <a:rPr lang="en-US" smtClean="0"/>
              <a:t>8</a:t>
            </a:fld>
            <a:endParaRPr lang="en-US" dirty="0"/>
          </a:p>
        </p:txBody>
      </p:sp>
    </p:spTree>
    <p:extLst>
      <p:ext uri="{BB962C8B-B14F-4D97-AF65-F5344CB8AC3E}">
        <p14:creationId xmlns:p14="http://schemas.microsoft.com/office/powerpoint/2010/main" val="1867942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9277D-ED62-40A5-5828-E0EE846E2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5DDDC-D2F3-86D0-379E-0106A3E25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52A6D-0E15-7E5E-41EC-C1072F8463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C3E2D4-7AE9-19BC-5FF7-36291857D17A}"/>
              </a:ext>
            </a:extLst>
          </p:cNvPr>
          <p:cNvSpPr>
            <a:spLocks noGrp="1"/>
          </p:cNvSpPr>
          <p:nvPr>
            <p:ph type="sldNum" sz="quarter" idx="5"/>
          </p:nvPr>
        </p:nvSpPr>
        <p:spPr/>
        <p:txBody>
          <a:bodyPr/>
          <a:lstStyle/>
          <a:p>
            <a:fld id="{1C38C1E9-10D7-BC49-9440-411BDAEE25AF}" type="slidenum">
              <a:rPr lang="en-US" smtClean="0"/>
              <a:t>9</a:t>
            </a:fld>
            <a:endParaRPr lang="en-US" dirty="0"/>
          </a:p>
        </p:txBody>
      </p:sp>
    </p:spTree>
    <p:extLst>
      <p:ext uri="{BB962C8B-B14F-4D97-AF65-F5344CB8AC3E}">
        <p14:creationId xmlns:p14="http://schemas.microsoft.com/office/powerpoint/2010/main" val="1079637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E6DAE-0815-5CF3-CCFC-A43E5DDB7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6C4D4-0D35-45AE-BD53-03AEA8C71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656137-EBDD-ACD6-DF1B-C1C475BA8F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D38DB4-8C0D-EBB8-117D-BE8741F9F40F}"/>
              </a:ext>
            </a:extLst>
          </p:cNvPr>
          <p:cNvSpPr>
            <a:spLocks noGrp="1"/>
          </p:cNvSpPr>
          <p:nvPr>
            <p:ph type="sldNum" sz="quarter" idx="5"/>
          </p:nvPr>
        </p:nvSpPr>
        <p:spPr/>
        <p:txBody>
          <a:bodyPr/>
          <a:lstStyle/>
          <a:p>
            <a:fld id="{1C38C1E9-10D7-BC49-9440-411BDAEE25AF}" type="slidenum">
              <a:rPr lang="en-US" smtClean="0"/>
              <a:t>10</a:t>
            </a:fld>
            <a:endParaRPr lang="en-US" dirty="0"/>
          </a:p>
        </p:txBody>
      </p:sp>
    </p:spTree>
    <p:extLst>
      <p:ext uri="{BB962C8B-B14F-4D97-AF65-F5344CB8AC3E}">
        <p14:creationId xmlns:p14="http://schemas.microsoft.com/office/powerpoint/2010/main" val="3833809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CFFE0-8657-BC5B-5599-9EA0282C4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D14CF7-DFE1-EF12-6618-C7C1FA202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B8645-53E8-BCF2-EDE1-D2F9573299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5EDF71-5880-DA9E-172E-D089DA628134}"/>
              </a:ext>
            </a:extLst>
          </p:cNvPr>
          <p:cNvSpPr>
            <a:spLocks noGrp="1"/>
          </p:cNvSpPr>
          <p:nvPr>
            <p:ph type="sldNum" sz="quarter" idx="5"/>
          </p:nvPr>
        </p:nvSpPr>
        <p:spPr/>
        <p:txBody>
          <a:bodyPr/>
          <a:lstStyle/>
          <a:p>
            <a:fld id="{1C38C1E9-10D7-BC49-9440-411BDAEE25AF}" type="slidenum">
              <a:rPr lang="en-US" smtClean="0"/>
              <a:t>11</a:t>
            </a:fld>
            <a:endParaRPr lang="en-US" dirty="0"/>
          </a:p>
        </p:txBody>
      </p:sp>
    </p:spTree>
    <p:extLst>
      <p:ext uri="{BB962C8B-B14F-4D97-AF65-F5344CB8AC3E}">
        <p14:creationId xmlns:p14="http://schemas.microsoft.com/office/powerpoint/2010/main" val="12007264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9C463-D3A6-2CD7-9C9D-A16653F7B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0DF0C-5AD8-4E5F-FCD1-6EC06DE3B7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C65611-DD40-1016-4C68-712C23A141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4FFBE2-2369-9646-8308-BE02D860093A}"/>
              </a:ext>
            </a:extLst>
          </p:cNvPr>
          <p:cNvSpPr>
            <a:spLocks noGrp="1"/>
          </p:cNvSpPr>
          <p:nvPr>
            <p:ph type="sldNum" sz="quarter" idx="5"/>
          </p:nvPr>
        </p:nvSpPr>
        <p:spPr/>
        <p:txBody>
          <a:bodyPr/>
          <a:lstStyle/>
          <a:p>
            <a:fld id="{1C38C1E9-10D7-BC49-9440-411BDAEE25AF}" type="slidenum">
              <a:rPr lang="en-US" smtClean="0"/>
              <a:t>12</a:t>
            </a:fld>
            <a:endParaRPr lang="en-US" dirty="0"/>
          </a:p>
        </p:txBody>
      </p:sp>
    </p:spTree>
    <p:extLst>
      <p:ext uri="{BB962C8B-B14F-4D97-AF65-F5344CB8AC3E}">
        <p14:creationId xmlns:p14="http://schemas.microsoft.com/office/powerpoint/2010/main" val="2784559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B044B-E4D8-A758-2730-9EECD807F9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BEE787-446E-A8A8-5F10-B2F1463773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F38557-6019-5403-C068-C5B3B572EA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6485A6-9185-48AC-AE3C-C2E60DC191A1}"/>
              </a:ext>
            </a:extLst>
          </p:cNvPr>
          <p:cNvSpPr>
            <a:spLocks noGrp="1"/>
          </p:cNvSpPr>
          <p:nvPr>
            <p:ph type="sldNum" sz="quarter" idx="5"/>
          </p:nvPr>
        </p:nvSpPr>
        <p:spPr/>
        <p:txBody>
          <a:bodyPr/>
          <a:lstStyle/>
          <a:p>
            <a:fld id="{1C38C1E9-10D7-BC49-9440-411BDAEE25AF}" type="slidenum">
              <a:rPr lang="en-US" smtClean="0"/>
              <a:t>13</a:t>
            </a:fld>
            <a:endParaRPr lang="en-US" dirty="0"/>
          </a:p>
        </p:txBody>
      </p:sp>
    </p:spTree>
    <p:extLst>
      <p:ext uri="{BB962C8B-B14F-4D97-AF65-F5344CB8AC3E}">
        <p14:creationId xmlns:p14="http://schemas.microsoft.com/office/powerpoint/2010/main" val="2140850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682EF-63AC-1281-7A9A-D45386FBE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C31ACB-E15C-8EFB-ACE3-5878484BE6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2925AE-05CD-9EF6-D648-1A41F933EC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E6E1A7-B638-0D15-404E-3B4B1E4F588F}"/>
              </a:ext>
            </a:extLst>
          </p:cNvPr>
          <p:cNvSpPr>
            <a:spLocks noGrp="1"/>
          </p:cNvSpPr>
          <p:nvPr>
            <p:ph type="sldNum" sz="quarter" idx="5"/>
          </p:nvPr>
        </p:nvSpPr>
        <p:spPr/>
        <p:txBody>
          <a:bodyPr/>
          <a:lstStyle/>
          <a:p>
            <a:fld id="{1C38C1E9-10D7-BC49-9440-411BDAEE25AF}" type="slidenum">
              <a:rPr lang="en-US" smtClean="0"/>
              <a:t>14</a:t>
            </a:fld>
            <a:endParaRPr lang="en-US" dirty="0"/>
          </a:p>
        </p:txBody>
      </p:sp>
    </p:spTree>
    <p:extLst>
      <p:ext uri="{BB962C8B-B14F-4D97-AF65-F5344CB8AC3E}">
        <p14:creationId xmlns:p14="http://schemas.microsoft.com/office/powerpoint/2010/main" val="33383207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A4AEA7-C69E-EC95-FA96-07651E7F961E}"/>
              </a:ext>
            </a:extLst>
          </p:cNvPr>
          <p:cNvSpPr/>
          <p:nvPr userDrawn="1"/>
        </p:nvSpPr>
        <p:spPr>
          <a:xfrm>
            <a:off x="0" y="5873610"/>
            <a:ext cx="12192000" cy="984390"/>
          </a:xfrm>
          <a:prstGeom prst="rect">
            <a:avLst/>
          </a:prstGeom>
          <a:solidFill>
            <a:srgbClr val="BE7C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8823CD2-D686-F273-ACE8-AC6A5193C39E}"/>
              </a:ext>
            </a:extLst>
          </p:cNvPr>
          <p:cNvSpPr>
            <a:spLocks noGrp="1"/>
          </p:cNvSpPr>
          <p:nvPr>
            <p:ph type="ctrTitle" hasCustomPrompt="1"/>
          </p:nvPr>
        </p:nvSpPr>
        <p:spPr>
          <a:xfrm>
            <a:off x="933032" y="3601484"/>
            <a:ext cx="10420768" cy="1488697"/>
          </a:xfrm>
        </p:spPr>
        <p:txBody>
          <a:bodyPr anchor="b"/>
          <a:lstStyle>
            <a:lvl1pPr algn="l">
              <a:defRPr sz="2800" b="0" i="0">
                <a:latin typeface="Helvetica Light" panose="020B0403020202020204" pitchFamily="34" charset="0"/>
              </a:defRPr>
            </a:lvl1pPr>
          </a:lstStyle>
          <a:p>
            <a:r>
              <a:rPr lang="en-GB" dirty="0"/>
              <a:t>Title</a:t>
            </a:r>
            <a:endParaRPr lang="en-US" dirty="0"/>
          </a:p>
        </p:txBody>
      </p:sp>
      <p:sp>
        <p:nvSpPr>
          <p:cNvPr id="3" name="Subtitle 2">
            <a:extLst>
              <a:ext uri="{FF2B5EF4-FFF2-40B4-BE49-F238E27FC236}">
                <a16:creationId xmlns:a16="http://schemas.microsoft.com/office/drawing/2014/main" id="{145907D2-0D25-00D2-327C-3DF761F69FEF}"/>
              </a:ext>
            </a:extLst>
          </p:cNvPr>
          <p:cNvSpPr>
            <a:spLocks noGrp="1"/>
          </p:cNvSpPr>
          <p:nvPr>
            <p:ph type="subTitle" idx="1" hasCustomPrompt="1"/>
          </p:nvPr>
        </p:nvSpPr>
        <p:spPr>
          <a:xfrm>
            <a:off x="933032" y="5195330"/>
            <a:ext cx="10420768" cy="478472"/>
          </a:xfrm>
        </p:spPr>
        <p:txBody>
          <a:bodyPr anchor="t">
            <a:normAutofit/>
          </a:bodyPr>
          <a:lstStyle>
            <a:lvl1pPr marL="0" indent="0" algn="l">
              <a:buNone/>
              <a:defRPr sz="1600" b="0" i="0">
                <a:latin typeface="Helvetica Light" panose="020B04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Subtitle</a:t>
            </a:r>
            <a:endParaRPr lang="en-US" dirty="0"/>
          </a:p>
        </p:txBody>
      </p:sp>
      <p:sp>
        <p:nvSpPr>
          <p:cNvPr id="4" name="Date Placeholder 3">
            <a:extLst>
              <a:ext uri="{FF2B5EF4-FFF2-40B4-BE49-F238E27FC236}">
                <a16:creationId xmlns:a16="http://schemas.microsoft.com/office/drawing/2014/main" id="{0CC2A7B7-97FF-9CD1-FD2F-BCF95653E6EB}"/>
              </a:ext>
            </a:extLst>
          </p:cNvPr>
          <p:cNvSpPr>
            <a:spLocks noGrp="1"/>
          </p:cNvSpPr>
          <p:nvPr>
            <p:ph type="dt" sz="half" idx="10"/>
          </p:nvPr>
        </p:nvSpPr>
        <p:spPr>
          <a:xfrm>
            <a:off x="2551602" y="6470650"/>
            <a:ext cx="885024" cy="365125"/>
          </a:xfrm>
        </p:spPr>
        <p:txBody>
          <a:bodyPr/>
          <a:lstStyle/>
          <a:p>
            <a:fld id="{2CA05847-19ED-4347-AEF2-B952E6249A27}" type="datetime1">
              <a:rPr lang="en-US" smtClean="0"/>
              <a:t>8/1/2026</a:t>
            </a:fld>
            <a:endParaRPr lang="en-US" dirty="0"/>
          </a:p>
        </p:txBody>
      </p:sp>
      <p:sp>
        <p:nvSpPr>
          <p:cNvPr id="5" name="Footer Placeholder 4">
            <a:extLst>
              <a:ext uri="{FF2B5EF4-FFF2-40B4-BE49-F238E27FC236}">
                <a16:creationId xmlns:a16="http://schemas.microsoft.com/office/drawing/2014/main" id="{8D4FDF7C-F842-163C-A5D7-8DC89EC54B05}"/>
              </a:ext>
            </a:extLst>
          </p:cNvPr>
          <p:cNvSpPr>
            <a:spLocks noGrp="1"/>
          </p:cNvSpPr>
          <p:nvPr>
            <p:ph type="ftr" sz="quarter" idx="11"/>
          </p:nvPr>
        </p:nvSpPr>
        <p:spPr/>
        <p:txBody>
          <a:bodyPr/>
          <a:lstStyle/>
          <a:p>
            <a:endParaRPr lang="en-US" dirty="0"/>
          </a:p>
        </p:txBody>
      </p:sp>
      <p:pic>
        <p:nvPicPr>
          <p:cNvPr id="9" name="Picture 8" descr="A logo of university of moratuna&#10;&#10;Description automatically generated">
            <a:extLst>
              <a:ext uri="{FF2B5EF4-FFF2-40B4-BE49-F238E27FC236}">
                <a16:creationId xmlns:a16="http://schemas.microsoft.com/office/drawing/2014/main" id="{10FCD895-49D4-2C2B-0DDA-EB174522DF3D}"/>
              </a:ext>
            </a:extLst>
          </p:cNvPr>
          <p:cNvPicPr>
            <a:picLocks noChangeAspect="1"/>
          </p:cNvPicPr>
          <p:nvPr userDrawn="1"/>
        </p:nvPicPr>
        <p:blipFill>
          <a:blip r:embed="rId2"/>
          <a:stretch>
            <a:fillRect/>
          </a:stretch>
        </p:blipFill>
        <p:spPr>
          <a:xfrm>
            <a:off x="-1" y="5810152"/>
            <a:ext cx="993179" cy="1047849"/>
          </a:xfrm>
          <a:prstGeom prst="rect">
            <a:avLst/>
          </a:prstGeom>
        </p:spPr>
      </p:pic>
      <p:sp>
        <p:nvSpPr>
          <p:cNvPr id="10" name="TextBox 9">
            <a:extLst>
              <a:ext uri="{FF2B5EF4-FFF2-40B4-BE49-F238E27FC236}">
                <a16:creationId xmlns:a16="http://schemas.microsoft.com/office/drawing/2014/main" id="{DEE5BC98-C9BE-F182-327E-BA1B46C3C367}"/>
              </a:ext>
            </a:extLst>
          </p:cNvPr>
          <p:cNvSpPr txBox="1"/>
          <p:nvPr userDrawn="1"/>
        </p:nvSpPr>
        <p:spPr>
          <a:xfrm>
            <a:off x="5062822" y="6078801"/>
            <a:ext cx="3499149" cy="523220"/>
          </a:xfrm>
          <a:prstGeom prst="rect">
            <a:avLst/>
          </a:prstGeom>
          <a:noFill/>
        </p:spPr>
        <p:txBody>
          <a:bodyPr wrap="square" rtlCol="0">
            <a:spAutoFit/>
          </a:bodyPr>
          <a:lstStyle/>
          <a:p>
            <a:pPr algn="ctr"/>
            <a:r>
              <a:rPr lang="en-US" sz="1600" b="1" dirty="0">
                <a:solidFill>
                  <a:schemeClr val="bg1"/>
                </a:solidFill>
                <a:latin typeface="Batang" panose="02030600000101010101" pitchFamily="18" charset="-127"/>
                <a:ea typeface="Batang" panose="02030600000101010101" pitchFamily="18" charset="-127"/>
              </a:rPr>
              <a:t>UNIVERSITY OF </a:t>
            </a:r>
            <a:r>
              <a:rPr lang="en-US" sz="1600" b="1" dirty="0">
                <a:solidFill>
                  <a:schemeClr val="bg1"/>
                </a:solidFill>
                <a:latin typeface="Batang" panose="02030600000101010101" pitchFamily="18" charset="-127"/>
                <a:ea typeface="Batang" panose="02030600000101010101" pitchFamily="18" charset="-127"/>
                <a:cs typeface="Bangla Sangam MN" panose="02000000000000000000" pitchFamily="2" charset="0"/>
              </a:rPr>
              <a:t>MORATUWA</a:t>
            </a:r>
            <a:br>
              <a:rPr lang="en-US" sz="1600" b="1" dirty="0">
                <a:solidFill>
                  <a:schemeClr val="bg1"/>
                </a:solidFill>
                <a:latin typeface="Batang" panose="02030600000101010101" pitchFamily="18" charset="-127"/>
                <a:ea typeface="Batang" panose="02030600000101010101" pitchFamily="18" charset="-127"/>
              </a:rPr>
            </a:br>
            <a:r>
              <a:rPr lang="en-US" sz="1200" b="1" dirty="0">
                <a:solidFill>
                  <a:schemeClr val="bg1"/>
                </a:solidFill>
                <a:latin typeface="Batang" panose="02030600000101010101" pitchFamily="18" charset="-127"/>
                <a:ea typeface="Batang" panose="02030600000101010101" pitchFamily="18" charset="-127"/>
              </a:rPr>
              <a:t>Centre for Open and Distance Learning</a:t>
            </a:r>
            <a:endParaRPr lang="en-US" sz="1600" b="1" dirty="0">
              <a:solidFill>
                <a:schemeClr val="bg1"/>
              </a:solidFill>
              <a:latin typeface="Batang" panose="02030600000101010101" pitchFamily="18" charset="-127"/>
              <a:ea typeface="Batang" panose="02030600000101010101" pitchFamily="18" charset="-127"/>
            </a:endParaRPr>
          </a:p>
        </p:txBody>
      </p:sp>
      <p:pic>
        <p:nvPicPr>
          <p:cNvPr id="11" name="Picture 10">
            <a:extLst>
              <a:ext uri="{FF2B5EF4-FFF2-40B4-BE49-F238E27FC236}">
                <a16:creationId xmlns:a16="http://schemas.microsoft.com/office/drawing/2014/main" id="{54F38F87-AB65-252B-4161-C4F3025B79B8}"/>
              </a:ext>
            </a:extLst>
          </p:cNvPr>
          <p:cNvPicPr>
            <a:picLocks noChangeAspect="1"/>
          </p:cNvPicPr>
          <p:nvPr userDrawn="1"/>
        </p:nvPicPr>
        <p:blipFill>
          <a:blip r:embed="rId3"/>
          <a:srcRect t="22189" b="28622"/>
          <a:stretch>
            <a:fillRect/>
          </a:stretch>
        </p:blipFill>
        <p:spPr>
          <a:xfrm>
            <a:off x="0" y="0"/>
            <a:ext cx="12192000" cy="3174522"/>
          </a:xfrm>
          <a:prstGeom prst="rect">
            <a:avLst/>
          </a:prstGeom>
        </p:spPr>
      </p:pic>
      <p:pic>
        <p:nvPicPr>
          <p:cNvPr id="14" name="Picture 13">
            <a:extLst>
              <a:ext uri="{FF2B5EF4-FFF2-40B4-BE49-F238E27FC236}">
                <a16:creationId xmlns:a16="http://schemas.microsoft.com/office/drawing/2014/main" id="{01BCC698-00FA-02AC-2EC8-E03C42F0832F}"/>
              </a:ext>
            </a:extLst>
          </p:cNvPr>
          <p:cNvPicPr>
            <a:picLocks noChangeAspect="1"/>
          </p:cNvPicPr>
          <p:nvPr userDrawn="1"/>
        </p:nvPicPr>
        <p:blipFill>
          <a:blip r:embed="rId4"/>
          <a:stretch>
            <a:fillRect/>
          </a:stretch>
        </p:blipFill>
        <p:spPr>
          <a:xfrm>
            <a:off x="10798490" y="6097902"/>
            <a:ext cx="555310" cy="555310"/>
          </a:xfrm>
          <a:prstGeom prst="rect">
            <a:avLst/>
          </a:prstGeom>
        </p:spPr>
      </p:pic>
      <p:pic>
        <p:nvPicPr>
          <p:cNvPr id="18" name="Picture 17">
            <a:extLst>
              <a:ext uri="{FF2B5EF4-FFF2-40B4-BE49-F238E27FC236}">
                <a16:creationId xmlns:a16="http://schemas.microsoft.com/office/drawing/2014/main" id="{2C8C88C4-B11C-9D28-79DC-BE2A7143E42C}"/>
              </a:ext>
            </a:extLst>
          </p:cNvPr>
          <p:cNvPicPr>
            <a:picLocks noChangeAspect="1"/>
          </p:cNvPicPr>
          <p:nvPr userDrawn="1"/>
        </p:nvPicPr>
        <p:blipFill>
          <a:blip r:embed="rId5"/>
          <a:stretch>
            <a:fillRect/>
          </a:stretch>
        </p:blipFill>
        <p:spPr>
          <a:xfrm>
            <a:off x="11492998" y="6089239"/>
            <a:ext cx="547928" cy="547928"/>
          </a:xfrm>
          <a:prstGeom prst="rect">
            <a:avLst/>
          </a:prstGeom>
        </p:spPr>
      </p:pic>
      <p:pic>
        <p:nvPicPr>
          <p:cNvPr id="20" name="Picture 19">
            <a:extLst>
              <a:ext uri="{FF2B5EF4-FFF2-40B4-BE49-F238E27FC236}">
                <a16:creationId xmlns:a16="http://schemas.microsoft.com/office/drawing/2014/main" id="{99CDFCA1-516B-CA9E-9106-61501DE8953C}"/>
              </a:ext>
            </a:extLst>
          </p:cNvPr>
          <p:cNvPicPr>
            <a:picLocks noChangeAspect="1"/>
          </p:cNvPicPr>
          <p:nvPr userDrawn="1"/>
        </p:nvPicPr>
        <p:blipFill>
          <a:blip r:embed="rId6"/>
          <a:stretch>
            <a:fillRect/>
          </a:stretch>
        </p:blipFill>
        <p:spPr>
          <a:xfrm>
            <a:off x="1132376" y="6146958"/>
            <a:ext cx="3949700" cy="457200"/>
          </a:xfrm>
          <a:prstGeom prst="rect">
            <a:avLst/>
          </a:prstGeom>
        </p:spPr>
      </p:pic>
    </p:spTree>
    <p:extLst>
      <p:ext uri="{BB962C8B-B14F-4D97-AF65-F5344CB8AC3E}">
        <p14:creationId xmlns:p14="http://schemas.microsoft.com/office/powerpoint/2010/main" val="2721484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6725CB-DD15-E2D5-8817-D451B2847E89}"/>
              </a:ext>
            </a:extLst>
          </p:cNvPr>
          <p:cNvSpPr/>
          <p:nvPr userDrawn="1"/>
        </p:nvSpPr>
        <p:spPr>
          <a:xfrm>
            <a:off x="0" y="6386513"/>
            <a:ext cx="12247233" cy="471487"/>
          </a:xfrm>
          <a:prstGeom prst="rect">
            <a:avLst/>
          </a:prstGeom>
          <a:solidFill>
            <a:srgbClr val="D896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35D97062-BBA5-C8F4-B8C5-FC4B9E6AC3A1}"/>
              </a:ext>
            </a:extLst>
          </p:cNvPr>
          <p:cNvPicPr>
            <a:picLocks noChangeAspect="1"/>
          </p:cNvPicPr>
          <p:nvPr userDrawn="1"/>
        </p:nvPicPr>
        <p:blipFill>
          <a:blip r:embed="rId2"/>
          <a:stretch>
            <a:fillRect/>
          </a:stretch>
        </p:blipFill>
        <p:spPr>
          <a:xfrm>
            <a:off x="1161773" y="6467507"/>
            <a:ext cx="333792" cy="333792"/>
          </a:xfrm>
          <a:prstGeom prst="rect">
            <a:avLst/>
          </a:prstGeom>
        </p:spPr>
      </p:pic>
      <p:pic>
        <p:nvPicPr>
          <p:cNvPr id="13" name="Picture 12">
            <a:extLst>
              <a:ext uri="{FF2B5EF4-FFF2-40B4-BE49-F238E27FC236}">
                <a16:creationId xmlns:a16="http://schemas.microsoft.com/office/drawing/2014/main" id="{2466E85E-58C5-3FDA-6529-8BC9EE028FC8}"/>
              </a:ext>
            </a:extLst>
          </p:cNvPr>
          <p:cNvPicPr>
            <a:picLocks noChangeAspect="1"/>
          </p:cNvPicPr>
          <p:nvPr userDrawn="1"/>
        </p:nvPicPr>
        <p:blipFill>
          <a:blip r:embed="rId3"/>
          <a:stretch>
            <a:fillRect/>
          </a:stretch>
        </p:blipFill>
        <p:spPr>
          <a:xfrm>
            <a:off x="1542337" y="6478912"/>
            <a:ext cx="329714" cy="329714"/>
          </a:xfrm>
          <a:prstGeom prst="rect">
            <a:avLst/>
          </a:prstGeom>
        </p:spPr>
      </p:pic>
      <p:pic>
        <p:nvPicPr>
          <p:cNvPr id="16" name="Picture 15">
            <a:extLst>
              <a:ext uri="{FF2B5EF4-FFF2-40B4-BE49-F238E27FC236}">
                <a16:creationId xmlns:a16="http://schemas.microsoft.com/office/drawing/2014/main" id="{C2DB0DD7-EFDB-94C9-A0F9-DFF731694623}"/>
              </a:ext>
            </a:extLst>
          </p:cNvPr>
          <p:cNvPicPr>
            <a:picLocks noChangeAspect="1"/>
          </p:cNvPicPr>
          <p:nvPr userDrawn="1"/>
        </p:nvPicPr>
        <p:blipFill>
          <a:blip r:embed="rId4"/>
          <a:stretch>
            <a:fillRect/>
          </a:stretch>
        </p:blipFill>
        <p:spPr>
          <a:xfrm>
            <a:off x="791428" y="6464962"/>
            <a:ext cx="337679" cy="337679"/>
          </a:xfrm>
          <a:prstGeom prst="rect">
            <a:avLst/>
          </a:prstGeom>
        </p:spPr>
      </p:pic>
      <p:pic>
        <p:nvPicPr>
          <p:cNvPr id="21" name="Picture 20">
            <a:extLst>
              <a:ext uri="{FF2B5EF4-FFF2-40B4-BE49-F238E27FC236}">
                <a16:creationId xmlns:a16="http://schemas.microsoft.com/office/drawing/2014/main" id="{08678ECB-9A15-B439-AF83-8F512B9DD04C}"/>
              </a:ext>
            </a:extLst>
          </p:cNvPr>
          <p:cNvPicPr>
            <a:picLocks noChangeAspect="1"/>
          </p:cNvPicPr>
          <p:nvPr userDrawn="1"/>
        </p:nvPicPr>
        <p:blipFill>
          <a:blip r:embed="rId5"/>
          <a:stretch>
            <a:fillRect/>
          </a:stretch>
        </p:blipFill>
        <p:spPr>
          <a:xfrm>
            <a:off x="1952765" y="6467688"/>
            <a:ext cx="2848362" cy="329714"/>
          </a:xfrm>
          <a:prstGeom prst="rect">
            <a:avLst/>
          </a:prstGeom>
        </p:spPr>
      </p:pic>
      <p:sp>
        <p:nvSpPr>
          <p:cNvPr id="2" name="Title 1">
            <a:extLst>
              <a:ext uri="{FF2B5EF4-FFF2-40B4-BE49-F238E27FC236}">
                <a16:creationId xmlns:a16="http://schemas.microsoft.com/office/drawing/2014/main" id="{A516F693-A763-0D6D-D42F-7AAE7F4D244F}"/>
              </a:ext>
            </a:extLst>
          </p:cNvPr>
          <p:cNvSpPr>
            <a:spLocks noGrp="1"/>
          </p:cNvSpPr>
          <p:nvPr>
            <p:ph type="title"/>
          </p:nvPr>
        </p:nvSpPr>
        <p:spPr>
          <a:xfrm>
            <a:off x="838200" y="365125"/>
            <a:ext cx="10515600" cy="846455"/>
          </a:xfrm>
        </p:spPr>
        <p:txBody>
          <a:bodyPr>
            <a:normAutofit/>
          </a:bodyPr>
          <a:lstStyle>
            <a:lvl1pPr>
              <a:defRPr sz="3200" b="0" i="0">
                <a:latin typeface="Helvetica Light" panose="020B0403020202020204" pitchFamily="34" charset="0"/>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0E99FEBE-C4E2-45C5-F282-8D45A264606F}"/>
              </a:ext>
            </a:extLst>
          </p:cNvPr>
          <p:cNvSpPr>
            <a:spLocks noGrp="1"/>
          </p:cNvSpPr>
          <p:nvPr>
            <p:ph idx="1"/>
          </p:nvPr>
        </p:nvSpPr>
        <p:spPr>
          <a:xfrm>
            <a:off x="838200" y="1295718"/>
            <a:ext cx="10515600" cy="4881245"/>
          </a:xfrm>
        </p:spPr>
        <p:txBody>
          <a:bodyPr/>
          <a:lstStyle>
            <a:lvl1pPr>
              <a:defRPr sz="2400" b="0" i="0">
                <a:latin typeface="Helvetica Light" panose="020B0403020202020204" pitchFamily="34" charset="0"/>
              </a:defRPr>
            </a:lvl1pPr>
            <a:lvl2pPr>
              <a:defRPr sz="2000" b="0" i="0">
                <a:latin typeface="Helvetica Light" panose="020B0403020202020204" pitchFamily="34" charset="0"/>
              </a:defRPr>
            </a:lvl2pPr>
            <a:lvl3pPr>
              <a:defRPr sz="1600" b="0" i="0">
                <a:latin typeface="Helvetica Light" panose="020B0403020202020204" pitchFamily="34" charset="0"/>
              </a:defRPr>
            </a:lvl3pPr>
            <a:lvl4pPr>
              <a:defRPr sz="1400" b="0" i="0">
                <a:latin typeface="Helvetica Light" panose="020B0403020202020204" pitchFamily="34" charset="0"/>
              </a:defRPr>
            </a:lvl4pPr>
            <a:lvl5pPr>
              <a:defRPr sz="1200" b="0" i="0">
                <a:latin typeface="Helvetica Light" panose="020B0403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5D535BE-12FB-ABC9-1582-FEA1C5A9E937}"/>
              </a:ext>
            </a:extLst>
          </p:cNvPr>
          <p:cNvSpPr>
            <a:spLocks noGrp="1"/>
          </p:cNvSpPr>
          <p:nvPr>
            <p:ph type="dt" sz="half" idx="10"/>
          </p:nvPr>
        </p:nvSpPr>
        <p:spPr>
          <a:xfrm>
            <a:off x="8582025" y="6451600"/>
            <a:ext cx="2743200" cy="365125"/>
          </a:xfrm>
        </p:spPr>
        <p:txBody>
          <a:bodyPr/>
          <a:lstStyle/>
          <a:p>
            <a:fld id="{858B1FD3-4AEA-41A5-943D-86B4B96C521D}" type="datetime1">
              <a:rPr lang="en-US" smtClean="0"/>
              <a:t>8/1/2026</a:t>
            </a:fld>
            <a:endParaRPr lang="en-US" dirty="0"/>
          </a:p>
        </p:txBody>
      </p:sp>
      <p:sp>
        <p:nvSpPr>
          <p:cNvPr id="5" name="Footer Placeholder 4">
            <a:extLst>
              <a:ext uri="{FF2B5EF4-FFF2-40B4-BE49-F238E27FC236}">
                <a16:creationId xmlns:a16="http://schemas.microsoft.com/office/drawing/2014/main" id="{7531F0D1-18D2-E00A-1709-989FADF31D6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229BF95-FD3F-9D31-E0D8-D1B7C1BE6EDF}"/>
              </a:ext>
            </a:extLst>
          </p:cNvPr>
          <p:cNvSpPr>
            <a:spLocks noGrp="1"/>
          </p:cNvSpPr>
          <p:nvPr>
            <p:ph type="sldNum" sz="quarter" idx="12"/>
          </p:nvPr>
        </p:nvSpPr>
        <p:spPr/>
        <p:txBody>
          <a:bodyPr/>
          <a:lstStyle/>
          <a:p>
            <a:fld id="{863210D4-8309-FA4E-999D-6938C4C3C70A}" type="slidenum">
              <a:rPr lang="en-US" smtClean="0"/>
              <a:pPr/>
              <a:t>‹#›</a:t>
            </a:fld>
            <a:endParaRPr lang="en-US" dirty="0"/>
          </a:p>
        </p:txBody>
      </p:sp>
      <p:sp>
        <p:nvSpPr>
          <p:cNvPr id="10" name="TextBox 9">
            <a:extLst>
              <a:ext uri="{FF2B5EF4-FFF2-40B4-BE49-F238E27FC236}">
                <a16:creationId xmlns:a16="http://schemas.microsoft.com/office/drawing/2014/main" id="{1A3919E0-AD3E-C694-05D7-9C8811DCBB6C}"/>
              </a:ext>
            </a:extLst>
          </p:cNvPr>
          <p:cNvSpPr txBox="1"/>
          <p:nvPr userDrawn="1"/>
        </p:nvSpPr>
        <p:spPr>
          <a:xfrm>
            <a:off x="4346425" y="6456645"/>
            <a:ext cx="3499149" cy="369332"/>
          </a:xfrm>
          <a:prstGeom prst="rect">
            <a:avLst/>
          </a:prstGeom>
          <a:noFill/>
        </p:spPr>
        <p:txBody>
          <a:bodyPr wrap="square" rtlCol="0">
            <a:spAutoFit/>
          </a:bodyPr>
          <a:lstStyle/>
          <a:p>
            <a:pPr algn="ctr"/>
            <a:r>
              <a:rPr lang="en-US" sz="1000" b="1" dirty="0">
                <a:solidFill>
                  <a:schemeClr val="bg1"/>
                </a:solidFill>
                <a:latin typeface="Batang" panose="02030600000101010101" pitchFamily="18" charset="-127"/>
                <a:ea typeface="Batang" panose="02030600000101010101" pitchFamily="18" charset="-127"/>
              </a:rPr>
              <a:t>UNIVERSITY OF </a:t>
            </a:r>
            <a:r>
              <a:rPr lang="en-US" sz="1000" b="1" dirty="0">
                <a:solidFill>
                  <a:schemeClr val="bg1"/>
                </a:solidFill>
                <a:latin typeface="Batang" panose="02030600000101010101" pitchFamily="18" charset="-127"/>
                <a:ea typeface="Batang" panose="02030600000101010101" pitchFamily="18" charset="-127"/>
                <a:cs typeface="Bangla Sangam MN" panose="02000000000000000000" pitchFamily="2" charset="0"/>
              </a:rPr>
              <a:t>MORATUWA</a:t>
            </a:r>
            <a:br>
              <a:rPr lang="en-US" sz="1000" b="1" dirty="0">
                <a:solidFill>
                  <a:schemeClr val="bg1"/>
                </a:solidFill>
                <a:latin typeface="Batang" panose="02030600000101010101" pitchFamily="18" charset="-127"/>
                <a:ea typeface="Batang" panose="02030600000101010101" pitchFamily="18" charset="-127"/>
              </a:rPr>
            </a:br>
            <a:r>
              <a:rPr lang="en-US" sz="800" b="1" dirty="0">
                <a:solidFill>
                  <a:schemeClr val="bg1"/>
                </a:solidFill>
                <a:latin typeface="Batang" panose="02030600000101010101" pitchFamily="18" charset="-127"/>
                <a:ea typeface="Batang" panose="02030600000101010101" pitchFamily="18" charset="-127"/>
              </a:rPr>
              <a:t>Centre for Open and  Distance Learning</a:t>
            </a:r>
            <a:endParaRPr lang="en-US" sz="1000" b="1" dirty="0">
              <a:solidFill>
                <a:schemeClr val="bg1"/>
              </a:solidFill>
              <a:latin typeface="Batang" panose="02030600000101010101" pitchFamily="18" charset="-127"/>
              <a:ea typeface="Batang" panose="02030600000101010101" pitchFamily="18" charset="-127"/>
            </a:endParaRPr>
          </a:p>
        </p:txBody>
      </p:sp>
    </p:spTree>
    <p:extLst>
      <p:ext uri="{BB962C8B-B14F-4D97-AF65-F5344CB8AC3E}">
        <p14:creationId xmlns:p14="http://schemas.microsoft.com/office/powerpoint/2010/main" val="19722906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4B7258-7DF7-6F12-F6A4-FA86F2096E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909392C8-15D6-5420-8CC6-1FE77A02D7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3A479B64-BBDE-4ED8-6931-53EFBEE506F0}"/>
              </a:ext>
            </a:extLst>
          </p:cNvPr>
          <p:cNvSpPr>
            <a:spLocks noGrp="1"/>
          </p:cNvSpPr>
          <p:nvPr>
            <p:ph type="dt" sz="half" idx="2"/>
          </p:nvPr>
        </p:nvSpPr>
        <p:spPr>
          <a:xfrm>
            <a:off x="838200" y="6470650"/>
            <a:ext cx="2743200" cy="365125"/>
          </a:xfrm>
          <a:prstGeom prst="rect">
            <a:avLst/>
          </a:prstGeom>
        </p:spPr>
        <p:txBody>
          <a:bodyPr vert="horz" lIns="91440" tIns="45720" rIns="91440" bIns="45720" rtlCol="0" anchor="ctr"/>
          <a:lstStyle>
            <a:lvl1pPr algn="l">
              <a:defRPr sz="1200">
                <a:solidFill>
                  <a:schemeClr val="bg1"/>
                </a:solidFill>
              </a:defRPr>
            </a:lvl1pPr>
          </a:lstStyle>
          <a:p>
            <a:fld id="{0BE1F675-7703-4C18-A059-3C6B370B5644}" type="datetime1">
              <a:rPr lang="en-US" smtClean="0"/>
              <a:t>8/1/2026</a:t>
            </a:fld>
            <a:endParaRPr lang="en-US" dirty="0"/>
          </a:p>
        </p:txBody>
      </p:sp>
      <p:sp>
        <p:nvSpPr>
          <p:cNvPr id="5" name="Footer Placeholder 4">
            <a:extLst>
              <a:ext uri="{FF2B5EF4-FFF2-40B4-BE49-F238E27FC236}">
                <a16:creationId xmlns:a16="http://schemas.microsoft.com/office/drawing/2014/main" id="{4B929463-8263-DA6C-1CA8-766FCBB6BC84}"/>
              </a:ext>
            </a:extLst>
          </p:cNvPr>
          <p:cNvSpPr>
            <a:spLocks noGrp="1"/>
          </p:cNvSpPr>
          <p:nvPr>
            <p:ph type="ftr" sz="quarter" idx="3"/>
          </p:nvPr>
        </p:nvSpPr>
        <p:spPr>
          <a:xfrm>
            <a:off x="4038600" y="64706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DC1E67D-10E4-C059-B683-7A8710201BB7}"/>
              </a:ext>
            </a:extLst>
          </p:cNvPr>
          <p:cNvSpPr>
            <a:spLocks noGrp="1"/>
          </p:cNvSpPr>
          <p:nvPr>
            <p:ph type="sldNum" sz="quarter" idx="4"/>
          </p:nvPr>
        </p:nvSpPr>
        <p:spPr>
          <a:xfrm>
            <a:off x="8610600" y="6470650"/>
            <a:ext cx="2743200" cy="365125"/>
          </a:xfrm>
          <a:prstGeom prst="rect">
            <a:avLst/>
          </a:prstGeom>
        </p:spPr>
        <p:txBody>
          <a:bodyPr vert="horz" lIns="91440" tIns="45720" rIns="91440" bIns="45720" rtlCol="0" anchor="ctr"/>
          <a:lstStyle>
            <a:lvl1pPr algn="r">
              <a:defRPr sz="1200">
                <a:solidFill>
                  <a:schemeClr val="bg1"/>
                </a:solidFill>
              </a:defRPr>
            </a:lvl1pPr>
          </a:lstStyle>
          <a:p>
            <a:fld id="{863210D4-8309-FA4E-999D-6938C4C3C70A}" type="slidenum">
              <a:rPr lang="en-US" smtClean="0"/>
              <a:pPr/>
              <a:t>‹#›</a:t>
            </a:fld>
            <a:endParaRPr lang="en-US" dirty="0"/>
          </a:p>
        </p:txBody>
      </p:sp>
    </p:spTree>
    <p:extLst>
      <p:ext uri="{BB962C8B-B14F-4D97-AF65-F5344CB8AC3E}">
        <p14:creationId xmlns:p14="http://schemas.microsoft.com/office/powerpoint/2010/main" val="861751707"/>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016/S1096-7516(00)00016-6"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43855B9-DB2C-F27C-5B9D-47B749731435}"/>
              </a:ext>
            </a:extLst>
          </p:cNvPr>
          <p:cNvSpPr>
            <a:spLocks noGrp="1"/>
          </p:cNvSpPr>
          <p:nvPr>
            <p:ph type="ctrTitle"/>
          </p:nvPr>
        </p:nvSpPr>
        <p:spPr>
          <a:xfrm>
            <a:off x="950951" y="3429000"/>
            <a:ext cx="10934503" cy="1488697"/>
          </a:xfrm>
        </p:spPr>
        <p:txBody>
          <a:bodyPr>
            <a:noAutofit/>
          </a:bodyPr>
          <a:lstStyle/>
          <a:p>
            <a:pPr algn="ctr"/>
            <a:r>
              <a:rPr lang="en-US" sz="3600" b="1" dirty="0">
                <a:latin typeface="+mn-lt"/>
              </a:rPr>
              <a:t>Continuation of Post-Pandemic Online Learning Preferences among Children in Sri Lanka: </a:t>
            </a:r>
            <a:br>
              <a:rPr lang="en-US" sz="3600" b="1" dirty="0">
                <a:latin typeface="+mn-lt"/>
              </a:rPr>
            </a:br>
            <a:r>
              <a:rPr lang="en-US" sz="3600" b="1" dirty="0">
                <a:latin typeface="+mn-lt"/>
              </a:rPr>
              <a:t>A Qualitative Study</a:t>
            </a:r>
          </a:p>
        </p:txBody>
      </p:sp>
      <p:sp>
        <p:nvSpPr>
          <p:cNvPr id="11" name="Subtitle 10">
            <a:extLst>
              <a:ext uri="{FF2B5EF4-FFF2-40B4-BE49-F238E27FC236}">
                <a16:creationId xmlns:a16="http://schemas.microsoft.com/office/drawing/2014/main" id="{FE15B6C6-B1A2-75CE-4997-9076D576650F}"/>
              </a:ext>
            </a:extLst>
          </p:cNvPr>
          <p:cNvSpPr>
            <a:spLocks noGrp="1"/>
          </p:cNvSpPr>
          <p:nvPr>
            <p:ph type="subTitle" idx="1"/>
          </p:nvPr>
        </p:nvSpPr>
        <p:spPr/>
        <p:txBody>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(Paper ID: 46)</a:t>
            </a:r>
          </a:p>
          <a:p>
            <a:endParaRPr lang="en-US" dirty="0"/>
          </a:p>
        </p:txBody>
      </p:sp>
      <p:sp>
        <p:nvSpPr>
          <p:cNvPr id="2" name="Date Placeholder 1">
            <a:extLst>
              <a:ext uri="{FF2B5EF4-FFF2-40B4-BE49-F238E27FC236}">
                <a16:creationId xmlns:a16="http://schemas.microsoft.com/office/drawing/2014/main" id="{7EEB532A-0E1B-B62C-36B8-F727E5151740}"/>
              </a:ext>
            </a:extLst>
          </p:cNvPr>
          <p:cNvSpPr>
            <a:spLocks noGrp="1"/>
          </p:cNvSpPr>
          <p:nvPr>
            <p:ph type="dt" sz="half" idx="10"/>
          </p:nvPr>
        </p:nvSpPr>
        <p:spPr/>
        <p:txBody>
          <a:bodyPr/>
          <a:lstStyle/>
          <a:p>
            <a:fld id="{A5274077-899A-4B14-AB6E-0313F990C7DA}" type="datetime1">
              <a:rPr lang="en-US" smtClean="0"/>
              <a:t>8/1/2026</a:t>
            </a:fld>
            <a:endParaRPr lang="en-US" dirty="0"/>
          </a:p>
        </p:txBody>
      </p:sp>
    </p:spTree>
    <p:extLst>
      <p:ext uri="{BB962C8B-B14F-4D97-AF65-F5344CB8AC3E}">
        <p14:creationId xmlns:p14="http://schemas.microsoft.com/office/powerpoint/2010/main" val="3317359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DD428C3-C6C5-C588-F0A8-8EC4D0B815CE}"/>
              </a:ext>
            </a:extLst>
          </p:cNvPr>
          <p:cNvSpPr>
            <a:spLocks noGrp="1"/>
          </p:cNvSpPr>
          <p:nvPr>
            <p:ph type="title"/>
          </p:nvPr>
        </p:nvSpPr>
        <p:spPr/>
        <p:txBody>
          <a:bodyPr/>
          <a:lstStyle/>
          <a:p>
            <a:r>
              <a:rPr lang="en-US" b="1" dirty="0">
                <a:solidFill>
                  <a:srgbClr val="C00000"/>
                </a:solidFill>
                <a:latin typeface="+mn-lt"/>
              </a:rPr>
              <a:t>Background of the Study</a:t>
            </a:r>
          </a:p>
        </p:txBody>
      </p:sp>
      <p:sp>
        <p:nvSpPr>
          <p:cNvPr id="9" name="Content Placeholder 8">
            <a:extLst>
              <a:ext uri="{FF2B5EF4-FFF2-40B4-BE49-F238E27FC236}">
                <a16:creationId xmlns:a16="http://schemas.microsoft.com/office/drawing/2014/main" id="{5AD189A8-9DF0-4A7D-5611-C7570DD5580C}"/>
              </a:ext>
            </a:extLst>
          </p:cNvPr>
          <p:cNvSpPr>
            <a:spLocks noGrp="1"/>
          </p:cNvSpPr>
          <p:nvPr>
            <p:ph idx="1"/>
          </p:nvPr>
        </p:nvSpPr>
        <p:spPr>
          <a:xfrm>
            <a:off x="936523" y="1069576"/>
            <a:ext cx="10515600" cy="4881245"/>
          </a:xfrm>
        </p:spPr>
        <p:txBody>
          <a:bodyPr>
            <a:normAutofit fontScale="92500" lnSpcReduction="20000"/>
          </a:bodyPr>
          <a:lstStyle/>
          <a:p>
            <a:pPr marL="0" indent="0">
              <a:buNone/>
            </a:pPr>
            <a:endParaRPr lang="en-US" b="1" dirty="0"/>
          </a:p>
          <a:p>
            <a:pPr marL="0" indent="0">
              <a:buNone/>
            </a:pPr>
            <a:r>
              <a:rPr lang="en-US" b="1" dirty="0">
                <a:latin typeface="+mn-lt"/>
              </a:rPr>
              <a:t>COVID-19 and Educational Transformation</a:t>
            </a:r>
          </a:p>
          <a:p>
            <a:pPr lvl="0">
              <a:buFont typeface="Wingdings" panose="05000000000000000000" pitchFamily="2" charset="2"/>
              <a:buChar char="§"/>
            </a:pPr>
            <a:r>
              <a:rPr lang="en-US" dirty="0">
                <a:latin typeface="+mn-lt"/>
              </a:rPr>
              <a:t>COVID-19 created an unprecedented disruption in global education systems. </a:t>
            </a:r>
          </a:p>
          <a:p>
            <a:pPr lvl="0">
              <a:buFont typeface="Wingdings" panose="05000000000000000000" pitchFamily="2" charset="2"/>
              <a:buChar char="§"/>
            </a:pPr>
            <a:r>
              <a:rPr lang="en-US" dirty="0">
                <a:latin typeface="+mn-lt"/>
              </a:rPr>
              <a:t>Schools shifted rapidly from traditional classroom learning to online platforms. </a:t>
            </a:r>
          </a:p>
          <a:p>
            <a:pPr lvl="0">
              <a:buFont typeface="Wingdings" panose="05000000000000000000" pitchFamily="2" charset="2"/>
              <a:buChar char="§"/>
            </a:pPr>
            <a:r>
              <a:rPr lang="en-US" dirty="0">
                <a:latin typeface="+mn-lt"/>
              </a:rPr>
              <a:t>Online learning was initially introduced as a temporary solution for educational continuity. </a:t>
            </a:r>
          </a:p>
          <a:p>
            <a:pPr lvl="0">
              <a:buFont typeface="Wingdings" panose="05000000000000000000" pitchFamily="2" charset="2"/>
              <a:buChar char="§"/>
            </a:pPr>
            <a:r>
              <a:rPr lang="en-US" dirty="0">
                <a:latin typeface="+mn-lt"/>
              </a:rPr>
              <a:t>However, even after returning to normal schooling, some children continued to prefer online learning. </a:t>
            </a:r>
          </a:p>
          <a:p>
            <a:pPr marL="0" indent="0">
              <a:buNone/>
            </a:pPr>
            <a:r>
              <a:rPr lang="en-US" b="1" dirty="0">
                <a:latin typeface="+mn-lt"/>
              </a:rPr>
              <a:t>Sri Lankan Context</a:t>
            </a:r>
          </a:p>
          <a:p>
            <a:pPr lvl="0">
              <a:buFont typeface="Wingdings" panose="05000000000000000000" pitchFamily="2" charset="2"/>
              <a:buChar char="§"/>
            </a:pPr>
            <a:r>
              <a:rPr lang="en-US" dirty="0">
                <a:latin typeface="+mn-lt"/>
              </a:rPr>
              <a:t>Sri Lanka traditionally follows a teacher-centered, classroom-based education system. </a:t>
            </a:r>
          </a:p>
          <a:p>
            <a:pPr>
              <a:buFont typeface="Wingdings" panose="05000000000000000000" pitchFamily="2" charset="2"/>
              <a:buChar char="§"/>
            </a:pPr>
            <a:r>
              <a:rPr lang="en-US" dirty="0">
                <a:latin typeface="+mn-lt"/>
              </a:rPr>
              <a:t>Yet, the pandemic accelerated children's exposure to: </a:t>
            </a:r>
          </a:p>
          <a:p>
            <a:pPr lvl="1" algn="ctr">
              <a:buFont typeface="Wingdings" panose="05000000000000000000" pitchFamily="2" charset="2"/>
              <a:buChar char="ü"/>
            </a:pPr>
            <a:r>
              <a:rPr lang="en-US" dirty="0">
                <a:latin typeface="+mn-lt"/>
              </a:rPr>
              <a:t>Digital platforms </a:t>
            </a:r>
          </a:p>
          <a:p>
            <a:pPr lvl="1" algn="ctr">
              <a:buFont typeface="Wingdings" panose="05000000000000000000" pitchFamily="2" charset="2"/>
              <a:buChar char="ü"/>
            </a:pPr>
            <a:r>
              <a:rPr lang="en-US" dirty="0">
                <a:latin typeface="+mn-lt"/>
              </a:rPr>
              <a:t>Online resources </a:t>
            </a:r>
          </a:p>
          <a:p>
            <a:pPr lvl="1" algn="ctr">
              <a:buFont typeface="Wingdings" panose="05000000000000000000" pitchFamily="2" charset="2"/>
              <a:buChar char="ü"/>
            </a:pPr>
            <a:r>
              <a:rPr lang="en-US" dirty="0">
                <a:latin typeface="+mn-lt"/>
              </a:rPr>
              <a:t>Independent learning approaches</a:t>
            </a:r>
          </a:p>
          <a:p>
            <a:endParaRPr lang="en-US" dirty="0"/>
          </a:p>
        </p:txBody>
      </p:sp>
      <p:sp>
        <p:nvSpPr>
          <p:cNvPr id="2" name="Date Placeholder 1">
            <a:extLst>
              <a:ext uri="{FF2B5EF4-FFF2-40B4-BE49-F238E27FC236}">
                <a16:creationId xmlns:a16="http://schemas.microsoft.com/office/drawing/2014/main" id="{8E93696D-E439-FAD9-193F-773219E84DB4}"/>
              </a:ext>
            </a:extLst>
          </p:cNvPr>
          <p:cNvSpPr>
            <a:spLocks noGrp="1"/>
          </p:cNvSpPr>
          <p:nvPr>
            <p:ph type="dt" sz="half" idx="10"/>
          </p:nvPr>
        </p:nvSpPr>
        <p:spPr/>
        <p:txBody>
          <a:bodyPr/>
          <a:lstStyle/>
          <a:p>
            <a:fld id="{CAD26966-9675-4C47-8E10-00540E5C7DA5}" type="datetime1">
              <a:rPr lang="en-US" smtClean="0"/>
              <a:t>8/1/2026</a:t>
            </a:fld>
            <a:endParaRPr lang="en-US" dirty="0"/>
          </a:p>
        </p:txBody>
      </p:sp>
      <p:sp>
        <p:nvSpPr>
          <p:cNvPr id="3" name="Slide Number Placeholder 2">
            <a:extLst>
              <a:ext uri="{FF2B5EF4-FFF2-40B4-BE49-F238E27FC236}">
                <a16:creationId xmlns:a16="http://schemas.microsoft.com/office/drawing/2014/main" id="{0F9E16CE-D55E-7594-4432-6B8D8E7AE8F0}"/>
              </a:ext>
            </a:extLst>
          </p:cNvPr>
          <p:cNvSpPr>
            <a:spLocks noGrp="1"/>
          </p:cNvSpPr>
          <p:nvPr>
            <p:ph type="sldNum" sz="quarter" idx="12"/>
          </p:nvPr>
        </p:nvSpPr>
        <p:spPr/>
        <p:txBody>
          <a:bodyPr/>
          <a:lstStyle/>
          <a:p>
            <a:fld id="{863210D4-8309-FA4E-999D-6938C4C3C70A}" type="slidenum">
              <a:rPr lang="en-US" smtClean="0"/>
              <a:pPr/>
              <a:t>2</a:t>
            </a:fld>
            <a:endParaRPr lang="en-US" dirty="0"/>
          </a:p>
        </p:txBody>
      </p:sp>
    </p:spTree>
    <p:extLst>
      <p:ext uri="{BB962C8B-B14F-4D97-AF65-F5344CB8AC3E}">
        <p14:creationId xmlns:p14="http://schemas.microsoft.com/office/powerpoint/2010/main" val="2278078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3D2F5-9A51-B946-0CAA-8C051CCD80B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2FB78CF-CCE7-06D5-B824-90CCE597619A}"/>
              </a:ext>
            </a:extLst>
          </p:cNvPr>
          <p:cNvSpPr>
            <a:spLocks noGrp="1"/>
          </p:cNvSpPr>
          <p:nvPr>
            <p:ph type="title"/>
          </p:nvPr>
        </p:nvSpPr>
        <p:spPr/>
        <p:txBody>
          <a:bodyPr/>
          <a:lstStyle/>
          <a:p>
            <a:r>
              <a:rPr lang="en-US" b="1" dirty="0">
                <a:solidFill>
                  <a:srgbClr val="C00000"/>
                </a:solidFill>
                <a:latin typeface="+mn-lt"/>
              </a:rPr>
              <a:t>Research Problem</a:t>
            </a:r>
          </a:p>
        </p:txBody>
      </p:sp>
      <p:sp>
        <p:nvSpPr>
          <p:cNvPr id="9" name="Content Placeholder 8">
            <a:extLst>
              <a:ext uri="{FF2B5EF4-FFF2-40B4-BE49-F238E27FC236}">
                <a16:creationId xmlns:a16="http://schemas.microsoft.com/office/drawing/2014/main" id="{07FA36AB-37E3-016D-DE86-37266EA4A147}"/>
              </a:ext>
            </a:extLst>
          </p:cNvPr>
          <p:cNvSpPr>
            <a:spLocks noGrp="1"/>
          </p:cNvSpPr>
          <p:nvPr>
            <p:ph idx="1"/>
          </p:nvPr>
        </p:nvSpPr>
        <p:spPr/>
        <p:txBody>
          <a:bodyPr/>
          <a:lstStyle/>
          <a:p>
            <a:pPr marL="0" indent="0" algn="just">
              <a:buNone/>
            </a:pPr>
            <a:r>
              <a:rPr lang="en-US" dirty="0">
                <a:latin typeface="Calibri" panose="020F0502020204030204" pitchFamily="34" charset="0"/>
                <a:ea typeface="Calibri" panose="020F0502020204030204" pitchFamily="34" charset="0"/>
                <a:cs typeface="Calibri" panose="020F0502020204030204" pitchFamily="34" charset="0"/>
              </a:rPr>
              <a:t>Although online learning was introduced as a </a:t>
            </a:r>
            <a:r>
              <a:rPr lang="en-US" b="1" dirty="0">
                <a:latin typeface="Calibri" panose="020F0502020204030204" pitchFamily="34" charset="0"/>
                <a:ea typeface="Calibri" panose="020F0502020204030204" pitchFamily="34" charset="0"/>
                <a:cs typeface="Calibri" panose="020F0502020204030204" pitchFamily="34" charset="0"/>
              </a:rPr>
              <a:t>temporary solution </a:t>
            </a:r>
            <a:r>
              <a:rPr lang="en-US" dirty="0">
                <a:latin typeface="Calibri" panose="020F0502020204030204" pitchFamily="34" charset="0"/>
                <a:ea typeface="Calibri" panose="020F0502020204030204" pitchFamily="34" charset="0"/>
                <a:cs typeface="Calibri" panose="020F0502020204030204" pitchFamily="34" charset="0"/>
              </a:rPr>
              <a:t>during the COVID-19 pandemic, a significant number of children continue to prefer online learning over traditional classroom methods even after several years from COVID-19 pandemic. This raises important concerns regarding the effectiveness, social impact and long-term implications of this preference. </a:t>
            </a:r>
          </a:p>
          <a:p>
            <a:pPr marL="0" indent="0" algn="just">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dirty="0">
                <a:latin typeface="Calibri" panose="020F0502020204030204" pitchFamily="34" charset="0"/>
                <a:ea typeface="Calibri" panose="020F0502020204030204" pitchFamily="34" charset="0"/>
                <a:cs typeface="Calibri" panose="020F0502020204030204" pitchFamily="34" charset="0"/>
              </a:rPr>
              <a:t>However, there is limited context-specific research examining the reasons behind this continued preference, particularly in rural areas such as the </a:t>
            </a:r>
            <a:r>
              <a:rPr lang="en-US" dirty="0" err="1">
                <a:latin typeface="Calibri" panose="020F0502020204030204" pitchFamily="34" charset="0"/>
                <a:ea typeface="Calibri" panose="020F0502020204030204" pitchFamily="34" charset="0"/>
                <a:cs typeface="Calibri" panose="020F0502020204030204" pitchFamily="34" charset="0"/>
              </a:rPr>
              <a:t>Elpitiya</a:t>
            </a:r>
            <a:r>
              <a:rPr lang="en-US" dirty="0">
                <a:latin typeface="Calibri" panose="020F0502020204030204" pitchFamily="34" charset="0"/>
                <a:ea typeface="Calibri" panose="020F0502020204030204" pitchFamily="34" charset="0"/>
                <a:cs typeface="Calibri" panose="020F0502020204030204" pitchFamily="34" charset="0"/>
              </a:rPr>
              <a:t> Divisional Secretariat Division in the Galle District. Therefore, this study aims to explore the factors influencing children’s preference for online learning in the post-pandemic context.</a:t>
            </a:r>
          </a:p>
        </p:txBody>
      </p:sp>
      <p:sp>
        <p:nvSpPr>
          <p:cNvPr id="2" name="Date Placeholder 1">
            <a:extLst>
              <a:ext uri="{FF2B5EF4-FFF2-40B4-BE49-F238E27FC236}">
                <a16:creationId xmlns:a16="http://schemas.microsoft.com/office/drawing/2014/main" id="{F6EE3EEF-5F2F-D8C9-D33C-34296FBA884B}"/>
              </a:ext>
            </a:extLst>
          </p:cNvPr>
          <p:cNvSpPr>
            <a:spLocks noGrp="1"/>
          </p:cNvSpPr>
          <p:nvPr>
            <p:ph type="dt" sz="half" idx="10"/>
          </p:nvPr>
        </p:nvSpPr>
        <p:spPr/>
        <p:txBody>
          <a:bodyPr/>
          <a:lstStyle/>
          <a:p>
            <a:fld id="{CAD26966-9675-4C47-8E10-00540E5C7DA5}" type="datetime1">
              <a:rPr lang="en-US" smtClean="0"/>
              <a:t>8/1/2026</a:t>
            </a:fld>
            <a:endParaRPr lang="en-US" dirty="0"/>
          </a:p>
        </p:txBody>
      </p:sp>
      <p:sp>
        <p:nvSpPr>
          <p:cNvPr id="3" name="Slide Number Placeholder 2">
            <a:extLst>
              <a:ext uri="{FF2B5EF4-FFF2-40B4-BE49-F238E27FC236}">
                <a16:creationId xmlns:a16="http://schemas.microsoft.com/office/drawing/2014/main" id="{20D93D5E-3AE7-E827-21CA-DD355CF7282A}"/>
              </a:ext>
            </a:extLst>
          </p:cNvPr>
          <p:cNvSpPr>
            <a:spLocks noGrp="1"/>
          </p:cNvSpPr>
          <p:nvPr>
            <p:ph type="sldNum" sz="quarter" idx="12"/>
          </p:nvPr>
        </p:nvSpPr>
        <p:spPr/>
        <p:txBody>
          <a:bodyPr/>
          <a:lstStyle/>
          <a:p>
            <a:fld id="{863210D4-8309-FA4E-999D-6938C4C3C70A}" type="slidenum">
              <a:rPr lang="en-US" smtClean="0"/>
              <a:pPr/>
              <a:t>3</a:t>
            </a:fld>
            <a:endParaRPr lang="en-US" dirty="0"/>
          </a:p>
        </p:txBody>
      </p:sp>
    </p:spTree>
    <p:extLst>
      <p:ext uri="{BB962C8B-B14F-4D97-AF65-F5344CB8AC3E}">
        <p14:creationId xmlns:p14="http://schemas.microsoft.com/office/powerpoint/2010/main" val="515358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D7E87-AB08-061E-041F-9093FD073DE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4546D02-2C9B-8C0E-65CA-88387201F9E1}"/>
              </a:ext>
            </a:extLst>
          </p:cNvPr>
          <p:cNvSpPr>
            <a:spLocks noGrp="1"/>
          </p:cNvSpPr>
          <p:nvPr>
            <p:ph type="title"/>
          </p:nvPr>
        </p:nvSpPr>
        <p:spPr/>
        <p:txBody>
          <a:bodyPr/>
          <a:lstStyle/>
          <a:p>
            <a:r>
              <a:rPr lang="en-US" b="1" dirty="0">
                <a:solidFill>
                  <a:srgbClr val="C00000"/>
                </a:solidFill>
                <a:latin typeface="Calibri" panose="020F0502020204030204" pitchFamily="34" charset="0"/>
                <a:ea typeface="Calibri" panose="020F0502020204030204" pitchFamily="34" charset="0"/>
                <a:cs typeface="Calibri" panose="020F0502020204030204" pitchFamily="34" charset="0"/>
              </a:rPr>
              <a:t>Research Gap</a:t>
            </a:r>
          </a:p>
        </p:txBody>
      </p:sp>
      <p:sp>
        <p:nvSpPr>
          <p:cNvPr id="9" name="Content Placeholder 8">
            <a:extLst>
              <a:ext uri="{FF2B5EF4-FFF2-40B4-BE49-F238E27FC236}">
                <a16:creationId xmlns:a16="http://schemas.microsoft.com/office/drawing/2014/main" id="{4FD749AA-6BCD-BEF0-6574-2BEFC5370B32}"/>
              </a:ext>
            </a:extLst>
          </p:cNvPr>
          <p:cNvSpPr>
            <a:spLocks noGrp="1"/>
          </p:cNvSpPr>
          <p:nvPr>
            <p:ph idx="1"/>
          </p:nvPr>
        </p:nvSpPr>
        <p:spPr/>
        <p:txBody>
          <a:bodyPr/>
          <a:lstStyle/>
          <a:p>
            <a:pPr marL="0" indent="0" algn="just">
              <a:buNone/>
            </a:pPr>
            <a:r>
              <a:rPr lang="en-US" dirty="0">
                <a:latin typeface="Calibri" panose="020F0502020204030204" pitchFamily="34" charset="0"/>
                <a:ea typeface="Calibri" panose="020F0502020204030204" pitchFamily="34" charset="0"/>
                <a:cs typeface="Calibri" panose="020F0502020204030204" pitchFamily="34" charset="0"/>
              </a:rPr>
              <a:t>Many studies have been conducted on this topic by the scholars in both broader and more context specific settings covering topics, social barriers to online education, inequality when accessing digital education, rural digital learning gaps, educational performance and effectiveness in a virtual environment. This study is important as it was focused on identifying reasons </a:t>
            </a:r>
            <a:r>
              <a:rPr lang="en-US" b="1" dirty="0">
                <a:latin typeface="Calibri" panose="020F0502020204030204" pitchFamily="34" charset="0"/>
                <a:ea typeface="Calibri" panose="020F0502020204030204" pitchFamily="34" charset="0"/>
                <a:cs typeface="Calibri" panose="020F0502020204030204" pitchFamily="34" charset="0"/>
              </a:rPr>
              <a:t>why children still prefer and prioritize online learning rather than returning onsite learning </a:t>
            </a:r>
            <a:r>
              <a:rPr lang="en-US" dirty="0">
                <a:latin typeface="Calibri" panose="020F0502020204030204" pitchFamily="34" charset="0"/>
                <a:ea typeface="Calibri" panose="020F0502020204030204" pitchFamily="34" charset="0"/>
                <a:cs typeface="Calibri" panose="020F0502020204030204" pitchFamily="34" charset="0"/>
              </a:rPr>
              <a:t>which creates a gap in scholarly work specified to Sri Lanka.</a:t>
            </a:r>
          </a:p>
          <a:p>
            <a:pPr marL="0" indent="0" algn="just">
              <a:buNone/>
            </a:pPr>
            <a:r>
              <a:rPr lang="en-US" dirty="0">
                <a:latin typeface="Calibri" panose="020F0502020204030204" pitchFamily="34" charset="0"/>
                <a:ea typeface="Calibri" panose="020F0502020204030204" pitchFamily="34" charset="0"/>
                <a:cs typeface="Calibri" panose="020F0502020204030204" pitchFamily="34" charset="0"/>
              </a:rPr>
              <a:t>Also, there is limited context-specific research examining the reasons behind this continued preference, particularly in rural areas such as the </a:t>
            </a:r>
            <a:r>
              <a:rPr lang="en-US" dirty="0" err="1">
                <a:latin typeface="Calibri" panose="020F0502020204030204" pitchFamily="34" charset="0"/>
                <a:ea typeface="Calibri" panose="020F0502020204030204" pitchFamily="34" charset="0"/>
                <a:cs typeface="Calibri" panose="020F0502020204030204" pitchFamily="34" charset="0"/>
              </a:rPr>
              <a:t>Elpitiya</a:t>
            </a:r>
            <a:r>
              <a:rPr lang="en-US" dirty="0">
                <a:latin typeface="Calibri" panose="020F0502020204030204" pitchFamily="34" charset="0"/>
                <a:ea typeface="Calibri" panose="020F0502020204030204" pitchFamily="34" charset="0"/>
                <a:cs typeface="Calibri" panose="020F0502020204030204" pitchFamily="34" charset="0"/>
              </a:rPr>
              <a:t> Divisional Secretariat Division in the Galle District. Therefore, this study aims to explore the factors influencing children’s preference for online learning in the post-pandemic context.</a:t>
            </a:r>
          </a:p>
          <a:p>
            <a:pPr marL="0" indent="0">
              <a:buNone/>
            </a:pPr>
            <a:endParaRPr lang="en-US" dirty="0"/>
          </a:p>
        </p:txBody>
      </p:sp>
      <p:sp>
        <p:nvSpPr>
          <p:cNvPr id="2" name="Date Placeholder 1">
            <a:extLst>
              <a:ext uri="{FF2B5EF4-FFF2-40B4-BE49-F238E27FC236}">
                <a16:creationId xmlns:a16="http://schemas.microsoft.com/office/drawing/2014/main" id="{189F7EDC-D304-34A0-B24E-EEBA945BB3DC}"/>
              </a:ext>
            </a:extLst>
          </p:cNvPr>
          <p:cNvSpPr>
            <a:spLocks noGrp="1"/>
          </p:cNvSpPr>
          <p:nvPr>
            <p:ph type="dt" sz="half" idx="10"/>
          </p:nvPr>
        </p:nvSpPr>
        <p:spPr/>
        <p:txBody>
          <a:bodyPr/>
          <a:lstStyle/>
          <a:p>
            <a:fld id="{CAD26966-9675-4C47-8E10-00540E5C7DA5}" type="datetime1">
              <a:rPr lang="en-US" smtClean="0"/>
              <a:t>8/1/2026</a:t>
            </a:fld>
            <a:endParaRPr lang="en-US" dirty="0"/>
          </a:p>
        </p:txBody>
      </p:sp>
      <p:sp>
        <p:nvSpPr>
          <p:cNvPr id="3" name="Slide Number Placeholder 2">
            <a:extLst>
              <a:ext uri="{FF2B5EF4-FFF2-40B4-BE49-F238E27FC236}">
                <a16:creationId xmlns:a16="http://schemas.microsoft.com/office/drawing/2014/main" id="{0A6619D2-11EF-5787-1B72-AE330C9C0B05}"/>
              </a:ext>
            </a:extLst>
          </p:cNvPr>
          <p:cNvSpPr>
            <a:spLocks noGrp="1"/>
          </p:cNvSpPr>
          <p:nvPr>
            <p:ph type="sldNum" sz="quarter" idx="12"/>
          </p:nvPr>
        </p:nvSpPr>
        <p:spPr/>
        <p:txBody>
          <a:bodyPr/>
          <a:lstStyle/>
          <a:p>
            <a:fld id="{863210D4-8309-FA4E-999D-6938C4C3C70A}" type="slidenum">
              <a:rPr lang="en-US" smtClean="0"/>
              <a:pPr/>
              <a:t>4</a:t>
            </a:fld>
            <a:endParaRPr lang="en-US" dirty="0"/>
          </a:p>
        </p:txBody>
      </p:sp>
    </p:spTree>
    <p:extLst>
      <p:ext uri="{BB962C8B-B14F-4D97-AF65-F5344CB8AC3E}">
        <p14:creationId xmlns:p14="http://schemas.microsoft.com/office/powerpoint/2010/main" val="4294391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73AF8-8BAC-1A53-02E3-703484D7B84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65D6496-47A6-A65B-F6C1-EA6651AD1E70}"/>
              </a:ext>
            </a:extLst>
          </p:cNvPr>
          <p:cNvSpPr>
            <a:spLocks noGrp="1"/>
          </p:cNvSpPr>
          <p:nvPr>
            <p:ph type="title"/>
          </p:nvPr>
        </p:nvSpPr>
        <p:spPr/>
        <p:txBody>
          <a:bodyPr/>
          <a:lstStyle/>
          <a:p>
            <a:r>
              <a:rPr lang="en-US" b="1" dirty="0">
                <a:solidFill>
                  <a:srgbClr val="C00000"/>
                </a:solidFill>
                <a:latin typeface="+mn-lt"/>
              </a:rPr>
              <a:t>Research Objective</a:t>
            </a:r>
          </a:p>
        </p:txBody>
      </p:sp>
      <p:sp>
        <p:nvSpPr>
          <p:cNvPr id="9" name="Content Placeholder 8">
            <a:extLst>
              <a:ext uri="{FF2B5EF4-FFF2-40B4-BE49-F238E27FC236}">
                <a16:creationId xmlns:a16="http://schemas.microsoft.com/office/drawing/2014/main" id="{AB0B8107-DE09-1A18-2FC1-21990DBBCC46}"/>
              </a:ext>
            </a:extLst>
          </p:cNvPr>
          <p:cNvSpPr>
            <a:spLocks noGrp="1"/>
          </p:cNvSpPr>
          <p:nvPr>
            <p:ph idx="1"/>
          </p:nvPr>
        </p:nvSpPr>
        <p:spPr/>
        <p:txBody>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To explore the factors that influence continued use of online learning methods among children during post COVID-19.</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solidFill>
                  <a:srgbClr val="C00000"/>
                </a:solidFill>
                <a:latin typeface="Calibri" panose="020F0502020204030204" pitchFamily="34" charset="0"/>
                <a:ea typeface="Calibri" panose="020F0502020204030204" pitchFamily="34" charset="0"/>
                <a:cs typeface="Calibri" panose="020F0502020204030204" pitchFamily="34" charset="0"/>
              </a:rPr>
              <a:t>Research Questions</a:t>
            </a:r>
          </a:p>
          <a:p>
            <a:pPr marL="457200" indent="-457200">
              <a:buAutoNum type="arabicPeriod"/>
            </a:pPr>
            <a:r>
              <a:rPr lang="en-US" dirty="0">
                <a:latin typeface="Calibri" panose="020F0502020204030204" pitchFamily="34" charset="0"/>
                <a:ea typeface="Calibri" panose="020F0502020204030204" pitchFamily="34" charset="0"/>
                <a:cs typeface="Calibri" panose="020F0502020204030204" pitchFamily="34" charset="0"/>
              </a:rPr>
              <a:t>What are children’s perceptions regarding online learning during COVID-19 pandemic?</a:t>
            </a:r>
          </a:p>
          <a:p>
            <a:pPr marL="457200" indent="-457200">
              <a:buAutoNum type="arabicPeriod"/>
            </a:pPr>
            <a:r>
              <a:rPr lang="en-US" dirty="0">
                <a:latin typeface="Calibri" panose="020F0502020204030204" pitchFamily="34" charset="0"/>
                <a:ea typeface="Calibri" panose="020F0502020204030204" pitchFamily="34" charset="0"/>
                <a:cs typeface="Calibri" panose="020F0502020204030204" pitchFamily="34" charset="0"/>
              </a:rPr>
              <a:t>What factors influence children’s preference for online learning over onsite learning?</a:t>
            </a:r>
          </a:p>
          <a:p>
            <a:pPr marL="457200" indent="-457200">
              <a:buAutoNum type="arabicPeriod"/>
            </a:pPr>
            <a:r>
              <a:rPr lang="en-US" dirty="0">
                <a:latin typeface="Calibri" panose="020F0502020204030204" pitchFamily="34" charset="0"/>
                <a:ea typeface="Calibri" panose="020F0502020204030204" pitchFamily="34" charset="0"/>
                <a:cs typeface="Calibri" panose="020F0502020204030204" pitchFamily="34" charset="0"/>
              </a:rPr>
              <a:t>What benefits do children experience when engaging in online learning compared to onsite learning in the post-pandemic context?</a:t>
            </a:r>
          </a:p>
        </p:txBody>
      </p:sp>
      <p:sp>
        <p:nvSpPr>
          <p:cNvPr id="2" name="Date Placeholder 1">
            <a:extLst>
              <a:ext uri="{FF2B5EF4-FFF2-40B4-BE49-F238E27FC236}">
                <a16:creationId xmlns:a16="http://schemas.microsoft.com/office/drawing/2014/main" id="{D7CDB45A-C649-A825-14F4-A1644B9059A6}"/>
              </a:ext>
            </a:extLst>
          </p:cNvPr>
          <p:cNvSpPr>
            <a:spLocks noGrp="1"/>
          </p:cNvSpPr>
          <p:nvPr>
            <p:ph type="dt" sz="half" idx="10"/>
          </p:nvPr>
        </p:nvSpPr>
        <p:spPr/>
        <p:txBody>
          <a:bodyPr/>
          <a:lstStyle/>
          <a:p>
            <a:fld id="{CAD26966-9675-4C47-8E10-00540E5C7DA5}" type="datetime1">
              <a:rPr lang="en-US" smtClean="0"/>
              <a:t>8/1/2026</a:t>
            </a:fld>
            <a:endParaRPr lang="en-US" dirty="0"/>
          </a:p>
        </p:txBody>
      </p:sp>
      <p:sp>
        <p:nvSpPr>
          <p:cNvPr id="3" name="Slide Number Placeholder 2">
            <a:extLst>
              <a:ext uri="{FF2B5EF4-FFF2-40B4-BE49-F238E27FC236}">
                <a16:creationId xmlns:a16="http://schemas.microsoft.com/office/drawing/2014/main" id="{4280EEFA-1EFD-6C9C-15FE-607D3DF1A97B}"/>
              </a:ext>
            </a:extLst>
          </p:cNvPr>
          <p:cNvSpPr>
            <a:spLocks noGrp="1"/>
          </p:cNvSpPr>
          <p:nvPr>
            <p:ph type="sldNum" sz="quarter" idx="12"/>
          </p:nvPr>
        </p:nvSpPr>
        <p:spPr/>
        <p:txBody>
          <a:bodyPr/>
          <a:lstStyle/>
          <a:p>
            <a:fld id="{863210D4-8309-FA4E-999D-6938C4C3C70A}" type="slidenum">
              <a:rPr lang="en-US" smtClean="0"/>
              <a:pPr/>
              <a:t>5</a:t>
            </a:fld>
            <a:endParaRPr lang="en-US" dirty="0"/>
          </a:p>
        </p:txBody>
      </p:sp>
    </p:spTree>
    <p:extLst>
      <p:ext uri="{BB962C8B-B14F-4D97-AF65-F5344CB8AC3E}">
        <p14:creationId xmlns:p14="http://schemas.microsoft.com/office/powerpoint/2010/main" val="4001714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DA7CC-8B9E-8513-9FCE-A1C7A44088A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95A3664-9E64-1322-3520-2CC58CF9A96E}"/>
              </a:ext>
            </a:extLst>
          </p:cNvPr>
          <p:cNvSpPr>
            <a:spLocks noGrp="1"/>
          </p:cNvSpPr>
          <p:nvPr>
            <p:ph type="title"/>
          </p:nvPr>
        </p:nvSpPr>
        <p:spPr/>
        <p:txBody>
          <a:bodyPr/>
          <a:lstStyle/>
          <a:p>
            <a:r>
              <a:rPr lang="en-US" b="1" dirty="0">
                <a:solidFill>
                  <a:srgbClr val="C00000"/>
                </a:solidFill>
                <a:latin typeface="+mn-lt"/>
              </a:rPr>
              <a:t>Theoretical Framework</a:t>
            </a:r>
          </a:p>
        </p:txBody>
      </p:sp>
      <p:sp>
        <p:nvSpPr>
          <p:cNvPr id="9" name="Content Placeholder 8">
            <a:extLst>
              <a:ext uri="{FF2B5EF4-FFF2-40B4-BE49-F238E27FC236}">
                <a16:creationId xmlns:a16="http://schemas.microsoft.com/office/drawing/2014/main" id="{E731704F-32BD-04A0-7EFE-648C3C87B885}"/>
              </a:ext>
            </a:extLst>
          </p:cNvPr>
          <p:cNvSpPr>
            <a:spLocks noGrp="1"/>
          </p:cNvSpPr>
          <p:nvPr>
            <p:ph idx="1"/>
          </p:nvPr>
        </p:nvSpPr>
        <p:spPr>
          <a:xfrm>
            <a:off x="936522" y="1144966"/>
            <a:ext cx="11255477" cy="4881245"/>
          </a:xfrm>
        </p:spPr>
        <p:txBody>
          <a:bodyPr>
            <a:normAutofit fontScale="32500" lnSpcReduction="20000"/>
          </a:bodyPr>
          <a:lstStyle/>
          <a:p>
            <a:pPr>
              <a:buNone/>
            </a:pPr>
            <a:r>
              <a:rPr lang="en-US" sz="5500" b="1" dirty="0"/>
              <a:t>1</a:t>
            </a:r>
            <a:r>
              <a:rPr lang="en-US" sz="6000" b="1" dirty="0">
                <a:latin typeface="Calibri" panose="020F0502020204030204" pitchFamily="34" charset="0"/>
                <a:ea typeface="Calibri" panose="020F0502020204030204" pitchFamily="34" charset="0"/>
                <a:cs typeface="Calibri" panose="020F0502020204030204" pitchFamily="34" charset="0"/>
              </a:rPr>
              <a:t>. Community of Inquiry Theory (Garrison et al., 2000)</a:t>
            </a:r>
          </a:p>
          <a:p>
            <a:pPr marL="0" lvl="0" indent="0">
              <a:buNone/>
            </a:pPr>
            <a:r>
              <a:rPr lang="en-US" sz="6200" dirty="0">
                <a:latin typeface="Calibri" panose="020F0502020204030204" pitchFamily="34" charset="0"/>
                <a:ea typeface="Calibri" panose="020F0502020204030204" pitchFamily="34" charset="0"/>
                <a:cs typeface="Calibri" panose="020F0502020204030204" pitchFamily="34" charset="0"/>
              </a:rPr>
              <a:t>Effective learning happens when </a:t>
            </a:r>
            <a:r>
              <a:rPr lang="en-US" sz="6200" b="1" dirty="0">
                <a:latin typeface="Calibri" panose="020F0502020204030204" pitchFamily="34" charset="0"/>
                <a:ea typeface="Calibri" panose="020F0502020204030204" pitchFamily="34" charset="0"/>
                <a:cs typeface="Calibri" panose="020F0502020204030204" pitchFamily="34" charset="0"/>
              </a:rPr>
              <a:t>Cognitive Presence + Teaching Presence + Social Presence work together</a:t>
            </a:r>
            <a:r>
              <a:rPr lang="en-US" sz="6200" dirty="0">
                <a:latin typeface="Calibri" panose="020F0502020204030204" pitchFamily="34" charset="0"/>
                <a:ea typeface="Calibri" panose="020F0502020204030204" pitchFamily="34" charset="0"/>
                <a:cs typeface="Calibri" panose="020F0502020204030204" pitchFamily="34" charset="0"/>
              </a:rPr>
              <a:t>.</a:t>
            </a:r>
            <a:endParaRPr lang="en-US" sz="6200" b="1" dirty="0">
              <a:latin typeface="Calibri" panose="020F0502020204030204" pitchFamily="34" charset="0"/>
              <a:ea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sz="6000" b="1" dirty="0">
                <a:latin typeface="Calibri" panose="020F0502020204030204" pitchFamily="34" charset="0"/>
                <a:ea typeface="Calibri" panose="020F0502020204030204" pitchFamily="34" charset="0"/>
                <a:cs typeface="Calibri" panose="020F0502020204030204" pitchFamily="34" charset="0"/>
              </a:rPr>
              <a:t>Cognitive Presence</a:t>
            </a:r>
            <a:r>
              <a:rPr lang="en-US" sz="6000" dirty="0">
                <a:latin typeface="Calibri" panose="020F0502020204030204" pitchFamily="34" charset="0"/>
                <a:ea typeface="Calibri" panose="020F0502020204030204" pitchFamily="34" charset="0"/>
                <a:cs typeface="Calibri" panose="020F0502020204030204" pitchFamily="34" charset="0"/>
              </a:rPr>
              <a:t> → how learners understand and construct knowledge </a:t>
            </a:r>
          </a:p>
          <a:p>
            <a:pPr marL="342900" lvl="0" indent="-342900">
              <a:buFont typeface="Arial" panose="020B0604020202020204" pitchFamily="34" charset="0"/>
              <a:buChar char="•"/>
            </a:pPr>
            <a:r>
              <a:rPr lang="en-US" sz="6000" b="1" dirty="0">
                <a:latin typeface="Calibri" panose="020F0502020204030204" pitchFamily="34" charset="0"/>
                <a:ea typeface="Calibri" panose="020F0502020204030204" pitchFamily="34" charset="0"/>
                <a:cs typeface="Calibri" panose="020F0502020204030204" pitchFamily="34" charset="0"/>
              </a:rPr>
              <a:t>Teaching Presence</a:t>
            </a:r>
            <a:r>
              <a:rPr lang="en-US" sz="6000" dirty="0">
                <a:latin typeface="Calibri" panose="020F0502020204030204" pitchFamily="34" charset="0"/>
                <a:ea typeface="Calibri" panose="020F0502020204030204" pitchFamily="34" charset="0"/>
                <a:cs typeface="Calibri" panose="020F0502020204030204" pitchFamily="34" charset="0"/>
              </a:rPr>
              <a:t> → how teachers guide and structure learning </a:t>
            </a:r>
          </a:p>
          <a:p>
            <a:pPr marL="342900" lvl="0" indent="-342900">
              <a:buFont typeface="Arial" panose="020B0604020202020204" pitchFamily="34" charset="0"/>
              <a:buChar char="•"/>
            </a:pPr>
            <a:r>
              <a:rPr lang="en-US" sz="6000" b="1" dirty="0">
                <a:latin typeface="Calibri" panose="020F0502020204030204" pitchFamily="34" charset="0"/>
                <a:ea typeface="Calibri" panose="020F0502020204030204" pitchFamily="34" charset="0"/>
                <a:cs typeface="Calibri" panose="020F0502020204030204" pitchFamily="34" charset="0"/>
              </a:rPr>
              <a:t>Social Presence</a:t>
            </a:r>
            <a:r>
              <a:rPr lang="en-US" sz="6000" dirty="0">
                <a:latin typeface="Calibri" panose="020F0502020204030204" pitchFamily="34" charset="0"/>
                <a:ea typeface="Calibri" panose="020F0502020204030204" pitchFamily="34" charset="0"/>
                <a:cs typeface="Calibri" panose="020F0502020204030204" pitchFamily="34" charset="0"/>
              </a:rPr>
              <a:t> → how learners interact and feel connected</a:t>
            </a:r>
          </a:p>
          <a:p>
            <a:pPr>
              <a:buNone/>
            </a:pPr>
            <a:endParaRPr lang="en-US" sz="6000" b="1" dirty="0">
              <a:latin typeface="Calibri" panose="020F0502020204030204" pitchFamily="34" charset="0"/>
              <a:ea typeface="Calibri" panose="020F0502020204030204" pitchFamily="34" charset="0"/>
              <a:cs typeface="Calibri" panose="020F0502020204030204" pitchFamily="34" charset="0"/>
            </a:endParaRPr>
          </a:p>
          <a:p>
            <a:pPr>
              <a:buNone/>
            </a:pPr>
            <a:r>
              <a:rPr lang="en-US" sz="5500" b="1" dirty="0">
                <a:latin typeface="Calibri" panose="020F0502020204030204" pitchFamily="34" charset="0"/>
                <a:ea typeface="Calibri" panose="020F0502020204030204" pitchFamily="34" charset="0"/>
                <a:cs typeface="Calibri" panose="020F0502020204030204" pitchFamily="34" charset="0"/>
              </a:rPr>
              <a:t>2. </a:t>
            </a:r>
            <a:r>
              <a:rPr lang="en-US" sz="6200" b="1" dirty="0">
                <a:latin typeface="Calibri" panose="020F0502020204030204" pitchFamily="34" charset="0"/>
                <a:ea typeface="Calibri" panose="020F0502020204030204" pitchFamily="34" charset="0"/>
                <a:cs typeface="Calibri" panose="020F0502020204030204" pitchFamily="34" charset="0"/>
              </a:rPr>
              <a:t>Constructivist Learning Theory (Vygotsky, 1978)</a:t>
            </a:r>
          </a:p>
          <a:p>
            <a:pPr>
              <a:buNone/>
            </a:pPr>
            <a:r>
              <a:rPr lang="en-US" sz="6200" dirty="0">
                <a:latin typeface="Calibri" panose="020F0502020204030204" pitchFamily="34" charset="0"/>
                <a:ea typeface="Calibri" panose="020F0502020204030204" pitchFamily="34" charset="0"/>
                <a:cs typeface="Calibri" panose="020F0502020204030204" pitchFamily="34" charset="0"/>
              </a:rPr>
              <a:t>Learning is a social and active process where children build knowledge through, </a:t>
            </a:r>
          </a:p>
          <a:p>
            <a:r>
              <a:rPr lang="en-US" sz="6200" b="1" dirty="0">
                <a:latin typeface="Calibri" panose="020F0502020204030204" pitchFamily="34" charset="0"/>
                <a:ea typeface="Calibri" panose="020F0502020204030204" pitchFamily="34" charset="0"/>
                <a:cs typeface="Calibri" panose="020F0502020204030204" pitchFamily="34" charset="0"/>
              </a:rPr>
              <a:t>Interaction</a:t>
            </a:r>
          </a:p>
          <a:p>
            <a:r>
              <a:rPr lang="en-US" sz="6200" b="1" dirty="0">
                <a:latin typeface="Calibri" panose="020F0502020204030204" pitchFamily="34" charset="0"/>
                <a:ea typeface="Calibri" panose="020F0502020204030204" pitchFamily="34" charset="0"/>
                <a:cs typeface="Calibri" panose="020F0502020204030204" pitchFamily="34" charset="0"/>
              </a:rPr>
              <a:t>Guidance</a:t>
            </a:r>
          </a:p>
          <a:p>
            <a:r>
              <a:rPr lang="en-US" sz="6200" b="1" dirty="0">
                <a:latin typeface="Calibri" panose="020F0502020204030204" pitchFamily="34" charset="0"/>
                <a:ea typeface="Calibri" panose="020F0502020204030204" pitchFamily="34" charset="0"/>
                <a:cs typeface="Calibri" panose="020F0502020204030204" pitchFamily="34" charset="0"/>
              </a:rPr>
              <a:t>Experience</a:t>
            </a:r>
          </a:p>
          <a:p>
            <a:pPr marL="0" lvl="0" indent="0">
              <a:lnSpc>
                <a:spcPct val="120000"/>
              </a:lnSpc>
              <a:buNone/>
            </a:pPr>
            <a:r>
              <a:rPr lang="en-US" sz="6200" dirty="0">
                <a:latin typeface="Calibri" panose="020F0502020204030204" pitchFamily="34" charset="0"/>
                <a:ea typeface="Calibri" panose="020F0502020204030204" pitchFamily="34" charset="0"/>
                <a:cs typeface="Calibri" panose="020F0502020204030204" pitchFamily="34" charset="0"/>
              </a:rPr>
              <a:t>Online learning supports independent learning. Yet, reduced physical interaction may affect collaboration, communication skills social learning,</a:t>
            </a:r>
          </a:p>
          <a:p>
            <a:pPr marL="0" indent="0">
              <a:buNone/>
            </a:pPr>
            <a:endParaRPr lang="en-US" dirty="0"/>
          </a:p>
        </p:txBody>
      </p:sp>
      <p:sp>
        <p:nvSpPr>
          <p:cNvPr id="2" name="Date Placeholder 1">
            <a:extLst>
              <a:ext uri="{FF2B5EF4-FFF2-40B4-BE49-F238E27FC236}">
                <a16:creationId xmlns:a16="http://schemas.microsoft.com/office/drawing/2014/main" id="{D7D0192F-F459-6982-3551-BED21EE2167B}"/>
              </a:ext>
            </a:extLst>
          </p:cNvPr>
          <p:cNvSpPr>
            <a:spLocks noGrp="1"/>
          </p:cNvSpPr>
          <p:nvPr>
            <p:ph type="dt" sz="half" idx="10"/>
          </p:nvPr>
        </p:nvSpPr>
        <p:spPr/>
        <p:txBody>
          <a:bodyPr/>
          <a:lstStyle/>
          <a:p>
            <a:fld id="{CAD26966-9675-4C47-8E10-00540E5C7DA5}" type="datetime1">
              <a:rPr lang="en-US" smtClean="0"/>
              <a:t>8/1/2026</a:t>
            </a:fld>
            <a:endParaRPr lang="en-US" dirty="0"/>
          </a:p>
        </p:txBody>
      </p:sp>
      <p:sp>
        <p:nvSpPr>
          <p:cNvPr id="3" name="Slide Number Placeholder 2">
            <a:extLst>
              <a:ext uri="{FF2B5EF4-FFF2-40B4-BE49-F238E27FC236}">
                <a16:creationId xmlns:a16="http://schemas.microsoft.com/office/drawing/2014/main" id="{2F7AD2EA-D1C2-B4EC-8C9E-9F90D58DE98E}"/>
              </a:ext>
            </a:extLst>
          </p:cNvPr>
          <p:cNvSpPr>
            <a:spLocks noGrp="1"/>
          </p:cNvSpPr>
          <p:nvPr>
            <p:ph type="sldNum" sz="quarter" idx="12"/>
          </p:nvPr>
        </p:nvSpPr>
        <p:spPr/>
        <p:txBody>
          <a:bodyPr/>
          <a:lstStyle/>
          <a:p>
            <a:fld id="{863210D4-8309-FA4E-999D-6938C4C3C70A}" type="slidenum">
              <a:rPr lang="en-US" smtClean="0"/>
              <a:pPr/>
              <a:t>6</a:t>
            </a:fld>
            <a:endParaRPr lang="en-US" dirty="0"/>
          </a:p>
        </p:txBody>
      </p:sp>
    </p:spTree>
    <p:extLst>
      <p:ext uri="{BB962C8B-B14F-4D97-AF65-F5344CB8AC3E}">
        <p14:creationId xmlns:p14="http://schemas.microsoft.com/office/powerpoint/2010/main" val="1221745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8F89F-9F7C-3579-1884-3E207026060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682EFA8-2915-685D-80A7-01FF0921F2AD}"/>
              </a:ext>
            </a:extLst>
          </p:cNvPr>
          <p:cNvSpPr>
            <a:spLocks noGrp="1"/>
          </p:cNvSpPr>
          <p:nvPr>
            <p:ph type="title"/>
          </p:nvPr>
        </p:nvSpPr>
        <p:spPr/>
        <p:txBody>
          <a:bodyPr/>
          <a:lstStyle/>
          <a:p>
            <a:r>
              <a:rPr lang="en-US" b="1" dirty="0">
                <a:solidFill>
                  <a:srgbClr val="C00000"/>
                </a:solidFill>
                <a:latin typeface="+mn-lt"/>
              </a:rPr>
              <a:t>Methodology</a:t>
            </a:r>
          </a:p>
        </p:txBody>
      </p:sp>
      <p:sp>
        <p:nvSpPr>
          <p:cNvPr id="9" name="Content Placeholder 8">
            <a:extLst>
              <a:ext uri="{FF2B5EF4-FFF2-40B4-BE49-F238E27FC236}">
                <a16:creationId xmlns:a16="http://schemas.microsoft.com/office/drawing/2014/main" id="{DE31171F-AB7A-FE62-1D50-4ED25E634B5E}"/>
              </a:ext>
            </a:extLst>
          </p:cNvPr>
          <p:cNvSpPr>
            <a:spLocks noGrp="1"/>
          </p:cNvSpPr>
          <p:nvPr>
            <p:ph idx="1"/>
          </p:nvPr>
        </p:nvSpPr>
        <p:spPr>
          <a:xfrm>
            <a:off x="946354" y="1211580"/>
            <a:ext cx="10999839" cy="5144576"/>
          </a:xfrm>
        </p:spPr>
        <p:txBody>
          <a:bodyPr>
            <a:normAutofit fontScale="55000" lnSpcReduction="20000"/>
          </a:bodyPr>
          <a:lstStyle/>
          <a:p>
            <a:pPr>
              <a:buNone/>
            </a:pPr>
            <a:r>
              <a:rPr lang="en-US" sz="2900" b="1" dirty="0">
                <a:latin typeface="+mn-lt"/>
              </a:rPr>
              <a:t>Research Design</a:t>
            </a:r>
          </a:p>
          <a:p>
            <a:pPr>
              <a:buNone/>
            </a:pPr>
            <a:r>
              <a:rPr lang="en-US" sz="2900" dirty="0">
                <a:latin typeface="+mn-lt"/>
              </a:rPr>
              <a:t>Qualitative research approach</a:t>
            </a:r>
          </a:p>
          <a:p>
            <a:pPr>
              <a:buNone/>
            </a:pPr>
            <a:r>
              <a:rPr lang="en-US" sz="2900" b="1" dirty="0">
                <a:latin typeface="+mn-lt"/>
              </a:rPr>
              <a:t>Study Area</a:t>
            </a:r>
          </a:p>
          <a:p>
            <a:pPr>
              <a:buNone/>
            </a:pPr>
            <a:r>
              <a:rPr lang="en-US" sz="2900" dirty="0" err="1">
                <a:latin typeface="+mn-lt"/>
              </a:rPr>
              <a:t>Elpitiya</a:t>
            </a:r>
            <a:r>
              <a:rPr lang="en-US" sz="2900" dirty="0">
                <a:latin typeface="+mn-lt"/>
              </a:rPr>
              <a:t> Divisional Secretariat Division, Galle District, Sri Lanka</a:t>
            </a:r>
          </a:p>
          <a:p>
            <a:pPr>
              <a:buNone/>
            </a:pPr>
            <a:r>
              <a:rPr lang="en-US" sz="2900" b="1" dirty="0">
                <a:latin typeface="+mn-lt"/>
              </a:rPr>
              <a:t>Participants</a:t>
            </a:r>
          </a:p>
          <a:p>
            <a:pPr algn="just">
              <a:lnSpc>
                <a:spcPct val="120000"/>
              </a:lnSpc>
              <a:buNone/>
            </a:pPr>
            <a:r>
              <a:rPr lang="en-US" sz="2900" dirty="0">
                <a:latin typeface="+mn-lt"/>
              </a:rPr>
              <a:t>     Children aged 11-15 years currently enrolled in upper secondary education and actively using online learning platforms with access to digital devices and internet connectivity.</a:t>
            </a:r>
          </a:p>
          <a:p>
            <a:pPr>
              <a:buNone/>
            </a:pPr>
            <a:r>
              <a:rPr lang="en-US" sz="2900" b="1" dirty="0">
                <a:latin typeface="+mn-lt"/>
              </a:rPr>
              <a:t>Sampling</a:t>
            </a:r>
          </a:p>
          <a:p>
            <a:pPr>
              <a:buNone/>
            </a:pPr>
            <a:r>
              <a:rPr lang="en-US" sz="2900" dirty="0">
                <a:latin typeface="+mn-lt"/>
              </a:rPr>
              <a:t>Purposive Sampling</a:t>
            </a:r>
          </a:p>
          <a:p>
            <a:pPr>
              <a:buNone/>
            </a:pPr>
            <a:r>
              <a:rPr lang="en-US" sz="2900" b="1" dirty="0">
                <a:latin typeface="+mn-lt"/>
              </a:rPr>
              <a:t>Data Collection Tools</a:t>
            </a:r>
          </a:p>
          <a:p>
            <a:pPr marL="0" lvl="0" indent="0">
              <a:buNone/>
            </a:pPr>
            <a:r>
              <a:rPr lang="en-US" sz="2900" dirty="0">
                <a:latin typeface="+mn-lt"/>
              </a:rPr>
              <a:t>Semi-structured interviews </a:t>
            </a:r>
          </a:p>
          <a:p>
            <a:pPr lvl="0">
              <a:buFont typeface="Wingdings" panose="05000000000000000000" pitchFamily="2" charset="2"/>
              <a:buChar char="§"/>
            </a:pPr>
            <a:r>
              <a:rPr lang="en-US" sz="2900" dirty="0">
                <a:latin typeface="+mn-lt"/>
              </a:rPr>
              <a:t>10 Children ( 6 females and 4 males )</a:t>
            </a:r>
          </a:p>
          <a:p>
            <a:pPr marL="0" lvl="0" indent="0">
              <a:buNone/>
            </a:pPr>
            <a:r>
              <a:rPr lang="en-US" sz="2900" dirty="0">
                <a:latin typeface="+mn-lt"/>
              </a:rPr>
              <a:t>Focus Group Discussions.</a:t>
            </a:r>
          </a:p>
          <a:p>
            <a:pPr lvl="1">
              <a:buFont typeface="Wingdings" panose="05000000000000000000" pitchFamily="2" charset="2"/>
              <a:buChar char="§"/>
            </a:pPr>
            <a:r>
              <a:rPr lang="en-US" sz="2900" i="1" dirty="0">
                <a:latin typeface="+mn-lt"/>
              </a:rPr>
              <a:t>2 Groups (8 Children per group  *2 = 16)</a:t>
            </a:r>
          </a:p>
          <a:p>
            <a:pPr>
              <a:buNone/>
            </a:pPr>
            <a:r>
              <a:rPr lang="en-US" sz="2900" b="1" dirty="0">
                <a:latin typeface="+mn-lt"/>
              </a:rPr>
              <a:t>Data Analysis</a:t>
            </a:r>
          </a:p>
          <a:p>
            <a:pPr>
              <a:buNone/>
            </a:pPr>
            <a:r>
              <a:rPr lang="en-US" sz="2900" dirty="0">
                <a:latin typeface="+mn-lt"/>
              </a:rPr>
              <a:t>Deductive Thematic Analysis</a:t>
            </a:r>
            <a:br>
              <a:rPr lang="en-US" dirty="0">
                <a:latin typeface="+mn-lt"/>
              </a:rPr>
            </a:br>
            <a:endParaRPr lang="en-US" dirty="0">
              <a:latin typeface="+mn-lt"/>
            </a:endParaRPr>
          </a:p>
        </p:txBody>
      </p:sp>
      <p:sp>
        <p:nvSpPr>
          <p:cNvPr id="2" name="Date Placeholder 1">
            <a:extLst>
              <a:ext uri="{FF2B5EF4-FFF2-40B4-BE49-F238E27FC236}">
                <a16:creationId xmlns:a16="http://schemas.microsoft.com/office/drawing/2014/main" id="{2FB1AC2C-144B-353C-2425-42B1F98EB1EF}"/>
              </a:ext>
            </a:extLst>
          </p:cNvPr>
          <p:cNvSpPr>
            <a:spLocks noGrp="1"/>
          </p:cNvSpPr>
          <p:nvPr>
            <p:ph type="dt" sz="half" idx="10"/>
          </p:nvPr>
        </p:nvSpPr>
        <p:spPr/>
        <p:txBody>
          <a:bodyPr/>
          <a:lstStyle/>
          <a:p>
            <a:fld id="{CAD26966-9675-4C47-8E10-00540E5C7DA5}" type="datetime1">
              <a:rPr lang="en-US" smtClean="0"/>
              <a:t>8/1/2026</a:t>
            </a:fld>
            <a:endParaRPr lang="en-US" dirty="0"/>
          </a:p>
        </p:txBody>
      </p:sp>
      <p:sp>
        <p:nvSpPr>
          <p:cNvPr id="3" name="Slide Number Placeholder 2">
            <a:extLst>
              <a:ext uri="{FF2B5EF4-FFF2-40B4-BE49-F238E27FC236}">
                <a16:creationId xmlns:a16="http://schemas.microsoft.com/office/drawing/2014/main" id="{5558EE8D-3BC2-3DAE-ACE5-7216A0E6A2B1}"/>
              </a:ext>
            </a:extLst>
          </p:cNvPr>
          <p:cNvSpPr>
            <a:spLocks noGrp="1"/>
          </p:cNvSpPr>
          <p:nvPr>
            <p:ph type="sldNum" sz="quarter" idx="12"/>
          </p:nvPr>
        </p:nvSpPr>
        <p:spPr/>
        <p:txBody>
          <a:bodyPr/>
          <a:lstStyle/>
          <a:p>
            <a:fld id="{863210D4-8309-FA4E-999D-6938C4C3C70A}" type="slidenum">
              <a:rPr lang="en-US" smtClean="0"/>
              <a:pPr/>
              <a:t>7</a:t>
            </a:fld>
            <a:endParaRPr lang="en-US" dirty="0"/>
          </a:p>
        </p:txBody>
      </p:sp>
    </p:spTree>
    <p:extLst>
      <p:ext uri="{BB962C8B-B14F-4D97-AF65-F5344CB8AC3E}">
        <p14:creationId xmlns:p14="http://schemas.microsoft.com/office/powerpoint/2010/main" val="282578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E352-FD2A-DD66-0FB3-2CA038A7CF9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D3C656A-1E22-8BA4-1C45-FF076BFB6BBC}"/>
              </a:ext>
            </a:extLst>
          </p:cNvPr>
          <p:cNvSpPr>
            <a:spLocks noGrp="1"/>
          </p:cNvSpPr>
          <p:nvPr>
            <p:ph type="title"/>
          </p:nvPr>
        </p:nvSpPr>
        <p:spPr>
          <a:xfrm>
            <a:off x="717756" y="431007"/>
            <a:ext cx="10515600" cy="846455"/>
          </a:xfrm>
        </p:spPr>
        <p:txBody>
          <a:bodyPr/>
          <a:lstStyle/>
          <a:p>
            <a:r>
              <a:rPr lang="en-US" b="1" dirty="0">
                <a:solidFill>
                  <a:srgbClr val="C00000"/>
                </a:solidFill>
                <a:latin typeface="+mn-lt"/>
              </a:rPr>
              <a:t>Key Findings</a:t>
            </a:r>
          </a:p>
        </p:txBody>
      </p:sp>
      <p:sp>
        <p:nvSpPr>
          <p:cNvPr id="9" name="Content Placeholder 8">
            <a:extLst>
              <a:ext uri="{FF2B5EF4-FFF2-40B4-BE49-F238E27FC236}">
                <a16:creationId xmlns:a16="http://schemas.microsoft.com/office/drawing/2014/main" id="{9FBD4544-B880-A3D5-5581-E29E4756011C}"/>
              </a:ext>
            </a:extLst>
          </p:cNvPr>
          <p:cNvSpPr>
            <a:spLocks noGrp="1"/>
          </p:cNvSpPr>
          <p:nvPr>
            <p:ph idx="1"/>
          </p:nvPr>
        </p:nvSpPr>
        <p:spPr>
          <a:xfrm>
            <a:off x="717756" y="1381443"/>
            <a:ext cx="11198941" cy="4881245"/>
          </a:xfrm>
        </p:spPr>
        <p:txBody>
          <a:bodyPr>
            <a:normAutofit lnSpcReduction="10000"/>
          </a:bodyPr>
          <a:lstStyle/>
          <a:p>
            <a:pPr>
              <a:buNone/>
            </a:pPr>
            <a:r>
              <a:rPr lang="en-US" b="1" dirty="0">
                <a:latin typeface="Calibri" panose="020F0502020204030204" pitchFamily="34" charset="0"/>
                <a:ea typeface="Calibri" panose="020F0502020204030204" pitchFamily="34" charset="0"/>
                <a:cs typeface="Calibri" panose="020F0502020204030204" pitchFamily="34" charset="0"/>
              </a:rPr>
              <a:t>Theme 1: Flexibility for Online Learning</a:t>
            </a:r>
          </a:p>
          <a:p>
            <a:pPr>
              <a:buNone/>
            </a:pPr>
            <a:r>
              <a:rPr lang="en-US" dirty="0">
                <a:latin typeface="Calibri" panose="020F0502020204030204" pitchFamily="34" charset="0"/>
                <a:ea typeface="Calibri" panose="020F0502020204030204" pitchFamily="34" charset="0"/>
                <a:cs typeface="Calibri" panose="020F0502020204030204" pitchFamily="34" charset="0"/>
              </a:rPr>
              <a:t>Explained by: Community of Inquiry Theory (Cognitive Presence)</a:t>
            </a:r>
          </a:p>
          <a:p>
            <a:pPr marL="0" lvl="0" indent="0">
              <a:buNone/>
            </a:pPr>
            <a:r>
              <a:rPr lang="en-US" i="1" dirty="0">
                <a:solidFill>
                  <a:srgbClr val="C00000"/>
                </a:solidFill>
                <a:latin typeface="Calibri" panose="020F0502020204030204" pitchFamily="34" charset="0"/>
                <a:ea typeface="Calibri" panose="020F0502020204030204" pitchFamily="34" charset="0"/>
                <a:cs typeface="Calibri" panose="020F0502020204030204" pitchFamily="34" charset="0"/>
              </a:rPr>
              <a:t>Flexibility allows self-paced explorational learning. </a:t>
            </a:r>
          </a:p>
          <a:p>
            <a:pPr marL="0" lvl="0" indent="0">
              <a:buNone/>
            </a:pPr>
            <a:r>
              <a:rPr lang="en-US" i="1" dirty="0">
                <a:solidFill>
                  <a:srgbClr val="C00000"/>
                </a:solidFill>
                <a:latin typeface="Calibri" panose="020F0502020204030204" pitchFamily="34" charset="0"/>
                <a:ea typeface="Calibri" panose="020F0502020204030204" pitchFamily="34" charset="0"/>
                <a:cs typeface="Calibri" panose="020F0502020204030204" pitchFamily="34" charset="0"/>
              </a:rPr>
              <a:t>Ability to revise recorded lessons support for deep understanding.</a:t>
            </a:r>
          </a:p>
          <a:p>
            <a:pPr marL="0" lvl="0" indent="0">
              <a:buNone/>
            </a:pPr>
            <a:r>
              <a:rPr lang="en-US" i="1" dirty="0">
                <a:solidFill>
                  <a:srgbClr val="C00000"/>
                </a:solidFill>
                <a:latin typeface="Calibri" panose="020F0502020204030204" pitchFamily="34" charset="0"/>
                <a:ea typeface="Calibri" panose="020F0502020204030204" pitchFamily="34" charset="0"/>
                <a:cs typeface="Calibri" panose="020F0502020204030204" pitchFamily="34" charset="0"/>
              </a:rPr>
              <a:t>Facility of zero transport cost is needed for visiting onsite study locations.</a:t>
            </a:r>
          </a:p>
          <a:p>
            <a:pPr marL="0" lvl="0" indent="0">
              <a:buNone/>
            </a:pPr>
            <a:r>
              <a:rPr lang="en-US" b="1" dirty="0">
                <a:latin typeface="Calibri" panose="020F0502020204030204" pitchFamily="34" charset="0"/>
                <a:ea typeface="Calibri" panose="020F0502020204030204" pitchFamily="34" charset="0"/>
                <a:cs typeface="Calibri" panose="020F0502020204030204" pitchFamily="34" charset="0"/>
              </a:rPr>
              <a:t>Theme 2: Availability of Online Learning Resources</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Explained by: Community of Inquiry Theory (Cognitive + Teaching Presence)</a:t>
            </a:r>
          </a:p>
          <a:p>
            <a:pPr marL="0" indent="0">
              <a:buNone/>
            </a:pPr>
            <a:r>
              <a:rPr lang="en-US" i="1" dirty="0">
                <a:solidFill>
                  <a:srgbClr val="C00000"/>
                </a:solidFill>
                <a:latin typeface="Calibri" panose="020F0502020204030204" pitchFamily="34" charset="0"/>
                <a:ea typeface="Calibri" panose="020F0502020204030204" pitchFamily="34" charset="0"/>
                <a:cs typeface="Calibri" panose="020F0502020204030204" pitchFamily="34" charset="0"/>
              </a:rPr>
              <a:t>Most of the houses are available at least with a smart phone these days.</a:t>
            </a:r>
          </a:p>
          <a:p>
            <a:pPr marL="0" indent="0">
              <a:buNone/>
            </a:pPr>
            <a:r>
              <a:rPr lang="en-US" i="1" dirty="0">
                <a:solidFill>
                  <a:srgbClr val="C00000"/>
                </a:solidFill>
                <a:latin typeface="Calibri" panose="020F0502020204030204" pitchFamily="34" charset="0"/>
                <a:ea typeface="Calibri" panose="020F0502020204030204" pitchFamily="34" charset="0"/>
                <a:cs typeface="Calibri" panose="020F0502020204030204" pitchFamily="34" charset="0"/>
              </a:rPr>
              <a:t>When the robust internet facility is available online classrooms are no longer a challenge</a:t>
            </a:r>
          </a:p>
          <a:p>
            <a:pPr marL="0" indent="0">
              <a:buNone/>
            </a:pPr>
            <a:r>
              <a:rPr lang="en-US" i="1" dirty="0">
                <a:solidFill>
                  <a:srgbClr val="C00000"/>
                </a:solidFill>
                <a:latin typeface="Calibri" panose="020F0502020204030204" pitchFamily="34" charset="0"/>
                <a:ea typeface="Calibri" panose="020F0502020204030204" pitchFamily="34" charset="0"/>
                <a:cs typeface="Calibri" panose="020F0502020204030204" pitchFamily="34" charset="0"/>
              </a:rPr>
              <a:t>Can ask questions on a one-click sitting before digital devices.</a:t>
            </a:r>
          </a:p>
          <a:p>
            <a:pPr marL="0" indent="0">
              <a:buNone/>
            </a:pPr>
            <a:r>
              <a:rPr lang="en-US" i="1" dirty="0">
                <a:solidFill>
                  <a:srgbClr val="C00000"/>
                </a:solidFill>
                <a:latin typeface="Calibri" panose="020F0502020204030204" pitchFamily="34" charset="0"/>
                <a:ea typeface="Calibri" panose="020F0502020204030204" pitchFamily="34" charset="0"/>
                <a:cs typeface="Calibri" panose="020F0502020204030204" pitchFamily="34" charset="0"/>
              </a:rPr>
              <a:t>Structured resources facilitate teacher guidance.</a:t>
            </a:r>
          </a:p>
          <a:p>
            <a:pPr marL="0" indent="0">
              <a:buNone/>
            </a:pPr>
            <a:endParaRPr lang="en-US" dirty="0"/>
          </a:p>
        </p:txBody>
      </p:sp>
      <p:sp>
        <p:nvSpPr>
          <p:cNvPr id="2" name="Date Placeholder 1">
            <a:extLst>
              <a:ext uri="{FF2B5EF4-FFF2-40B4-BE49-F238E27FC236}">
                <a16:creationId xmlns:a16="http://schemas.microsoft.com/office/drawing/2014/main" id="{263CD548-C69E-27E0-9959-B2064AA10CE7}"/>
              </a:ext>
            </a:extLst>
          </p:cNvPr>
          <p:cNvSpPr>
            <a:spLocks noGrp="1"/>
          </p:cNvSpPr>
          <p:nvPr>
            <p:ph type="dt" sz="half" idx="10"/>
          </p:nvPr>
        </p:nvSpPr>
        <p:spPr/>
        <p:txBody>
          <a:bodyPr/>
          <a:lstStyle/>
          <a:p>
            <a:fld id="{CAD26966-9675-4C47-8E10-00540E5C7DA5}" type="datetime1">
              <a:rPr lang="en-US" smtClean="0"/>
              <a:t>8/1/2026</a:t>
            </a:fld>
            <a:endParaRPr lang="en-US" dirty="0"/>
          </a:p>
        </p:txBody>
      </p:sp>
      <p:sp>
        <p:nvSpPr>
          <p:cNvPr id="3" name="Slide Number Placeholder 2">
            <a:extLst>
              <a:ext uri="{FF2B5EF4-FFF2-40B4-BE49-F238E27FC236}">
                <a16:creationId xmlns:a16="http://schemas.microsoft.com/office/drawing/2014/main" id="{36691A6F-A50B-6D08-B2A2-6B1DA8D79154}"/>
              </a:ext>
            </a:extLst>
          </p:cNvPr>
          <p:cNvSpPr>
            <a:spLocks noGrp="1"/>
          </p:cNvSpPr>
          <p:nvPr>
            <p:ph type="sldNum" sz="quarter" idx="12"/>
          </p:nvPr>
        </p:nvSpPr>
        <p:spPr/>
        <p:txBody>
          <a:bodyPr/>
          <a:lstStyle/>
          <a:p>
            <a:fld id="{863210D4-8309-FA4E-999D-6938C4C3C70A}" type="slidenum">
              <a:rPr lang="en-US" smtClean="0"/>
              <a:pPr/>
              <a:t>8</a:t>
            </a:fld>
            <a:endParaRPr lang="en-US" dirty="0"/>
          </a:p>
        </p:txBody>
      </p:sp>
    </p:spTree>
    <p:extLst>
      <p:ext uri="{BB962C8B-B14F-4D97-AF65-F5344CB8AC3E}">
        <p14:creationId xmlns:p14="http://schemas.microsoft.com/office/powerpoint/2010/main" val="2565675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57A0B-F734-AD6B-C5E6-85738D2245F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CD0812A-E1B3-1844-96C4-9CE83F1E0672}"/>
              </a:ext>
            </a:extLst>
          </p:cNvPr>
          <p:cNvSpPr>
            <a:spLocks noGrp="1"/>
          </p:cNvSpPr>
          <p:nvPr>
            <p:ph type="title"/>
          </p:nvPr>
        </p:nvSpPr>
        <p:spPr/>
        <p:txBody>
          <a:bodyPr/>
          <a:lstStyle/>
          <a:p>
            <a:r>
              <a:rPr lang="en-US" b="1" dirty="0">
                <a:solidFill>
                  <a:srgbClr val="C00000"/>
                </a:solidFill>
                <a:latin typeface="+mn-lt"/>
              </a:rPr>
              <a:t>Continued…..</a:t>
            </a:r>
          </a:p>
        </p:txBody>
      </p:sp>
      <p:sp>
        <p:nvSpPr>
          <p:cNvPr id="9" name="Content Placeholder 8">
            <a:extLst>
              <a:ext uri="{FF2B5EF4-FFF2-40B4-BE49-F238E27FC236}">
                <a16:creationId xmlns:a16="http://schemas.microsoft.com/office/drawing/2014/main" id="{30005F2F-5DE2-F95B-CA30-EE1DCAED8707}"/>
              </a:ext>
            </a:extLst>
          </p:cNvPr>
          <p:cNvSpPr>
            <a:spLocks noGrp="1"/>
          </p:cNvSpPr>
          <p:nvPr>
            <p:ph idx="1"/>
          </p:nvPr>
        </p:nvSpPr>
        <p:spPr/>
        <p:txBody>
          <a:bodyPr>
            <a:normAutofit fontScale="92500" lnSpcReduction="1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Theme 3: Factors Influencing Technology Preference</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Explained by: Community of Inquiry Theory (Teaching Presence)</a:t>
            </a:r>
            <a:endParaRPr lang="en-US" dirty="0">
              <a:latin typeface="Calibri" panose="020F0502020204030204" pitchFamily="34" charset="0"/>
              <a:ea typeface="Calibri" panose="020F0502020204030204" pitchFamily="34" charset="0"/>
              <a:cs typeface="Calibri" panose="020F0502020204030204" pitchFamily="34" charset="0"/>
            </a:endParaRPr>
          </a:p>
          <a:p>
            <a:pPr marL="0" lvl="0" indent="0">
              <a:buNone/>
            </a:pPr>
            <a:r>
              <a:rPr lang="en-US" i="1" dirty="0">
                <a:solidFill>
                  <a:srgbClr val="C00000"/>
                </a:solidFill>
                <a:latin typeface="Calibri" panose="020F0502020204030204" pitchFamily="34" charset="0"/>
                <a:ea typeface="Calibri" panose="020F0502020204030204" pitchFamily="34" charset="0"/>
                <a:cs typeface="Calibri" panose="020F0502020204030204" pitchFamily="34" charset="0"/>
              </a:rPr>
              <a:t>Teacher communication through platforms </a:t>
            </a:r>
          </a:p>
          <a:p>
            <a:pPr marL="0" lvl="0" indent="0">
              <a:buNone/>
            </a:pPr>
            <a:r>
              <a:rPr lang="en-US" i="1" dirty="0">
                <a:solidFill>
                  <a:srgbClr val="C00000"/>
                </a:solidFill>
                <a:latin typeface="Calibri" panose="020F0502020204030204" pitchFamily="34" charset="0"/>
                <a:ea typeface="Calibri" panose="020F0502020204030204" pitchFamily="34" charset="0"/>
                <a:cs typeface="Calibri" panose="020F0502020204030204" pitchFamily="34" charset="0"/>
              </a:rPr>
              <a:t>Ability to revise recorded lessons multiple time especially for challenging subjects</a:t>
            </a:r>
          </a:p>
          <a:p>
            <a:pPr marL="0" lvl="0" indent="0">
              <a:buNone/>
            </a:pPr>
            <a:r>
              <a:rPr lang="en-US" i="1" dirty="0">
                <a:solidFill>
                  <a:srgbClr val="C00000"/>
                </a:solidFill>
                <a:latin typeface="Calibri" panose="020F0502020204030204" pitchFamily="34" charset="0"/>
                <a:ea typeface="Calibri" panose="020F0502020204030204" pitchFamily="34" charset="0"/>
                <a:cs typeface="Calibri" panose="020F0502020204030204" pitchFamily="34" charset="0"/>
              </a:rPr>
              <a:t>Organized delivery of lessons while important lessons parts are not missed.</a:t>
            </a:r>
          </a:p>
          <a:p>
            <a:pPr marL="0" lvl="0" indent="0">
              <a:buNone/>
            </a:pPr>
            <a:r>
              <a:rPr lang="en-US" i="1" dirty="0">
                <a:solidFill>
                  <a:srgbClr val="C00000"/>
                </a:solidFill>
                <a:latin typeface="Calibri" panose="020F0502020204030204" pitchFamily="34" charset="0"/>
                <a:ea typeface="Calibri" panose="020F0502020204030204" pitchFamily="34" charset="0"/>
                <a:cs typeface="Calibri" panose="020F0502020204030204" pitchFamily="34" charset="0"/>
              </a:rPr>
              <a:t>Using AI without lagging longer for manual methods for the same study purpose.</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Theme 4: Social Interactions in Online Learning Modalities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Explained by: Lev Vygotsky’s Constructivist Learning Theory</a:t>
            </a:r>
            <a:endParaRPr lang="en-US" dirty="0">
              <a:latin typeface="Calibri" panose="020F0502020204030204" pitchFamily="34" charset="0"/>
              <a:ea typeface="Calibri" panose="020F0502020204030204" pitchFamily="34" charset="0"/>
              <a:cs typeface="Calibri" panose="020F0502020204030204" pitchFamily="34" charset="0"/>
            </a:endParaRPr>
          </a:p>
          <a:p>
            <a:pPr marL="0" lvl="0" indent="0">
              <a:buNone/>
            </a:pPr>
            <a:r>
              <a:rPr lang="en-US" i="1" dirty="0">
                <a:solidFill>
                  <a:srgbClr val="C00000"/>
                </a:solidFill>
                <a:latin typeface="Calibri" panose="020F0502020204030204" pitchFamily="34" charset="0"/>
                <a:ea typeface="Calibri" panose="020F0502020204030204" pitchFamily="34" charset="0"/>
                <a:cs typeface="Calibri" panose="020F0502020204030204" pitchFamily="34" charset="0"/>
              </a:rPr>
              <a:t>Learning requires interaction and collaboration </a:t>
            </a:r>
          </a:p>
          <a:p>
            <a:pPr marL="0" lvl="0" indent="0">
              <a:buNone/>
            </a:pPr>
            <a:r>
              <a:rPr lang="en-US" i="1" dirty="0">
                <a:solidFill>
                  <a:srgbClr val="C00000"/>
                </a:solidFill>
                <a:latin typeface="Calibri" panose="020F0502020204030204" pitchFamily="34" charset="0"/>
                <a:ea typeface="Calibri" panose="020F0502020204030204" pitchFamily="34" charset="0"/>
                <a:cs typeface="Calibri" panose="020F0502020204030204" pitchFamily="34" charset="0"/>
              </a:rPr>
              <a:t>Online learning reduces</a:t>
            </a:r>
            <a:r>
              <a:rPr lang="en-US" sz="24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dirty="0">
                <a:solidFill>
                  <a:srgbClr val="C00000"/>
                </a:solidFill>
                <a:latin typeface="Calibri" panose="020F0502020204030204" pitchFamily="34" charset="0"/>
                <a:ea typeface="Calibri" panose="020F0502020204030204" pitchFamily="34" charset="0"/>
                <a:cs typeface="Calibri" panose="020F0502020204030204" pitchFamily="34" charset="0"/>
              </a:rPr>
              <a:t>p</a:t>
            </a:r>
            <a:r>
              <a:rPr lang="en-US" sz="2400" dirty="0">
                <a:solidFill>
                  <a:srgbClr val="C00000"/>
                </a:solidFill>
                <a:latin typeface="Calibri" panose="020F0502020204030204" pitchFamily="34" charset="0"/>
                <a:ea typeface="Calibri" panose="020F0502020204030204" pitchFamily="34" charset="0"/>
                <a:cs typeface="Calibri" panose="020F0502020204030204" pitchFamily="34" charset="0"/>
              </a:rPr>
              <a:t>eer communication</a:t>
            </a:r>
            <a:r>
              <a:rPr lang="en-US" dirty="0">
                <a:solidFill>
                  <a:srgbClr val="C00000"/>
                </a:solidFill>
                <a:latin typeface="Calibri" panose="020F0502020204030204" pitchFamily="34" charset="0"/>
                <a:ea typeface="Calibri" panose="020F0502020204030204" pitchFamily="34" charset="0"/>
                <a:cs typeface="Calibri" panose="020F0502020204030204" pitchFamily="34" charset="0"/>
              </a:rPr>
              <a:t>,</a:t>
            </a:r>
            <a:r>
              <a:rPr lang="en-US" sz="2400" dirty="0">
                <a:solidFill>
                  <a:srgbClr val="C00000"/>
                </a:solidFill>
                <a:latin typeface="Calibri" panose="020F0502020204030204" pitchFamily="34" charset="0"/>
                <a:ea typeface="Calibri" panose="020F0502020204030204" pitchFamily="34" charset="0"/>
                <a:cs typeface="Calibri" panose="020F0502020204030204" pitchFamily="34" charset="0"/>
              </a:rPr>
              <a:t> group </a:t>
            </a:r>
            <a:r>
              <a:rPr lang="en-US" dirty="0">
                <a:solidFill>
                  <a:srgbClr val="C00000"/>
                </a:solidFill>
                <a:latin typeface="Calibri" panose="020F0502020204030204" pitchFamily="34" charset="0"/>
                <a:ea typeface="Calibri" panose="020F0502020204030204" pitchFamily="34" charset="0"/>
                <a:cs typeface="Calibri" panose="020F0502020204030204" pitchFamily="34" charset="0"/>
              </a:rPr>
              <a:t>l</a:t>
            </a:r>
            <a:r>
              <a:rPr lang="en-US" sz="2400" dirty="0">
                <a:solidFill>
                  <a:srgbClr val="C00000"/>
                </a:solidFill>
                <a:latin typeface="Calibri" panose="020F0502020204030204" pitchFamily="34" charset="0"/>
                <a:ea typeface="Calibri" panose="020F0502020204030204" pitchFamily="34" charset="0"/>
                <a:cs typeface="Calibri" panose="020F0502020204030204" pitchFamily="34" charset="0"/>
              </a:rPr>
              <a:t>earning, </a:t>
            </a:r>
            <a:r>
              <a:rPr lang="en-US" dirty="0">
                <a:solidFill>
                  <a:srgbClr val="C00000"/>
                </a:solidFill>
                <a:latin typeface="Calibri" panose="020F0502020204030204" pitchFamily="34" charset="0"/>
                <a:ea typeface="Calibri" panose="020F0502020204030204" pitchFamily="34" charset="0"/>
                <a:cs typeface="Calibri" panose="020F0502020204030204" pitchFamily="34" charset="0"/>
              </a:rPr>
              <a:t>s</a:t>
            </a:r>
            <a:r>
              <a:rPr lang="en-US" sz="2400" dirty="0">
                <a:solidFill>
                  <a:srgbClr val="C00000"/>
                </a:solidFill>
                <a:latin typeface="Calibri" panose="020F0502020204030204" pitchFamily="34" charset="0"/>
                <a:ea typeface="Calibri" panose="020F0502020204030204" pitchFamily="34" charset="0"/>
                <a:cs typeface="Calibri" panose="020F0502020204030204" pitchFamily="34" charset="0"/>
              </a:rPr>
              <a:t>ocial engagement</a:t>
            </a:r>
          </a:p>
          <a:p>
            <a:pPr marL="0" lvl="0" indent="0" algn="just">
              <a:buNone/>
            </a:pPr>
            <a:r>
              <a:rPr lang="en-US" dirty="0">
                <a:latin typeface="Calibri" panose="020F0502020204030204" pitchFamily="34" charset="0"/>
                <a:ea typeface="Calibri" panose="020F0502020204030204" pitchFamily="34" charset="0"/>
                <a:cs typeface="Calibri" panose="020F0502020204030204" pitchFamily="34" charset="0"/>
              </a:rPr>
              <a:t>(Creative thinking is limited in online learning environments, as technology often provides highly structured and ready-made answers even for essay writing which can lead to unintentional copy-paste practices and create a culture of dependency)</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p:txBody>
      </p:sp>
      <p:sp>
        <p:nvSpPr>
          <p:cNvPr id="2" name="Date Placeholder 1">
            <a:extLst>
              <a:ext uri="{FF2B5EF4-FFF2-40B4-BE49-F238E27FC236}">
                <a16:creationId xmlns:a16="http://schemas.microsoft.com/office/drawing/2014/main" id="{4BE31BFF-0622-3768-5ADF-59B25450C87E}"/>
              </a:ext>
            </a:extLst>
          </p:cNvPr>
          <p:cNvSpPr>
            <a:spLocks noGrp="1"/>
          </p:cNvSpPr>
          <p:nvPr>
            <p:ph type="dt" sz="half" idx="10"/>
          </p:nvPr>
        </p:nvSpPr>
        <p:spPr/>
        <p:txBody>
          <a:bodyPr/>
          <a:lstStyle/>
          <a:p>
            <a:fld id="{CAD26966-9675-4C47-8E10-00540E5C7DA5}" type="datetime1">
              <a:rPr lang="en-US" smtClean="0"/>
              <a:t>8/1/2026</a:t>
            </a:fld>
            <a:endParaRPr lang="en-US" dirty="0"/>
          </a:p>
        </p:txBody>
      </p:sp>
      <p:sp>
        <p:nvSpPr>
          <p:cNvPr id="3" name="Slide Number Placeholder 2">
            <a:extLst>
              <a:ext uri="{FF2B5EF4-FFF2-40B4-BE49-F238E27FC236}">
                <a16:creationId xmlns:a16="http://schemas.microsoft.com/office/drawing/2014/main" id="{EC1C35D6-94EE-A5FB-9EC3-B3182EC3EEDE}"/>
              </a:ext>
            </a:extLst>
          </p:cNvPr>
          <p:cNvSpPr>
            <a:spLocks noGrp="1"/>
          </p:cNvSpPr>
          <p:nvPr>
            <p:ph type="sldNum" sz="quarter" idx="12"/>
          </p:nvPr>
        </p:nvSpPr>
        <p:spPr/>
        <p:txBody>
          <a:bodyPr/>
          <a:lstStyle/>
          <a:p>
            <a:fld id="{863210D4-8309-FA4E-999D-6938C4C3C70A}" type="slidenum">
              <a:rPr lang="en-US" smtClean="0"/>
              <a:pPr/>
              <a:t>9</a:t>
            </a:fld>
            <a:endParaRPr lang="en-US" dirty="0"/>
          </a:p>
        </p:txBody>
      </p:sp>
    </p:spTree>
    <p:extLst>
      <p:ext uri="{BB962C8B-B14F-4D97-AF65-F5344CB8AC3E}">
        <p14:creationId xmlns:p14="http://schemas.microsoft.com/office/powerpoint/2010/main" val="1875698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14490-9E5C-8383-50BA-1BF9C4478F9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60729CB-7299-93A6-C66F-9104C4C98F8B}"/>
              </a:ext>
            </a:extLst>
          </p:cNvPr>
          <p:cNvSpPr>
            <a:spLocks noGrp="1"/>
          </p:cNvSpPr>
          <p:nvPr>
            <p:ph type="title"/>
          </p:nvPr>
        </p:nvSpPr>
        <p:spPr/>
        <p:txBody>
          <a:bodyPr/>
          <a:lstStyle/>
          <a:p>
            <a:r>
              <a:rPr lang="en-US" b="1" dirty="0">
                <a:solidFill>
                  <a:srgbClr val="C00000"/>
                </a:solidFill>
                <a:latin typeface="Calibri "/>
              </a:rPr>
              <a:t>Continued…</a:t>
            </a:r>
          </a:p>
        </p:txBody>
      </p:sp>
      <p:sp>
        <p:nvSpPr>
          <p:cNvPr id="9" name="Content Placeholder 8">
            <a:extLst>
              <a:ext uri="{FF2B5EF4-FFF2-40B4-BE49-F238E27FC236}">
                <a16:creationId xmlns:a16="http://schemas.microsoft.com/office/drawing/2014/main" id="{99C7E0E4-80AB-01CF-1FDF-F03374D56D4D}"/>
              </a:ext>
            </a:extLst>
          </p:cNvPr>
          <p:cNvSpPr>
            <a:spLocks noGrp="1"/>
          </p:cNvSpPr>
          <p:nvPr>
            <p:ph idx="1"/>
          </p:nvPr>
        </p:nvSpPr>
        <p:spPr>
          <a:xfrm>
            <a:off x="838200" y="988377"/>
            <a:ext cx="10515600" cy="4881245"/>
          </a:xfrm>
        </p:spPr>
        <p:txBody>
          <a:bodyPr>
            <a:normAutofit lnSpcReduction="10000"/>
          </a:bodyPr>
          <a:lstStyle/>
          <a:p>
            <a:pPr marL="0" indent="0">
              <a:buNone/>
            </a:pPr>
            <a:endParaRPr lang="en-US" b="1" dirty="0">
              <a:latin typeface="+mn-lt"/>
            </a:endParaRPr>
          </a:p>
          <a:p>
            <a:pPr marL="0" indent="0">
              <a:buNone/>
            </a:pPr>
            <a:endParaRPr lang="en-US" b="1" dirty="0">
              <a:latin typeface="+mn-lt"/>
            </a:endParaRPr>
          </a:p>
          <a:p>
            <a:pPr marL="0" indent="0">
              <a:buNone/>
            </a:pPr>
            <a:r>
              <a:rPr lang="en-US" b="1" dirty="0">
                <a:latin typeface="+mn-lt"/>
              </a:rPr>
              <a:t>Theme 5: Post-Pandemic Learning Expectations</a:t>
            </a:r>
          </a:p>
          <a:p>
            <a:pPr marL="0" indent="0">
              <a:buNone/>
            </a:pPr>
            <a:r>
              <a:rPr lang="en-US" b="1" dirty="0">
                <a:latin typeface="+mn-lt"/>
              </a:rPr>
              <a:t>Explained by: Lev Vygotsky’s Constructivist Learning Theory</a:t>
            </a:r>
            <a:endParaRPr lang="en-US" dirty="0">
              <a:latin typeface="+mn-lt"/>
            </a:endParaRPr>
          </a:p>
          <a:p>
            <a:pPr marL="0" lvl="0" indent="0">
              <a:buNone/>
            </a:pPr>
            <a:r>
              <a:rPr lang="en-US" i="1" dirty="0">
                <a:solidFill>
                  <a:srgbClr val="C00000"/>
                </a:solidFill>
                <a:latin typeface="+mn-lt"/>
              </a:rPr>
              <a:t>Children prefer blended learning </a:t>
            </a:r>
          </a:p>
          <a:p>
            <a:pPr marL="0" lvl="0" indent="0">
              <a:buNone/>
            </a:pPr>
            <a:r>
              <a:rPr lang="en-US" dirty="0">
                <a:latin typeface="+mn-lt"/>
              </a:rPr>
              <a:t>Need both: </a:t>
            </a:r>
          </a:p>
          <a:p>
            <a:pPr marL="457200" lvl="1" indent="0">
              <a:buNone/>
            </a:pPr>
            <a:r>
              <a:rPr lang="en-US" dirty="0">
                <a:latin typeface="+mn-lt"/>
              </a:rPr>
              <a:t>              Independent learning (online) </a:t>
            </a:r>
          </a:p>
          <a:p>
            <a:pPr marL="457200" lvl="1" indent="0">
              <a:buNone/>
            </a:pPr>
            <a:r>
              <a:rPr lang="en-US" dirty="0">
                <a:latin typeface="+mn-lt"/>
              </a:rPr>
              <a:t>              Social interaction (classroom)</a:t>
            </a:r>
          </a:p>
          <a:p>
            <a:pPr marL="0" indent="0">
              <a:buNone/>
            </a:pPr>
            <a:endParaRPr lang="en-US" dirty="0"/>
          </a:p>
          <a:p>
            <a:pPr marL="0" indent="0" algn="just">
              <a:buNone/>
            </a:pPr>
            <a:r>
              <a:rPr lang="en-US" dirty="0">
                <a:latin typeface="+mn-lt"/>
              </a:rPr>
              <a:t>None of the children identified either method as universally superior. They noted that challenges exist in both approaches such as effectiveness of each depends on the availability of resources, pedagogical design and the specific context in which it is implemented</a:t>
            </a:r>
          </a:p>
        </p:txBody>
      </p:sp>
      <p:sp>
        <p:nvSpPr>
          <p:cNvPr id="2" name="Date Placeholder 1">
            <a:extLst>
              <a:ext uri="{FF2B5EF4-FFF2-40B4-BE49-F238E27FC236}">
                <a16:creationId xmlns:a16="http://schemas.microsoft.com/office/drawing/2014/main" id="{22CE2175-B67B-0F4A-73D5-F79CCE5803E1}"/>
              </a:ext>
            </a:extLst>
          </p:cNvPr>
          <p:cNvSpPr>
            <a:spLocks noGrp="1"/>
          </p:cNvSpPr>
          <p:nvPr>
            <p:ph type="dt" sz="half" idx="10"/>
          </p:nvPr>
        </p:nvSpPr>
        <p:spPr/>
        <p:txBody>
          <a:bodyPr/>
          <a:lstStyle/>
          <a:p>
            <a:fld id="{CAD26966-9675-4C47-8E10-00540E5C7DA5}" type="datetime1">
              <a:rPr lang="en-US" smtClean="0"/>
              <a:t>8/1/2026</a:t>
            </a:fld>
            <a:endParaRPr lang="en-US" dirty="0"/>
          </a:p>
        </p:txBody>
      </p:sp>
      <p:sp>
        <p:nvSpPr>
          <p:cNvPr id="3" name="Slide Number Placeholder 2">
            <a:extLst>
              <a:ext uri="{FF2B5EF4-FFF2-40B4-BE49-F238E27FC236}">
                <a16:creationId xmlns:a16="http://schemas.microsoft.com/office/drawing/2014/main" id="{E95E7E8D-762A-9125-8401-D0FDB8207B75}"/>
              </a:ext>
            </a:extLst>
          </p:cNvPr>
          <p:cNvSpPr>
            <a:spLocks noGrp="1"/>
          </p:cNvSpPr>
          <p:nvPr>
            <p:ph type="sldNum" sz="quarter" idx="12"/>
          </p:nvPr>
        </p:nvSpPr>
        <p:spPr/>
        <p:txBody>
          <a:bodyPr/>
          <a:lstStyle/>
          <a:p>
            <a:fld id="{863210D4-8309-FA4E-999D-6938C4C3C70A}" type="slidenum">
              <a:rPr lang="en-US" smtClean="0"/>
              <a:pPr/>
              <a:t>10</a:t>
            </a:fld>
            <a:endParaRPr lang="en-US" dirty="0"/>
          </a:p>
        </p:txBody>
      </p:sp>
    </p:spTree>
    <p:extLst>
      <p:ext uri="{BB962C8B-B14F-4D97-AF65-F5344CB8AC3E}">
        <p14:creationId xmlns:p14="http://schemas.microsoft.com/office/powerpoint/2010/main" val="3582732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D14DB-6ABF-08E9-F38C-BE56B7869C8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D7C726-430D-CFE4-CDAF-E1269022A5D2}"/>
              </a:ext>
            </a:extLst>
          </p:cNvPr>
          <p:cNvSpPr>
            <a:spLocks noGrp="1"/>
          </p:cNvSpPr>
          <p:nvPr>
            <p:ph type="title"/>
          </p:nvPr>
        </p:nvSpPr>
        <p:spPr/>
        <p:txBody>
          <a:bodyPr/>
          <a:lstStyle/>
          <a:p>
            <a:r>
              <a:rPr lang="en-US" b="1" dirty="0">
                <a:solidFill>
                  <a:srgbClr val="C00000"/>
                </a:solidFill>
                <a:latin typeface="+mn-lt"/>
              </a:rPr>
              <a:t>Disussion and Analysis</a:t>
            </a:r>
          </a:p>
        </p:txBody>
      </p:sp>
      <p:sp>
        <p:nvSpPr>
          <p:cNvPr id="9" name="Content Placeholder 8">
            <a:extLst>
              <a:ext uri="{FF2B5EF4-FFF2-40B4-BE49-F238E27FC236}">
                <a16:creationId xmlns:a16="http://schemas.microsoft.com/office/drawing/2014/main" id="{40622011-6EEA-C078-ECA2-DD34AAA97091}"/>
              </a:ext>
            </a:extLst>
          </p:cNvPr>
          <p:cNvSpPr>
            <a:spLocks noGrp="1"/>
          </p:cNvSpPr>
          <p:nvPr>
            <p:ph idx="1"/>
          </p:nvPr>
        </p:nvSpPr>
        <p:spPr>
          <a:xfrm>
            <a:off x="838200" y="1295718"/>
            <a:ext cx="11117826" cy="4881245"/>
          </a:xfrm>
        </p:spPr>
        <p:txBody>
          <a:bodyPr>
            <a:normAutofit fontScale="92500"/>
          </a:bodyPr>
          <a:lstStyle/>
          <a:p>
            <a:pPr marL="0" indent="0">
              <a:buNone/>
            </a:pPr>
            <a:r>
              <a:rPr lang="en-US" sz="2600" dirty="0">
                <a:latin typeface="+mn-lt"/>
              </a:rPr>
              <a:t>Research Question 1</a:t>
            </a:r>
          </a:p>
          <a:p>
            <a:pPr marL="0" indent="0">
              <a:lnSpc>
                <a:spcPct val="110000"/>
              </a:lnSpc>
              <a:buNone/>
            </a:pPr>
            <a:r>
              <a:rPr lang="en-US" sz="2600" b="1" i="1" dirty="0">
                <a:latin typeface="+mn-lt"/>
              </a:rPr>
              <a:t>What are children’s perceptions regarding online learning during the COVID-19 pandemic?</a:t>
            </a:r>
            <a:endParaRPr lang="en-US" sz="2600" b="1" dirty="0">
              <a:latin typeface="+mn-lt"/>
            </a:endParaRPr>
          </a:p>
          <a:p>
            <a:pPr marL="0" indent="0">
              <a:buNone/>
            </a:pPr>
            <a:r>
              <a:rPr lang="en-US" sz="2600" dirty="0">
                <a:latin typeface="+mn-lt"/>
              </a:rPr>
              <a:t>How it is addressed: This question is mainly answered through,</a:t>
            </a:r>
          </a:p>
          <a:p>
            <a:pPr lvl="0"/>
            <a:r>
              <a:rPr lang="en-US" sz="2600" dirty="0">
                <a:latin typeface="+mn-lt"/>
              </a:rPr>
              <a:t>Theme 1: Flexibility for Online Learning </a:t>
            </a:r>
          </a:p>
          <a:p>
            <a:pPr lvl="0"/>
            <a:r>
              <a:rPr lang="en-US" sz="2600" dirty="0">
                <a:latin typeface="+mn-lt"/>
              </a:rPr>
              <a:t>Theme 2: Availability of Online Learning Resources</a:t>
            </a:r>
          </a:p>
          <a:p>
            <a:pPr marL="0" indent="0">
              <a:buNone/>
            </a:pPr>
            <a:r>
              <a:rPr lang="en-US" sz="2600" dirty="0">
                <a:latin typeface="+mn-lt"/>
              </a:rPr>
              <a:t>Research Question 2</a:t>
            </a:r>
          </a:p>
          <a:p>
            <a:pPr marL="0" indent="0">
              <a:lnSpc>
                <a:spcPct val="110000"/>
              </a:lnSpc>
              <a:buNone/>
            </a:pPr>
            <a:r>
              <a:rPr lang="en-US" sz="2600" b="1" i="1" dirty="0">
                <a:latin typeface="+mn-lt"/>
              </a:rPr>
              <a:t>What factors influence children’s preference for online learning over onsite learning?</a:t>
            </a:r>
            <a:endParaRPr lang="en-US" sz="2600" b="1" dirty="0">
              <a:latin typeface="+mn-lt"/>
            </a:endParaRPr>
          </a:p>
          <a:p>
            <a:pPr marL="0" indent="0">
              <a:buNone/>
            </a:pPr>
            <a:r>
              <a:rPr lang="en-US" sz="2600" b="1" dirty="0">
                <a:latin typeface="+mn-lt"/>
              </a:rPr>
              <a:t>How it is addressed: </a:t>
            </a:r>
            <a:r>
              <a:rPr lang="en-US" sz="2600" dirty="0">
                <a:latin typeface="+mn-lt"/>
              </a:rPr>
              <a:t>This question is mainly answered through,</a:t>
            </a:r>
          </a:p>
          <a:p>
            <a:pPr lvl="0"/>
            <a:r>
              <a:rPr lang="en-US" sz="2600" dirty="0">
                <a:latin typeface="+mn-lt"/>
              </a:rPr>
              <a:t>Theme 3: Factors Influencing Technology Preference</a:t>
            </a:r>
          </a:p>
          <a:p>
            <a:pPr marL="0" indent="0">
              <a:buNone/>
            </a:pPr>
            <a:endParaRPr lang="en-US" dirty="0"/>
          </a:p>
        </p:txBody>
      </p:sp>
      <p:sp>
        <p:nvSpPr>
          <p:cNvPr id="2" name="Date Placeholder 1">
            <a:extLst>
              <a:ext uri="{FF2B5EF4-FFF2-40B4-BE49-F238E27FC236}">
                <a16:creationId xmlns:a16="http://schemas.microsoft.com/office/drawing/2014/main" id="{2CC14D4F-118D-D4D0-ECD0-461F0C44C218}"/>
              </a:ext>
            </a:extLst>
          </p:cNvPr>
          <p:cNvSpPr>
            <a:spLocks noGrp="1"/>
          </p:cNvSpPr>
          <p:nvPr>
            <p:ph type="dt" sz="half" idx="10"/>
          </p:nvPr>
        </p:nvSpPr>
        <p:spPr/>
        <p:txBody>
          <a:bodyPr/>
          <a:lstStyle/>
          <a:p>
            <a:fld id="{CAD26966-9675-4C47-8E10-00540E5C7DA5}" type="datetime1">
              <a:rPr lang="en-US" smtClean="0"/>
              <a:t>8/1/2026</a:t>
            </a:fld>
            <a:endParaRPr lang="en-US" dirty="0"/>
          </a:p>
        </p:txBody>
      </p:sp>
      <p:sp>
        <p:nvSpPr>
          <p:cNvPr id="3" name="Slide Number Placeholder 2">
            <a:extLst>
              <a:ext uri="{FF2B5EF4-FFF2-40B4-BE49-F238E27FC236}">
                <a16:creationId xmlns:a16="http://schemas.microsoft.com/office/drawing/2014/main" id="{72767AED-9E9A-3A0C-F745-180E1BD77847}"/>
              </a:ext>
            </a:extLst>
          </p:cNvPr>
          <p:cNvSpPr>
            <a:spLocks noGrp="1"/>
          </p:cNvSpPr>
          <p:nvPr>
            <p:ph type="sldNum" sz="quarter" idx="12"/>
          </p:nvPr>
        </p:nvSpPr>
        <p:spPr/>
        <p:txBody>
          <a:bodyPr/>
          <a:lstStyle/>
          <a:p>
            <a:fld id="{863210D4-8309-FA4E-999D-6938C4C3C70A}" type="slidenum">
              <a:rPr lang="en-US" smtClean="0"/>
              <a:pPr/>
              <a:t>11</a:t>
            </a:fld>
            <a:endParaRPr lang="en-US" dirty="0"/>
          </a:p>
        </p:txBody>
      </p:sp>
    </p:spTree>
    <p:extLst>
      <p:ext uri="{BB962C8B-B14F-4D97-AF65-F5344CB8AC3E}">
        <p14:creationId xmlns:p14="http://schemas.microsoft.com/office/powerpoint/2010/main" val="4111134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CAD40-F204-D3B5-A615-3BFC099E7E6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AB95D42-7472-970D-150C-C0AA5842F318}"/>
              </a:ext>
            </a:extLst>
          </p:cNvPr>
          <p:cNvSpPr>
            <a:spLocks noGrp="1"/>
          </p:cNvSpPr>
          <p:nvPr>
            <p:ph type="title"/>
          </p:nvPr>
        </p:nvSpPr>
        <p:spPr/>
        <p:txBody>
          <a:bodyPr/>
          <a:lstStyle/>
          <a:p>
            <a:r>
              <a:rPr lang="en-US" b="1" dirty="0">
                <a:solidFill>
                  <a:srgbClr val="C00000"/>
                </a:solidFill>
                <a:latin typeface="+mn-lt"/>
              </a:rPr>
              <a:t>Continued….</a:t>
            </a:r>
          </a:p>
        </p:txBody>
      </p:sp>
      <p:sp>
        <p:nvSpPr>
          <p:cNvPr id="9" name="Content Placeholder 8">
            <a:extLst>
              <a:ext uri="{FF2B5EF4-FFF2-40B4-BE49-F238E27FC236}">
                <a16:creationId xmlns:a16="http://schemas.microsoft.com/office/drawing/2014/main" id="{96C603C5-0871-4589-A0AB-9E2E9C6AB1FF}"/>
              </a:ext>
            </a:extLst>
          </p:cNvPr>
          <p:cNvSpPr>
            <a:spLocks noGrp="1"/>
          </p:cNvSpPr>
          <p:nvPr>
            <p:ph idx="1"/>
          </p:nvPr>
        </p:nvSpPr>
        <p:spPr/>
        <p:txBody>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Research Question 3</a:t>
            </a:r>
          </a:p>
          <a:p>
            <a:pPr marL="0" indent="0">
              <a:buNone/>
            </a:pPr>
            <a:r>
              <a:rPr lang="en-US" b="1" i="1" dirty="0">
                <a:latin typeface="Calibri" panose="020F0502020204030204" pitchFamily="34" charset="0"/>
                <a:ea typeface="Calibri" panose="020F0502020204030204" pitchFamily="34" charset="0"/>
                <a:cs typeface="Calibri" panose="020F0502020204030204" pitchFamily="34" charset="0"/>
              </a:rPr>
              <a:t>What benefits do children experience when engaging in online learning compared to onsite learning in the post-pandemic context?</a:t>
            </a:r>
            <a:endParaRPr lang="en-US"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How it is addressed:</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This question is answered through,</a:t>
            </a:r>
          </a:p>
          <a:p>
            <a:pPr lvl="0"/>
            <a:r>
              <a:rPr lang="en-US" dirty="0">
                <a:latin typeface="Calibri" panose="020F0502020204030204" pitchFamily="34" charset="0"/>
                <a:ea typeface="Calibri" panose="020F0502020204030204" pitchFamily="34" charset="0"/>
                <a:cs typeface="Calibri" panose="020F0502020204030204" pitchFamily="34" charset="0"/>
              </a:rPr>
              <a:t>Theme 1: Flexibility for Online Learning </a:t>
            </a:r>
          </a:p>
          <a:p>
            <a:pPr lvl="0"/>
            <a:r>
              <a:rPr lang="en-US" dirty="0">
                <a:latin typeface="Calibri" panose="020F0502020204030204" pitchFamily="34" charset="0"/>
                <a:ea typeface="Calibri" panose="020F0502020204030204" pitchFamily="34" charset="0"/>
                <a:cs typeface="Calibri" panose="020F0502020204030204" pitchFamily="34" charset="0"/>
              </a:rPr>
              <a:t>Theme 2: Availability of Resources </a:t>
            </a:r>
          </a:p>
          <a:p>
            <a:pPr lvl="0"/>
            <a:r>
              <a:rPr lang="en-US" dirty="0">
                <a:latin typeface="Calibri" panose="020F0502020204030204" pitchFamily="34" charset="0"/>
                <a:ea typeface="Calibri" panose="020F0502020204030204" pitchFamily="34" charset="0"/>
                <a:cs typeface="Calibri" panose="020F0502020204030204" pitchFamily="34" charset="0"/>
              </a:rPr>
              <a:t>Theme 3: Technology Preference Factors</a:t>
            </a:r>
          </a:p>
          <a:p>
            <a:pPr marL="0" indent="0">
              <a:buNone/>
            </a:pPr>
            <a:endParaRPr lang="en-US" dirty="0"/>
          </a:p>
        </p:txBody>
      </p:sp>
      <p:sp>
        <p:nvSpPr>
          <p:cNvPr id="2" name="Date Placeholder 1">
            <a:extLst>
              <a:ext uri="{FF2B5EF4-FFF2-40B4-BE49-F238E27FC236}">
                <a16:creationId xmlns:a16="http://schemas.microsoft.com/office/drawing/2014/main" id="{631BE8C9-CCBF-AEAB-8535-991C2E2048D5}"/>
              </a:ext>
            </a:extLst>
          </p:cNvPr>
          <p:cNvSpPr>
            <a:spLocks noGrp="1"/>
          </p:cNvSpPr>
          <p:nvPr>
            <p:ph type="dt" sz="half" idx="10"/>
          </p:nvPr>
        </p:nvSpPr>
        <p:spPr/>
        <p:txBody>
          <a:bodyPr/>
          <a:lstStyle/>
          <a:p>
            <a:fld id="{CAD26966-9675-4C47-8E10-00540E5C7DA5}" type="datetime1">
              <a:rPr lang="en-US" smtClean="0"/>
              <a:t>8/1/2026</a:t>
            </a:fld>
            <a:endParaRPr lang="en-US" dirty="0"/>
          </a:p>
        </p:txBody>
      </p:sp>
      <p:sp>
        <p:nvSpPr>
          <p:cNvPr id="3" name="Slide Number Placeholder 2">
            <a:extLst>
              <a:ext uri="{FF2B5EF4-FFF2-40B4-BE49-F238E27FC236}">
                <a16:creationId xmlns:a16="http://schemas.microsoft.com/office/drawing/2014/main" id="{956F5473-4D4C-A01F-E3C7-C5F63EF476FB}"/>
              </a:ext>
            </a:extLst>
          </p:cNvPr>
          <p:cNvSpPr>
            <a:spLocks noGrp="1"/>
          </p:cNvSpPr>
          <p:nvPr>
            <p:ph type="sldNum" sz="quarter" idx="12"/>
          </p:nvPr>
        </p:nvSpPr>
        <p:spPr/>
        <p:txBody>
          <a:bodyPr/>
          <a:lstStyle/>
          <a:p>
            <a:fld id="{863210D4-8309-FA4E-999D-6938C4C3C70A}" type="slidenum">
              <a:rPr lang="en-US" smtClean="0"/>
              <a:pPr/>
              <a:t>12</a:t>
            </a:fld>
            <a:endParaRPr lang="en-US" dirty="0"/>
          </a:p>
        </p:txBody>
      </p:sp>
    </p:spTree>
    <p:extLst>
      <p:ext uri="{BB962C8B-B14F-4D97-AF65-F5344CB8AC3E}">
        <p14:creationId xmlns:p14="http://schemas.microsoft.com/office/powerpoint/2010/main" val="2447411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4A721-E668-4839-AD32-E6EA2DDBDDB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48CB009-CD94-2C33-F64B-C980447AD254}"/>
              </a:ext>
            </a:extLst>
          </p:cNvPr>
          <p:cNvSpPr>
            <a:spLocks noGrp="1"/>
          </p:cNvSpPr>
          <p:nvPr>
            <p:ph type="title"/>
          </p:nvPr>
        </p:nvSpPr>
        <p:spPr/>
        <p:txBody>
          <a:bodyPr/>
          <a:lstStyle/>
          <a:p>
            <a:r>
              <a:rPr lang="en-US" b="1" dirty="0">
                <a:solidFill>
                  <a:srgbClr val="C00000"/>
                </a:solidFill>
                <a:latin typeface="+mn-lt"/>
              </a:rPr>
              <a:t>Continued….</a:t>
            </a:r>
          </a:p>
        </p:txBody>
      </p:sp>
      <p:sp>
        <p:nvSpPr>
          <p:cNvPr id="9" name="Content Placeholder 8">
            <a:extLst>
              <a:ext uri="{FF2B5EF4-FFF2-40B4-BE49-F238E27FC236}">
                <a16:creationId xmlns:a16="http://schemas.microsoft.com/office/drawing/2014/main" id="{223CC4D2-1B02-8846-5F17-2A42A90CD4FB}"/>
              </a:ext>
            </a:extLst>
          </p:cNvPr>
          <p:cNvSpPr>
            <a:spLocks noGrp="1"/>
          </p:cNvSpPr>
          <p:nvPr>
            <p:ph idx="1"/>
          </p:nvPr>
        </p:nvSpPr>
        <p:spPr/>
        <p:txBody>
          <a:bodyPr/>
          <a:lstStyle/>
          <a:p>
            <a:pPr>
              <a:buNone/>
            </a:pPr>
            <a:r>
              <a:rPr lang="en-US" b="1" dirty="0">
                <a:latin typeface="Calibri" panose="020F0502020204030204" pitchFamily="34" charset="0"/>
                <a:ea typeface="Calibri" panose="020F0502020204030204" pitchFamily="34" charset="0"/>
                <a:cs typeface="Calibri" panose="020F0502020204030204" pitchFamily="34" charset="0"/>
              </a:rPr>
              <a:t>Theme 5: Post-Pandemic Learning Expectations</a:t>
            </a:r>
          </a:p>
          <a:p>
            <a:pPr>
              <a:buNone/>
            </a:pPr>
            <a:r>
              <a:rPr lang="en-US" b="1" dirty="0">
                <a:latin typeface="Calibri" panose="020F0502020204030204" pitchFamily="34" charset="0"/>
                <a:ea typeface="Calibri" panose="020F0502020204030204" pitchFamily="34" charset="0"/>
                <a:cs typeface="Calibri" panose="020F0502020204030204" pitchFamily="34" charset="0"/>
              </a:rPr>
              <a:t>Linked to: Balance of all three presences</a:t>
            </a:r>
            <a:endParaRPr lang="en-US" dirty="0">
              <a:latin typeface="Calibri" panose="020F0502020204030204" pitchFamily="34" charset="0"/>
              <a:ea typeface="Calibri" panose="020F0502020204030204" pitchFamily="34" charset="0"/>
              <a:cs typeface="Calibri" panose="020F0502020204030204" pitchFamily="34" charset="0"/>
            </a:endParaRPr>
          </a:p>
          <a:p>
            <a:pPr marL="0" lvl="0" indent="0">
              <a:buNone/>
            </a:pPr>
            <a:r>
              <a:rPr lang="en-US" dirty="0">
                <a:latin typeface="Calibri" panose="020F0502020204030204" pitchFamily="34" charset="0"/>
                <a:ea typeface="Calibri" panose="020F0502020204030204" pitchFamily="34" charset="0"/>
                <a:cs typeface="Calibri" panose="020F0502020204030204" pitchFamily="34" charset="0"/>
              </a:rPr>
              <a:t>Children want: </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Cognitive benefits (flexibility) </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Teaching support (guidance) </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Social interaction (classroom)</a:t>
            </a:r>
          </a:p>
          <a:p>
            <a:pPr marL="0" indent="0">
              <a:buNone/>
            </a:pPr>
            <a:endParaRPr lang="en-US" dirty="0"/>
          </a:p>
        </p:txBody>
      </p:sp>
      <p:sp>
        <p:nvSpPr>
          <p:cNvPr id="2" name="Date Placeholder 1">
            <a:extLst>
              <a:ext uri="{FF2B5EF4-FFF2-40B4-BE49-F238E27FC236}">
                <a16:creationId xmlns:a16="http://schemas.microsoft.com/office/drawing/2014/main" id="{ACF1DFEC-A1F0-4A10-53C0-822174DDDE24}"/>
              </a:ext>
            </a:extLst>
          </p:cNvPr>
          <p:cNvSpPr>
            <a:spLocks noGrp="1"/>
          </p:cNvSpPr>
          <p:nvPr>
            <p:ph type="dt" sz="half" idx="10"/>
          </p:nvPr>
        </p:nvSpPr>
        <p:spPr/>
        <p:txBody>
          <a:bodyPr/>
          <a:lstStyle/>
          <a:p>
            <a:fld id="{CAD26966-9675-4C47-8E10-00540E5C7DA5}" type="datetime1">
              <a:rPr lang="en-US" smtClean="0"/>
              <a:t>8/1/2026</a:t>
            </a:fld>
            <a:endParaRPr lang="en-US" dirty="0"/>
          </a:p>
        </p:txBody>
      </p:sp>
      <p:sp>
        <p:nvSpPr>
          <p:cNvPr id="3" name="Slide Number Placeholder 2">
            <a:extLst>
              <a:ext uri="{FF2B5EF4-FFF2-40B4-BE49-F238E27FC236}">
                <a16:creationId xmlns:a16="http://schemas.microsoft.com/office/drawing/2014/main" id="{81FF1E33-D283-4278-9123-69FDC683D0E3}"/>
              </a:ext>
            </a:extLst>
          </p:cNvPr>
          <p:cNvSpPr>
            <a:spLocks noGrp="1"/>
          </p:cNvSpPr>
          <p:nvPr>
            <p:ph type="sldNum" sz="quarter" idx="12"/>
          </p:nvPr>
        </p:nvSpPr>
        <p:spPr/>
        <p:txBody>
          <a:bodyPr/>
          <a:lstStyle/>
          <a:p>
            <a:fld id="{863210D4-8309-FA4E-999D-6938C4C3C70A}" type="slidenum">
              <a:rPr lang="en-US" smtClean="0"/>
              <a:pPr/>
              <a:t>13</a:t>
            </a:fld>
            <a:endParaRPr lang="en-US" dirty="0"/>
          </a:p>
        </p:txBody>
      </p:sp>
    </p:spTree>
    <p:extLst>
      <p:ext uri="{BB962C8B-B14F-4D97-AF65-F5344CB8AC3E}">
        <p14:creationId xmlns:p14="http://schemas.microsoft.com/office/powerpoint/2010/main" val="3406172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F396B-350C-7159-B03E-35C8F1219D6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2A681CE-5E10-BA4B-B2AA-B64BFF345643}"/>
              </a:ext>
            </a:extLst>
          </p:cNvPr>
          <p:cNvSpPr>
            <a:spLocks noGrp="1"/>
          </p:cNvSpPr>
          <p:nvPr>
            <p:ph type="title"/>
          </p:nvPr>
        </p:nvSpPr>
        <p:spPr/>
        <p:txBody>
          <a:bodyPr/>
          <a:lstStyle/>
          <a:p>
            <a:r>
              <a:rPr lang="en-US" dirty="0">
                <a:solidFill>
                  <a:srgbClr val="C00000"/>
                </a:solidFill>
                <a:latin typeface="Calibri" panose="020F0502020204030204" pitchFamily="34" charset="0"/>
                <a:ea typeface="Calibri" panose="020F0502020204030204" pitchFamily="34" charset="0"/>
                <a:cs typeface="Calibri" panose="020F0502020204030204" pitchFamily="34" charset="0"/>
              </a:rPr>
              <a:t>References</a:t>
            </a:r>
          </a:p>
        </p:txBody>
      </p:sp>
      <p:sp>
        <p:nvSpPr>
          <p:cNvPr id="9" name="Content Placeholder 8">
            <a:extLst>
              <a:ext uri="{FF2B5EF4-FFF2-40B4-BE49-F238E27FC236}">
                <a16:creationId xmlns:a16="http://schemas.microsoft.com/office/drawing/2014/main" id="{D7F9559F-16AE-B355-51AF-3BDCC264BC7C}"/>
              </a:ext>
            </a:extLst>
          </p:cNvPr>
          <p:cNvSpPr>
            <a:spLocks noGrp="1"/>
          </p:cNvSpPr>
          <p:nvPr>
            <p:ph idx="1"/>
          </p:nvPr>
        </p:nvSpPr>
        <p:spPr/>
        <p:txBody>
          <a:bodyPr>
            <a:norm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Bozkurt, A., &amp;amp; Sharma, R. C. (2020). Emergency remote teaching in a time of global crisis due to coronavirus pandemic. Asian Journal of Distance Education, 15(1), </a:t>
            </a:r>
            <a:r>
              <a:rPr lang="en-US" sz="1800" dirty="0" err="1">
                <a:latin typeface="Calibri" panose="020F0502020204030204" pitchFamily="34" charset="0"/>
                <a:ea typeface="Calibri" panose="020F0502020204030204" pitchFamily="34" charset="0"/>
                <a:cs typeface="Calibri" panose="020F0502020204030204" pitchFamily="34" charset="0"/>
              </a:rPr>
              <a:t>i</a:t>
            </a:r>
            <a:r>
              <a:rPr lang="en-US" sz="1800" dirty="0">
                <a:latin typeface="Calibri" panose="020F0502020204030204" pitchFamily="34" charset="0"/>
                <a:ea typeface="Calibri" panose="020F0502020204030204" pitchFamily="34" charset="0"/>
                <a:cs typeface="Calibri" panose="020F0502020204030204" pitchFamily="34" charset="0"/>
              </a:rPr>
              <a:t>–vi.2) </a:t>
            </a:r>
          </a:p>
          <a:p>
            <a:r>
              <a:rPr lang="en-US" sz="1800" dirty="0">
                <a:latin typeface="Calibri" panose="020F0502020204030204" pitchFamily="34" charset="0"/>
                <a:ea typeface="Calibri" panose="020F0502020204030204" pitchFamily="34" charset="0"/>
                <a:cs typeface="Calibri" panose="020F0502020204030204" pitchFamily="34" charset="0"/>
              </a:rPr>
              <a:t>Braun, V., &amp;amp; Clarke, V. (2006). Using thematic analysis in psychology. Qualitative Research in Psychology, 3(2), 77–101.https://doi.org/10.1191/1478088706qp063oa</a:t>
            </a:r>
          </a:p>
          <a:p>
            <a:r>
              <a:rPr lang="en-US" sz="1800" dirty="0">
                <a:latin typeface="Calibri" panose="020F0502020204030204" pitchFamily="34" charset="0"/>
                <a:ea typeface="Calibri" panose="020F0502020204030204" pitchFamily="34" charset="0"/>
                <a:cs typeface="Calibri" panose="020F0502020204030204" pitchFamily="34" charset="0"/>
              </a:rPr>
              <a:t>Dhawan, S. (2020). Online learning: A panacea in the time of COVID-19 crisis. Journal of Educational Technology Systems, 49(1), 5–22.https://doi.org/10.1177/00472395209340184) </a:t>
            </a:r>
          </a:p>
          <a:p>
            <a:r>
              <a:rPr lang="en-US" sz="1800" dirty="0">
                <a:latin typeface="Calibri" panose="020F0502020204030204" pitchFamily="34" charset="0"/>
                <a:ea typeface="Calibri" panose="020F0502020204030204" pitchFamily="34" charset="0"/>
                <a:cs typeface="Calibri" panose="020F0502020204030204" pitchFamily="34" charset="0"/>
              </a:rPr>
              <a:t>Garrison, D. R., Anderson, T., &amp;amp; Archer, W.(2000). Critical inquiry in a text-based environment: Computer conferencing in higher education. The Internet and Higher Education,2(2–3), 87–105. </a:t>
            </a:r>
            <a:r>
              <a:rPr lang="en-US" sz="1800" dirty="0">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https://doi.org/10.1016/S1096-7516(00)00016-6</a:t>
            </a:r>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Means, B., Toyama, Y., Murphy, R., &amp;amp; Baki, M.(2013). The effectiveness of online and blended learning: A meta-analysis of empirical literature. Teachers College Record, 115(3), 1–47.6)</a:t>
            </a:r>
          </a:p>
          <a:p>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Rukmalgama</a:t>
            </a:r>
            <a:r>
              <a:rPr lang="en-US" sz="1800" dirty="0">
                <a:latin typeface="Calibri" panose="020F0502020204030204" pitchFamily="34" charset="0"/>
                <a:ea typeface="Calibri" panose="020F0502020204030204" pitchFamily="34" charset="0"/>
                <a:cs typeface="Calibri" panose="020F0502020204030204" pitchFamily="34" charset="0"/>
              </a:rPr>
              <a:t>, L. (2022). Impact of COVID-19pandemic and issues in adapting to online learning. NISD E-Journal, (2).https://nisd.ac.lk/wp-content/download/e-journal/2022/issue-2/4_Impact_of_Covid-19_Pandemic_and_Issues_in_Adapting_to_Online_Learning.pdf</a:t>
            </a:r>
          </a:p>
          <a:p>
            <a:r>
              <a:rPr lang="en-US" sz="1800" dirty="0" err="1">
                <a:latin typeface="Calibri" panose="020F0502020204030204" pitchFamily="34" charset="0"/>
                <a:ea typeface="Calibri" panose="020F0502020204030204" pitchFamily="34" charset="0"/>
                <a:cs typeface="Calibri" panose="020F0502020204030204" pitchFamily="34" charset="0"/>
              </a:rPr>
              <a:t>Subaveer</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apandiyan</a:t>
            </a:r>
            <a:r>
              <a:rPr lang="en-US" sz="1800" dirty="0">
                <a:latin typeface="Calibri" panose="020F0502020204030204" pitchFamily="34" charset="0"/>
                <a:ea typeface="Calibri" panose="020F0502020204030204" pitchFamily="34" charset="0"/>
                <a:cs typeface="Calibri" panose="020F0502020204030204" pitchFamily="34" charset="0"/>
              </a:rPr>
              <a:t>, A., &amp;amp; Rajitha, A. (2022).Virtual learning environment: Pleasure or pressure. </a:t>
            </a:r>
            <a:r>
              <a:rPr lang="en-US" sz="1800" dirty="0" err="1">
                <a:latin typeface="Calibri" panose="020F0502020204030204" pitchFamily="34" charset="0"/>
                <a:ea typeface="Calibri" panose="020F0502020204030204" pitchFamily="34" charset="0"/>
                <a:cs typeface="Calibri" panose="020F0502020204030204" pitchFamily="34" charset="0"/>
              </a:rPr>
              <a:t>arXiv.https</a:t>
            </a:r>
            <a:r>
              <a:rPr lang="en-US" sz="1800" dirty="0">
                <a:latin typeface="Calibri" panose="020F0502020204030204" pitchFamily="34" charset="0"/>
                <a:ea typeface="Calibri" panose="020F0502020204030204" pitchFamily="34" charset="0"/>
                <a:cs typeface="Calibri" panose="020F0502020204030204" pitchFamily="34" charset="0"/>
              </a:rPr>
              <a:t>://doi.org/10.48550/arXiv.2210.10373</a:t>
            </a:r>
          </a:p>
        </p:txBody>
      </p:sp>
      <p:sp>
        <p:nvSpPr>
          <p:cNvPr id="2" name="Date Placeholder 1">
            <a:extLst>
              <a:ext uri="{FF2B5EF4-FFF2-40B4-BE49-F238E27FC236}">
                <a16:creationId xmlns:a16="http://schemas.microsoft.com/office/drawing/2014/main" id="{BF9E128B-2A35-F207-CDCB-2D4DA5088882}"/>
              </a:ext>
            </a:extLst>
          </p:cNvPr>
          <p:cNvSpPr>
            <a:spLocks noGrp="1"/>
          </p:cNvSpPr>
          <p:nvPr>
            <p:ph type="dt" sz="half" idx="10"/>
          </p:nvPr>
        </p:nvSpPr>
        <p:spPr/>
        <p:txBody>
          <a:bodyPr/>
          <a:lstStyle/>
          <a:p>
            <a:fld id="{CAD26966-9675-4C47-8E10-00540E5C7DA5}" type="datetime1">
              <a:rPr lang="en-US" smtClean="0"/>
              <a:t>8/1/2026</a:t>
            </a:fld>
            <a:endParaRPr lang="en-US" dirty="0"/>
          </a:p>
        </p:txBody>
      </p:sp>
      <p:sp>
        <p:nvSpPr>
          <p:cNvPr id="3" name="Slide Number Placeholder 2">
            <a:extLst>
              <a:ext uri="{FF2B5EF4-FFF2-40B4-BE49-F238E27FC236}">
                <a16:creationId xmlns:a16="http://schemas.microsoft.com/office/drawing/2014/main" id="{0AE5DB3E-658C-D612-2B50-834B9063C0CD}"/>
              </a:ext>
            </a:extLst>
          </p:cNvPr>
          <p:cNvSpPr>
            <a:spLocks noGrp="1"/>
          </p:cNvSpPr>
          <p:nvPr>
            <p:ph type="sldNum" sz="quarter" idx="12"/>
          </p:nvPr>
        </p:nvSpPr>
        <p:spPr/>
        <p:txBody>
          <a:bodyPr/>
          <a:lstStyle/>
          <a:p>
            <a:fld id="{863210D4-8309-FA4E-999D-6938C4C3C70A}" type="slidenum">
              <a:rPr lang="en-US" smtClean="0"/>
              <a:pPr/>
              <a:t>14</a:t>
            </a:fld>
            <a:endParaRPr lang="en-US" dirty="0"/>
          </a:p>
        </p:txBody>
      </p:sp>
    </p:spTree>
    <p:extLst>
      <p:ext uri="{BB962C8B-B14F-4D97-AF65-F5344CB8AC3E}">
        <p14:creationId xmlns:p14="http://schemas.microsoft.com/office/powerpoint/2010/main" val="1360108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981E57-4904-1121-F3DD-35620126E336}"/>
              </a:ext>
            </a:extLst>
          </p:cNvPr>
          <p:cNvSpPr>
            <a:spLocks noGrp="1"/>
          </p:cNvSpPr>
          <p:nvPr>
            <p:ph idx="1"/>
          </p:nvPr>
        </p:nvSpPr>
        <p:spPr>
          <a:xfrm>
            <a:off x="838200" y="223736"/>
            <a:ext cx="10515600" cy="5953227"/>
          </a:xfrm>
        </p:spPr>
        <p:txBody>
          <a:bodyPr anchor="ctr">
            <a:normAutofit/>
          </a:bodyPr>
          <a:lstStyle/>
          <a:p>
            <a:pPr marL="0" indent="0" algn="ctr">
              <a:buNone/>
            </a:pPr>
            <a:r>
              <a:rPr lang="en-GB" sz="6600" i="1" noProof="0" dirty="0">
                <a:latin typeface="Calibri "/>
              </a:rPr>
              <a:t>Thank you for your attention.</a:t>
            </a:r>
          </a:p>
        </p:txBody>
      </p:sp>
      <p:sp>
        <p:nvSpPr>
          <p:cNvPr id="2" name="Date Placeholder 1">
            <a:extLst>
              <a:ext uri="{FF2B5EF4-FFF2-40B4-BE49-F238E27FC236}">
                <a16:creationId xmlns:a16="http://schemas.microsoft.com/office/drawing/2014/main" id="{89B1A926-1169-9624-491B-7194F47A91B3}"/>
              </a:ext>
            </a:extLst>
          </p:cNvPr>
          <p:cNvSpPr>
            <a:spLocks noGrp="1"/>
          </p:cNvSpPr>
          <p:nvPr>
            <p:ph type="dt" sz="half" idx="10"/>
          </p:nvPr>
        </p:nvSpPr>
        <p:spPr/>
        <p:txBody>
          <a:bodyPr/>
          <a:lstStyle/>
          <a:p>
            <a:fld id="{369C01DE-ACE6-410C-A367-B03B5EAE8009}" type="datetime1">
              <a:rPr lang="en-US" smtClean="0"/>
              <a:t>8/1/2026</a:t>
            </a:fld>
            <a:endParaRPr lang="en-US" dirty="0"/>
          </a:p>
        </p:txBody>
      </p:sp>
      <p:sp>
        <p:nvSpPr>
          <p:cNvPr id="4" name="Slide Number Placeholder 3">
            <a:extLst>
              <a:ext uri="{FF2B5EF4-FFF2-40B4-BE49-F238E27FC236}">
                <a16:creationId xmlns:a16="http://schemas.microsoft.com/office/drawing/2014/main" id="{0AFA65A1-14CD-5290-6306-74B3982D6895}"/>
              </a:ext>
            </a:extLst>
          </p:cNvPr>
          <p:cNvSpPr>
            <a:spLocks noGrp="1"/>
          </p:cNvSpPr>
          <p:nvPr>
            <p:ph type="sldNum" sz="quarter" idx="12"/>
          </p:nvPr>
        </p:nvSpPr>
        <p:spPr/>
        <p:txBody>
          <a:bodyPr/>
          <a:lstStyle/>
          <a:p>
            <a:fld id="{863210D4-8309-FA4E-999D-6938C4C3C70A}" type="slidenum">
              <a:rPr lang="en-US" smtClean="0"/>
              <a:pPr/>
              <a:t>15</a:t>
            </a:fld>
            <a:endParaRPr lang="en-US" dirty="0"/>
          </a:p>
        </p:txBody>
      </p:sp>
    </p:spTree>
    <p:extLst>
      <p:ext uri="{BB962C8B-B14F-4D97-AF65-F5344CB8AC3E}">
        <p14:creationId xmlns:p14="http://schemas.microsoft.com/office/powerpoint/2010/main" val="397564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4707</TotalTime>
  <Words>1459</Words>
  <Application>Microsoft Office PowerPoint</Application>
  <PresentationFormat>Widescreen</PresentationFormat>
  <Paragraphs>170</Paragraphs>
  <Slides>15</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Batang</vt:lpstr>
      <vt:lpstr>Arial</vt:lpstr>
      <vt:lpstr>Calibri</vt:lpstr>
      <vt:lpstr>Calibri </vt:lpstr>
      <vt:lpstr>Calibri Light</vt:lpstr>
      <vt:lpstr>Helvetica Light</vt:lpstr>
      <vt:lpstr>Wingdings</vt:lpstr>
      <vt:lpstr>Office Theme</vt:lpstr>
      <vt:lpstr>Continuation of Post-Pandemic Online Learning Preferences among Children in Sri Lanka:  A Qualitative Study</vt:lpstr>
      <vt:lpstr>Background of the Study</vt:lpstr>
      <vt:lpstr>Research Problem</vt:lpstr>
      <vt:lpstr>Research Gap</vt:lpstr>
      <vt:lpstr>Research Objective</vt:lpstr>
      <vt:lpstr>Theoretical Framework</vt:lpstr>
      <vt:lpstr>Methodology</vt:lpstr>
      <vt:lpstr>Key Findings</vt:lpstr>
      <vt:lpstr>Continued…..</vt:lpstr>
      <vt:lpstr>Continued…</vt:lpstr>
      <vt:lpstr>Disussion and Analysis</vt:lpstr>
      <vt:lpstr>Continued….</vt:lpstr>
      <vt:lpstr>Continued….</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Janithapriya Buddhika K. PATHIRAGE DON</dc:creator>
  <cp:lastModifiedBy>LENOVO</cp:lastModifiedBy>
  <cp:revision>105</cp:revision>
  <dcterms:created xsi:type="dcterms:W3CDTF">2023-10-19T00:48:35Z</dcterms:created>
  <dcterms:modified xsi:type="dcterms:W3CDTF">2026-08-01T11:17:15Z</dcterms:modified>
</cp:coreProperties>
</file>
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4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963D"/>
    <a:srgbClr val="776612"/>
    <a:srgbClr val="FDDB89"/>
    <a:srgbClr val="FCECAE"/>
    <a:srgbClr val="AA988F"/>
    <a:srgbClr val="BE7C26"/>
    <a:srgbClr val="F7C05A"/>
    <a:srgbClr val="BF5A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4" autoAdjust="0"/>
    <p:restoredTop sz="94976" autoAdjust="0"/>
  </p:normalViewPr>
  <p:slideViewPr>
    <p:cSldViewPr snapToGrid="0">
      <p:cViewPr varScale="1">
        <p:scale>
          <a:sx n="72" d="100"/>
          <a:sy n="72" d="100"/>
        </p:scale>
        <p:origin x="57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E0D744-E84F-6343-A86E-B978A19DD840}" type="datetimeFigureOut">
              <a:rPr lang="en-US" smtClean="0"/>
              <a:t>8/3/2026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38C1E9-10D7-BC49-9440-411BDAEE25A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083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38C1E9-10D7-BC49-9440-411BDAEE25A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6312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38C1E9-10D7-BC49-9440-411BDAEE25A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2670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7A4AEA7-C69E-EC95-FA96-07651E7F961E}"/>
              </a:ext>
            </a:extLst>
          </p:cNvPr>
          <p:cNvSpPr/>
          <p:nvPr userDrawn="1"/>
        </p:nvSpPr>
        <p:spPr>
          <a:xfrm>
            <a:off x="0" y="5873610"/>
            <a:ext cx="12192000" cy="984390"/>
          </a:xfrm>
          <a:prstGeom prst="rect">
            <a:avLst/>
          </a:prstGeom>
          <a:solidFill>
            <a:srgbClr val="BE7C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823CD2-D686-F273-ACE8-AC6A5193C3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33032" y="3601484"/>
            <a:ext cx="10420768" cy="1488697"/>
          </a:xfrm>
        </p:spPr>
        <p:txBody>
          <a:bodyPr anchor="b"/>
          <a:lstStyle>
            <a:lvl1pPr algn="l">
              <a:defRPr sz="2800" b="0" i="0">
                <a:latin typeface="Helvetica Light" panose="020B0403020202020204" pitchFamily="34" charset="0"/>
              </a:defRPr>
            </a:lvl1pPr>
          </a:lstStyle>
          <a:p>
            <a:r>
              <a:rPr lang="en-GB" dirty="0"/>
              <a:t>Title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5907D2-0D25-00D2-327C-3DF761F69FE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3032" y="5195330"/>
            <a:ext cx="10420768" cy="47847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b="0" i="0">
                <a:latin typeface="Helvetica Light" panose="020B0403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Subtitle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C2A7B7-97FF-9CD1-FD2F-BCF95653E6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51602" y="6470650"/>
            <a:ext cx="885024" cy="365125"/>
          </a:xfrm>
        </p:spPr>
        <p:txBody>
          <a:bodyPr/>
          <a:lstStyle/>
          <a:p>
            <a:fld id="{2CA05847-19ED-4347-AEF2-B952E6249A27}" type="datetime1">
              <a:rPr lang="en-US" smtClean="0"/>
              <a:t>8/3/2026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FDF7C-F842-163C-A5D7-8DC89EC54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Picture 8" descr="A logo of university of moratuna&#10;&#10;Description automatically generated">
            <a:extLst>
              <a:ext uri="{FF2B5EF4-FFF2-40B4-BE49-F238E27FC236}">
                <a16:creationId xmlns:a16="http://schemas.microsoft.com/office/drawing/2014/main" id="{10FCD895-49D4-2C2B-0DDA-EB174522DF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5810152"/>
            <a:ext cx="993179" cy="104784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EE5BC98-C9BE-F182-327E-BA1B46C3C367}"/>
              </a:ext>
            </a:extLst>
          </p:cNvPr>
          <p:cNvSpPr txBox="1"/>
          <p:nvPr userDrawn="1"/>
        </p:nvSpPr>
        <p:spPr>
          <a:xfrm>
            <a:off x="5062822" y="6078801"/>
            <a:ext cx="34991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UNIVERSITY OF </a:t>
            </a:r>
            <a:r>
              <a:rPr lang="en-US" sz="1600" b="1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  <a:cs typeface="Bangla Sangam MN" panose="02000000000000000000" pitchFamily="2" charset="0"/>
              </a:rPr>
              <a:t>MORATUWA</a:t>
            </a:r>
            <a:br>
              <a:rPr lang="en-US" sz="1600" b="1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</a:br>
            <a:r>
              <a:rPr lang="en-US" sz="1200" b="1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Centre for Open and Distance Learning</a:t>
            </a:r>
            <a:endParaRPr lang="en-US" sz="1600" b="1" dirty="0">
              <a:solidFill>
                <a:schemeClr val="bg1"/>
              </a:solidFill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4F38F87-AB65-252B-4161-C4F3025B79B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22189" b="28622"/>
          <a:stretch>
            <a:fillRect/>
          </a:stretch>
        </p:blipFill>
        <p:spPr>
          <a:xfrm>
            <a:off x="0" y="0"/>
            <a:ext cx="12192000" cy="317452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1BCC698-00FA-02AC-2EC8-E03C42F0832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798490" y="6097902"/>
            <a:ext cx="555310" cy="55531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C8C88C4-B11C-9D28-79DC-BE2A7143E42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492998" y="6089239"/>
            <a:ext cx="547928" cy="54792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9CDFCA1-516B-CA9E-9106-61501DE8953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32376" y="6146958"/>
            <a:ext cx="39497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484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B6725CB-DD15-E2D5-8817-D451B2847E89}"/>
              </a:ext>
            </a:extLst>
          </p:cNvPr>
          <p:cNvSpPr/>
          <p:nvPr userDrawn="1"/>
        </p:nvSpPr>
        <p:spPr>
          <a:xfrm>
            <a:off x="0" y="6386513"/>
            <a:ext cx="12247233" cy="471487"/>
          </a:xfrm>
          <a:prstGeom prst="rect">
            <a:avLst/>
          </a:prstGeom>
          <a:solidFill>
            <a:srgbClr val="D896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5D97062-BBA5-C8F4-B8C5-FC4B9E6AC3A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1773" y="6467507"/>
            <a:ext cx="333792" cy="33379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466E85E-58C5-3FDA-6529-8BC9EE028FC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42337" y="6478912"/>
            <a:ext cx="329714" cy="32971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2DB0DD7-EFDB-94C9-A0F9-DFF73169462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91428" y="6464962"/>
            <a:ext cx="337679" cy="33767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8678ECB-9A15-B439-AF83-8F512B9DD04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952765" y="6467688"/>
            <a:ext cx="2848362" cy="3297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16F693-A763-0D6D-D42F-7AAE7F4D2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6455"/>
          </a:xfrm>
        </p:spPr>
        <p:txBody>
          <a:bodyPr>
            <a:normAutofit/>
          </a:bodyPr>
          <a:lstStyle>
            <a:lvl1pPr>
              <a:defRPr sz="3200" b="0" i="0">
                <a:latin typeface="Helvetica Light" panose="020B0403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9FEBE-C4E2-45C5-F282-8D45A2646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5718"/>
            <a:ext cx="10515600" cy="4881245"/>
          </a:xfrm>
        </p:spPr>
        <p:txBody>
          <a:bodyPr/>
          <a:lstStyle>
            <a:lvl1pPr>
              <a:defRPr sz="2400" b="0" i="0">
                <a:latin typeface="Helvetica Light" panose="020B0403020202020204" pitchFamily="34" charset="0"/>
              </a:defRPr>
            </a:lvl1pPr>
            <a:lvl2pPr>
              <a:defRPr sz="2000" b="0" i="0">
                <a:latin typeface="Helvetica Light" panose="020B0403020202020204" pitchFamily="34" charset="0"/>
              </a:defRPr>
            </a:lvl2pPr>
            <a:lvl3pPr>
              <a:defRPr sz="1600" b="0" i="0">
                <a:latin typeface="Helvetica Light" panose="020B0403020202020204" pitchFamily="34" charset="0"/>
              </a:defRPr>
            </a:lvl3pPr>
            <a:lvl4pPr>
              <a:defRPr sz="1400" b="0" i="0">
                <a:latin typeface="Helvetica Light" panose="020B0403020202020204" pitchFamily="34" charset="0"/>
              </a:defRPr>
            </a:lvl4pPr>
            <a:lvl5pPr>
              <a:defRPr sz="1200" b="0" i="0">
                <a:latin typeface="Helvetica Light" panose="020B0403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535BE-12FB-ABC9-1582-FEA1C5A9E9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582025" y="6451600"/>
            <a:ext cx="2743200" cy="365125"/>
          </a:xfrm>
        </p:spPr>
        <p:txBody>
          <a:bodyPr/>
          <a:lstStyle/>
          <a:p>
            <a:fld id="{858B1FD3-4AEA-41A5-943D-86B4B96C521D}" type="datetime1">
              <a:rPr lang="en-US" smtClean="0"/>
              <a:t>8/3/2026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1F0D1-18D2-E00A-1709-989FADF31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29BF95-FD3F-9D31-E0D8-D1B7C1BE6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210D4-8309-FA4E-999D-6938C4C3C7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3919E0-AD3E-C694-05D7-9C8811DCBB6C}"/>
              </a:ext>
            </a:extLst>
          </p:cNvPr>
          <p:cNvSpPr txBox="1"/>
          <p:nvPr userDrawn="1"/>
        </p:nvSpPr>
        <p:spPr>
          <a:xfrm>
            <a:off x="4346425" y="6456645"/>
            <a:ext cx="3499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UNIVERSITY OF </a:t>
            </a:r>
            <a:r>
              <a:rPr lang="en-US" sz="1000" b="1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  <a:cs typeface="Bangla Sangam MN" panose="02000000000000000000" pitchFamily="2" charset="0"/>
              </a:rPr>
              <a:t>MORATUWA</a:t>
            </a:r>
            <a:br>
              <a:rPr lang="en-US" sz="1000" b="1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</a:br>
            <a:r>
              <a:rPr lang="en-US" sz="800" b="1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Centre for Open and  Distance Learning</a:t>
            </a:r>
            <a:endParaRPr lang="en-US" sz="1000" b="1" dirty="0">
              <a:solidFill>
                <a:schemeClr val="bg1"/>
              </a:solidFill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72290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4B7258-7DF7-6F12-F6A4-FA86F2096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9392C8-15D6-5420-8CC6-1FE77A02D7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479B64-BBDE-4ED8-6931-53EFBEE506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706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BE1F675-7703-4C18-A059-3C6B370B5644}" type="datetime1">
              <a:rPr lang="en-US" smtClean="0"/>
              <a:t>8/3/2026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29463-8263-DA6C-1CA8-766FCBB6BC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706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1E67D-10E4-C059-B683-7A8710201B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706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863210D4-8309-FA4E-999D-6938C4C3C70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751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43855B9-DB2C-F27C-5B9D-47B7497314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Iskoola Pota" panose="020B0502040204020203" pitchFamily="34" charset="0"/>
              </a:rPr>
              <a:t>Open and Distance Learning as a Tool for Inclusive Higher Education in Sri Lanka: Opportunities and Challenges</a:t>
            </a:r>
            <a:br>
              <a:rPr lang="en-US" sz="2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Iskoola Pota" panose="020B0502040204020203" pitchFamily="34" charset="0"/>
              </a:rPr>
            </a:br>
            <a:endParaRPr lang="en-US" dirty="0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FE15B6C6-B1A2-75CE-4997-9076D57665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3032" y="4825219"/>
            <a:ext cx="10420768" cy="848584"/>
          </a:xfrm>
        </p:spPr>
        <p:txBody>
          <a:bodyPr>
            <a:normAutofit/>
          </a:bodyPr>
          <a:lstStyle/>
          <a:p>
            <a:r>
              <a:rPr lang="en-US" sz="2000" b="1" dirty="0"/>
              <a:t>M.A.R.P. </a:t>
            </a:r>
            <a:r>
              <a:rPr lang="en-US" sz="2000" b="1" dirty="0" err="1"/>
              <a:t>Rikasa</a:t>
            </a:r>
            <a:endParaRPr lang="en-US" sz="2000" b="1" dirty="0"/>
          </a:p>
          <a:p>
            <a:r>
              <a:rPr lang="en-US" sz="2000" b="1" dirty="0"/>
              <a:t>Department of Philosophy, University of Kelaniya, Sri Lanka</a:t>
            </a:r>
          </a:p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EB532A-0E1B-B62C-36B8-F727E5151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74077-899A-4B14-AB6E-0313F990C7DA}" type="datetime1">
              <a:rPr lang="en-US" smtClean="0"/>
              <a:t>8/3/2026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7359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D428C3-C6C5-C588-F0A8-8EC4D0B81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/>
              <a:t>Introduction and Background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AD189A8-9DF0-4A7D-5611-C7570DD558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lnSpc>
                <a:spcPct val="100000"/>
              </a:lnSpc>
              <a:buNone/>
            </a:pPr>
            <a:endParaRPr lang="en-US" dirty="0"/>
          </a:p>
          <a:p>
            <a:pPr algn="just">
              <a:lnSpc>
                <a:spcPct val="100000"/>
              </a:lnSpc>
            </a:pPr>
            <a:r>
              <a:rPr lang="en-US" dirty="0"/>
              <a:t>Higher education is a fundamental driver of social inclusion, economic development, and lifelong learning.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Open and Distance Learning (ODL) has become a key strategy for expanding educational opportunities.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Following the COVID-19 pandemic, Sri Lankan universities increasingly integrated digital learning into teaching and learning.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ODL enables learning beyond geographical and time constraints, offering opportunities for students from diverse backgrounds.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93696D-E439-FAD9-193F-773219E84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26966-9675-4C47-8E10-00540E5C7DA5}" type="datetime1">
              <a:rPr lang="en-US" smtClean="0"/>
              <a:t>8/3/2026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9E16CE-D55E-7594-4432-6B8D8E7AE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210D4-8309-FA4E-999D-6938C4C3C70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078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5ABAF-101C-488E-83BF-24B22A1FB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/>
              <a:t>Research Problem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182BC-3BB6-4828-82B6-F5D3DCEEE2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/>
              <a:t>Research Problem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Although ODL expands access to higher education, its contribution to inclusive education remains uncertain.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800" b="1" dirty="0"/>
              <a:t>Research Gap </a:t>
            </a:r>
          </a:p>
          <a:p>
            <a:pPr marL="0" indent="0">
              <a:buNone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222222"/>
                </a:solidFill>
                <a:effectLst/>
                <a:latin typeface="Helvetica Light" panose="020B0403020202020204"/>
              </a:rPr>
              <a:t>Previous research → online learning and technology adoption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222222"/>
                </a:solidFill>
                <a:effectLst/>
                <a:latin typeface="Helvetica Light" panose="020B0403020202020204"/>
              </a:rPr>
              <a:t>Limited attention to ODL + inclusive higher education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222222"/>
                </a:solidFill>
                <a:effectLst/>
                <a:latin typeface="Helvetica Light" panose="020B0403020202020204"/>
              </a:rPr>
              <a:t>Limited focus on both students and lecturers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222222"/>
                </a:solidFill>
                <a:effectLst/>
                <a:latin typeface="Helvetica Light" panose="020B0403020202020204"/>
              </a:rPr>
              <a:t>Need to understand opportunities and challenges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A677E-A4A3-41AD-9B8C-BE75A9D0D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B1FD3-4AEA-41A5-943D-86B4B96C521D}" type="datetime1">
              <a:rPr lang="en-US" smtClean="0"/>
              <a:t>8/3/2026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B47EB3-C02E-4D07-AAD3-D9FEED570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210D4-8309-FA4E-999D-6938C4C3C70A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766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B0A60-EF25-45A3-81BF-DC2BD6DEF3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9844"/>
            <a:ext cx="10515600" cy="5607120"/>
          </a:xfrm>
        </p:spPr>
        <p:txBody>
          <a:bodyPr/>
          <a:lstStyle/>
          <a:p>
            <a:pPr marL="0" indent="0" algn="l">
              <a:buNone/>
            </a:pPr>
            <a:r>
              <a:rPr lang="en-US" sz="2800" b="1" i="0" dirty="0">
                <a:solidFill>
                  <a:srgbClr val="222222"/>
                </a:solidFill>
                <a:effectLst/>
                <a:latin typeface="Helvetica Light" panose="020B0403020202020204"/>
              </a:rPr>
              <a:t>Main Objective</a:t>
            </a:r>
          </a:p>
          <a:p>
            <a:pPr marL="0" indent="0" algn="l">
              <a:buNone/>
            </a:pPr>
            <a:endParaRPr lang="en-US" sz="2800" b="1" i="0" dirty="0">
              <a:solidFill>
                <a:srgbClr val="222222"/>
              </a:solidFill>
              <a:effectLst/>
              <a:latin typeface="Helvetica Light" panose="020B0403020202020204"/>
            </a:endParaRPr>
          </a:p>
          <a:p>
            <a:pPr algn="l"/>
            <a:r>
              <a:rPr lang="en-US" i="0" dirty="0">
                <a:solidFill>
                  <a:srgbClr val="222222"/>
                </a:solidFill>
                <a:effectLst/>
                <a:latin typeface="Helvetica Light" panose="020B0403020202020204"/>
              </a:rPr>
              <a:t>To explore the role of ODL as a tool for promoting inclusive higher education in Sri Lanka.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800" b="1" dirty="0"/>
              <a:t>Specific Areas </a:t>
            </a:r>
          </a:p>
          <a:p>
            <a:pPr marL="0" indent="0">
              <a:buNone/>
            </a:pPr>
            <a:endParaRPr lang="en-US" sz="2800" b="1" dirty="0"/>
          </a:p>
          <a:p>
            <a:r>
              <a:rPr lang="en-US" sz="2800" dirty="0"/>
              <a:t>Explore the opportunities of ODL for inclusive higher education.</a:t>
            </a:r>
          </a:p>
          <a:p>
            <a:r>
              <a:rPr lang="en-US" sz="2800" dirty="0"/>
              <a:t>Identify the challenges experienced by students and lecturers.</a:t>
            </a:r>
          </a:p>
          <a:p>
            <a:r>
              <a:rPr lang="en-US" sz="2800" dirty="0"/>
              <a:t>Recommend strategies for improving inclusive digital learning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702C9E-4D69-4C9E-9316-72160ECFF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B1FD3-4AEA-41A5-943D-86B4B96C521D}" type="datetime1">
              <a:rPr lang="en-US" smtClean="0"/>
              <a:t>8/3/2026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D6B453-F44D-4C63-B881-05FEAA36D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210D4-8309-FA4E-999D-6938C4C3C70A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669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C6CD2-1D55-4A52-BEBB-28D924D5D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/>
              <a:t>Research Methodology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3CF10C-15DC-448D-8D9D-5F9F51958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B1FD3-4AEA-41A5-943D-86B4B96C521D}" type="datetime1">
              <a:rPr lang="en-US" smtClean="0"/>
              <a:t>8/3/2026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02327F-A2F6-49FB-A208-356FE3F26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210D4-8309-FA4E-999D-6938C4C3C70A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ACF872B2-1CCC-4CBC-8887-163D9C6DAC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6677" y="1295400"/>
            <a:ext cx="10238547" cy="4881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96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5E3F9-2E4D-4FDC-8E33-CB6E6D8E7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519"/>
            <a:ext cx="10515600" cy="846455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Data Collection and Analysis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17F4500-BC76-4344-A263-52BFA513EF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1" y="854309"/>
            <a:ext cx="11181522" cy="538800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70AD4C-4DB8-421B-A249-91387089B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B1FD3-4AEA-41A5-943D-86B4B96C521D}" type="datetime1">
              <a:rPr lang="en-US" smtClean="0"/>
              <a:t>8/3/2026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5B5299-3F28-4E7A-AE36-AB65799D4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210D4-8309-FA4E-999D-6938C4C3C70A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6741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45D66-6AB1-42E2-A382-8CA759F0B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/>
              <a:t>Findings: Opportunities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618B1-9CC4-4192-85DC-A483647D8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 Flexible Learning</a:t>
            </a:r>
          </a:p>
          <a:p>
            <a:r>
              <a:rPr lang="en-US" dirty="0"/>
              <a:t>Time and location flexibility</a:t>
            </a:r>
          </a:p>
          <a:p>
            <a:r>
              <a:rPr lang="en-US" dirty="0"/>
              <a:t>Supports students with personal commitments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2. Enhanced Digital Skills</a:t>
            </a:r>
          </a:p>
          <a:p>
            <a:r>
              <a:rPr lang="en-US" dirty="0"/>
              <a:t>Improved technological competence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3. Greater Access to Learning Resources</a:t>
            </a:r>
          </a:p>
          <a:p>
            <a:r>
              <a:rPr lang="en-US" dirty="0"/>
              <a:t>Wider range of online educational materials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3062B-A4C4-4864-911B-DBC47E783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B1FD3-4AEA-41A5-943D-86B4B96C521D}" type="datetime1">
              <a:rPr lang="en-US" smtClean="0"/>
              <a:t>8/3/2026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BCBD2D-0FD8-4518-909A-4B85ED16F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210D4-8309-FA4E-999D-6938C4C3C70A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915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CA1FB-5E3B-4D03-8C4C-1701C6413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/>
              <a:t>Findings: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2F0FC-7FA1-4595-8B49-F561B15C8F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1. Poor Internet Connectivity</a:t>
            </a:r>
          </a:p>
          <a:p>
            <a:r>
              <a:rPr lang="en-US" dirty="0"/>
              <a:t>Interrupted learning</a:t>
            </a:r>
          </a:p>
          <a:p>
            <a:r>
              <a:rPr lang="en-US" dirty="0"/>
              <a:t>Missed lectures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2. Reduced Learner Engagement</a:t>
            </a:r>
          </a:p>
          <a:p>
            <a:r>
              <a:rPr lang="en-US" dirty="0"/>
              <a:t>Passive participation</a:t>
            </a:r>
          </a:p>
          <a:p>
            <a:r>
              <a:rPr lang="en-US" dirty="0"/>
              <a:t>Difficulty maintaining interaction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3. Limited Institutional Support</a:t>
            </a:r>
          </a:p>
          <a:p>
            <a:r>
              <a:rPr lang="en-US" dirty="0"/>
              <a:t>Technical infrastructure</a:t>
            </a:r>
          </a:p>
          <a:p>
            <a:r>
              <a:rPr lang="en-US" dirty="0"/>
              <a:t>Training and support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0A7B1-439E-4BB9-807B-E8C9C7205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B1FD3-4AEA-41A5-943D-86B4B96C521D}" type="datetime1">
              <a:rPr lang="en-US" smtClean="0"/>
              <a:t>8/3/2026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4BF886-D3B0-4787-9B25-E5B682870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210D4-8309-FA4E-999D-6938C4C3C70A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788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C2C1D-555A-4C53-9DA6-E53C4BB68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8E702-7B82-47C6-8781-04C2745B20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3270"/>
            <a:ext cx="10515600" cy="4533693"/>
          </a:xfrm>
        </p:spPr>
        <p:txBody>
          <a:bodyPr/>
          <a:lstStyle/>
          <a:p>
            <a:pPr algn="just"/>
            <a:r>
              <a:rPr lang="en-US" dirty="0"/>
              <a:t>ODL expands access to higher education through flexibility and increased availability of learning resources.</a:t>
            </a:r>
          </a:p>
          <a:p>
            <a:pPr algn="just"/>
            <a:r>
              <a:rPr lang="en-US" dirty="0"/>
              <a:t>However, digital inequalities such as poor connectivity and limited institutional support continue to hinder inclusive participation.</a:t>
            </a:r>
          </a:p>
          <a:p>
            <a:pPr algn="just"/>
            <a:r>
              <a:rPr lang="en-US" dirty="0"/>
              <a:t>The findings suggest that technology alone cannot ensure inclusive education; meaningful inclusion requires equitable access, digital literacy, and learner-</a:t>
            </a:r>
            <a:r>
              <a:rPr lang="en-US" dirty="0" err="1"/>
              <a:t>centred</a:t>
            </a:r>
            <a:r>
              <a:rPr lang="en-US" dirty="0"/>
              <a:t> teaching.</a:t>
            </a:r>
          </a:p>
          <a:p>
            <a:pPr algn="just"/>
            <a:r>
              <a:rPr lang="en-US" dirty="0"/>
              <a:t>Therefore, strengthening digital infrastructure and institutional support is essential to maximize the inclusive potential of ODL.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95F24C-DCAE-4085-B498-FB0C5C1DD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B1FD3-4AEA-41A5-943D-86B4B96C521D}" type="datetime1">
              <a:rPr lang="en-US" smtClean="0"/>
              <a:t>8/3/2026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0BC80B-D280-4307-8EE8-171EFC444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210D4-8309-FA4E-999D-6938C4C3C70A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454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19D27-0731-4AE6-B32E-30672B62B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87FCA-E0D1-4058-98D3-48DE5EC7BA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Universities</a:t>
            </a:r>
          </a:p>
          <a:p>
            <a:r>
              <a:rPr lang="en-US" dirty="0"/>
              <a:t>Strengthen digital infrastructure</a:t>
            </a:r>
          </a:p>
          <a:p>
            <a:r>
              <a:rPr lang="en-US" dirty="0"/>
              <a:t>Improve Learning Management Systems</a:t>
            </a:r>
          </a:p>
          <a:p>
            <a:r>
              <a:rPr lang="en-US" dirty="0"/>
              <a:t>Provide continuous technical support</a:t>
            </a:r>
          </a:p>
          <a:p>
            <a:pPr marL="0" indent="0">
              <a:buNone/>
            </a:pPr>
            <a:r>
              <a:rPr lang="en-US" b="1" dirty="0"/>
              <a:t>Lecturers</a:t>
            </a:r>
          </a:p>
          <a:p>
            <a:r>
              <a:rPr lang="en-US" dirty="0"/>
              <a:t>Adopt learner-</a:t>
            </a:r>
            <a:r>
              <a:rPr lang="en-US" dirty="0" err="1"/>
              <a:t>centred</a:t>
            </a:r>
            <a:r>
              <a:rPr lang="en-US" dirty="0"/>
              <a:t> teaching</a:t>
            </a:r>
          </a:p>
          <a:p>
            <a:r>
              <a:rPr lang="en-US" dirty="0"/>
              <a:t>Increase interaction</a:t>
            </a:r>
          </a:p>
          <a:p>
            <a:r>
              <a:rPr lang="en-US" dirty="0"/>
              <a:t>Encourage collaborative learning</a:t>
            </a:r>
          </a:p>
          <a:p>
            <a:pPr marL="0" indent="0">
              <a:buNone/>
            </a:pPr>
            <a:r>
              <a:rPr lang="en-US" b="1" dirty="0"/>
              <a:t>Students</a:t>
            </a:r>
          </a:p>
          <a:p>
            <a:r>
              <a:rPr lang="en-US" dirty="0"/>
              <a:t>Improve digital literacy</a:t>
            </a:r>
          </a:p>
          <a:p>
            <a:r>
              <a:rPr lang="en-US" dirty="0"/>
              <a:t>Develop self-directed learning skills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10AED-0212-4182-B1B2-347A8D91E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B1FD3-4AEA-41A5-943D-86B4B96C521D}" type="datetime1">
              <a:rPr lang="en-US" smtClean="0"/>
              <a:t>8/3/2026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840BBF-4071-4713-B37B-B527C7FCB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210D4-8309-FA4E-999D-6938C4C3C70A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162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59851-1DA1-4B41-B4F6-FC222BC4F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F8202-F181-4BE2-B8E4-5C59161B10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Open and Distance Learning (ODL) has significant potential to promote inclusive higher education by improving flexibility, accessibility, and learning opportunities.</a:t>
            </a:r>
          </a:p>
          <a:p>
            <a:pPr algn="just"/>
            <a:r>
              <a:rPr lang="en-US" dirty="0"/>
              <a:t>However, challenges such as digital inequality, limited institutional support, and reduced learner engagement continue to affect meaningful participation.</a:t>
            </a:r>
          </a:p>
          <a:p>
            <a:pPr algn="just"/>
            <a:r>
              <a:rPr lang="en-US" dirty="0"/>
              <a:t>The success of ODL depends on strengthening digital infrastructure, enhancing digital literacy, and adopting learner-</a:t>
            </a:r>
            <a:r>
              <a:rPr lang="en-US" dirty="0" err="1"/>
              <a:t>centred</a:t>
            </a:r>
            <a:r>
              <a:rPr lang="en-US" dirty="0"/>
              <a:t> teaching practices.</a:t>
            </a:r>
          </a:p>
          <a:p>
            <a:pPr algn="just"/>
            <a:r>
              <a:rPr lang="en-US" dirty="0"/>
              <a:t>Ultimately, inclusive higher education requires not only access to technology but also equitable opportunities for all students to participate, engage, and succeed.</a:t>
            </a:r>
          </a:p>
          <a:p>
            <a:pPr marL="0" indent="0" algn="ctr">
              <a:buNone/>
            </a:pPr>
            <a:r>
              <a:rPr lang="en-US" b="1" dirty="0"/>
              <a:t>"Technology can expand access to education, but only equitable access, meaningful participation, and strong institutional support can achieve truly inclusive higher education."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807C3F-455F-439E-9550-BDF41C52C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B1FD3-4AEA-41A5-943D-86B4B96C521D}" type="datetime1">
              <a:rPr lang="en-US" smtClean="0"/>
              <a:t>8/3/2026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7B16B5-8284-49ED-AEAC-DF7A0DD75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210D4-8309-FA4E-999D-6938C4C3C70A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69864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81E57-4904-1121-F3DD-35620126E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3736"/>
            <a:ext cx="10515600" cy="595322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GB" sz="6600" i="1" noProof="0" dirty="0">
                <a:latin typeface="PT Serif" panose="020A0603040505020204" pitchFamily="18" charset="77"/>
              </a:rPr>
              <a:t>Thank you for your attention.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B1A926-1169-9624-491B-7194F47A9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C01DE-ACE6-410C-A367-B03B5EAE8009}" type="datetime1">
              <a:rPr lang="en-US" smtClean="0"/>
              <a:t>8/3/2026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FA65A1-14CD-5290-6306-74B3982D6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210D4-8309-FA4E-999D-6938C4C3C70A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64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4330</TotalTime>
  <Words>543</Words>
  <Application>Microsoft Office PowerPoint</Application>
  <PresentationFormat>Widescreen</PresentationFormat>
  <Paragraphs>102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Batang</vt:lpstr>
      <vt:lpstr>Arial</vt:lpstr>
      <vt:lpstr>Calibri</vt:lpstr>
      <vt:lpstr>Calibri Light</vt:lpstr>
      <vt:lpstr>Helvetica Light</vt:lpstr>
      <vt:lpstr>PT Serif</vt:lpstr>
      <vt:lpstr>Times New Roman</vt:lpstr>
      <vt:lpstr>Office Theme</vt:lpstr>
      <vt:lpstr>Open and Distance Learning as a Tool for Inclusive Higher Education in Sri Lanka: Opportunities and Challenges </vt:lpstr>
      <vt:lpstr>Introduction and Background</vt:lpstr>
      <vt:lpstr>Research Problem &amp; Objectives</vt:lpstr>
      <vt:lpstr>PowerPoint Presentation</vt:lpstr>
      <vt:lpstr>Research Methodology</vt:lpstr>
      <vt:lpstr>Data Collection and Analysis </vt:lpstr>
      <vt:lpstr>Findings: Opportunities</vt:lpstr>
      <vt:lpstr>Findings: Challenges</vt:lpstr>
      <vt:lpstr>Discussion</vt:lpstr>
      <vt:lpstr>Recommendations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Janithapriya Buddhika K. PATHIRAGE DON</dc:creator>
  <cp:lastModifiedBy>Ms.</cp:lastModifiedBy>
  <cp:revision>54</cp:revision>
  <dcterms:created xsi:type="dcterms:W3CDTF">2023-10-19T00:48:35Z</dcterms:created>
  <dcterms:modified xsi:type="dcterms:W3CDTF">2026-08-03T20:15:35Z</dcterms:modified>
</cp:coreProperties>
</file>
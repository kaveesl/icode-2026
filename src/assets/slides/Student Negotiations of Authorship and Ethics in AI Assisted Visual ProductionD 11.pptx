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963D"/>
    <a:srgbClr val="F7C05A"/>
    <a:srgbClr val="BE7C26"/>
    <a:srgbClr val="776612"/>
    <a:srgbClr val="FDDB89"/>
    <a:srgbClr val="FCECAE"/>
    <a:srgbClr val="AA988F"/>
    <a:srgbClr val="BF5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/>
    <p:restoredTop sz="95000" autoAdjust="0"/>
  </p:normalViewPr>
  <p:slideViewPr>
    <p:cSldViewPr snapToGrid="0">
      <p:cViewPr varScale="1">
        <p:scale>
          <a:sx n="120" d="100"/>
          <a:sy n="120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371E-0C1F-DC17-1C1B-0004471A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63C74-B8F7-B046-8B60-F711AEC51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96171-0D67-1ADC-751F-3382ADF9A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3C0E0-F426-C91E-DC38-A3C974AAA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0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69B9-CDF1-4694-2B1F-DC69C1EB3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0C8A1-7489-A026-099A-9E94C7C2B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4841F-385A-2324-33C6-1B1E89C11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0B7D6-BB19-841E-A24F-076BFB585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91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0DDB-1683-46FC-94B1-1285662D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8C92B-58C1-F8F4-8488-985A6167C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40C9F-8994-60EE-54D1-A93357965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517D9-390C-DED4-53B2-EEF8AFECE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465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C2C5-578D-DF72-A464-E4C1F08A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8E1D0-7578-6E0C-8DB8-894245AE7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273A8-9919-B755-661E-2C4C8A058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C226C-63E3-1846-3741-D5F1D0F7F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41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2EB2-26F0-1860-A143-F2EE3CB8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CC15D-468C-233C-D63C-91490624B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115C5-5900-2D52-46A5-F3F4BFE03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7B733-8F9F-03F6-6E1B-BD9482805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0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E532-B28B-A370-9F63-95DDBD39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A08F7-655F-A126-407E-7151848BB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69BB3-DA19-5DEE-D60A-DA1DD4D04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E0E00-8E92-D6D5-6895-BBA1100F4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08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6C84-EEE6-969D-B329-73E21E33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A3667-B787-2265-6486-89CEDFABC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AD03E-02C7-5BEA-72DF-0AFD9AFCE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9B793-789E-5C6B-3107-A88AE4C72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98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E860-CC6E-8300-A644-A95E3082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17A7E-182B-838C-F229-101676E2D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1671A-E89E-B78F-B109-EE61CD7A8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49247-77D0-9519-0BD8-38B46DF4D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41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1922-E040-038E-82CD-E389E2EF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963B5-112B-6A9B-C97B-E809FE734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9FE17-2AD0-7851-D28C-688A38E53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9A867-979D-8808-18CE-9DCA5EB4D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5629" y="4052558"/>
            <a:ext cx="10420768" cy="148869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Student Negotiations of Authorship and Ethics in AI-Assisted Visual Production: A Case Study of Undergraduate Film Education at the Department of Drama, Cinema and Television, University of Kelaniya </a:t>
            </a:r>
            <a:br>
              <a:rPr lang="en-AE" dirty="0"/>
            </a:b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 b="1" dirty="0" err="1"/>
              <a:t>Pabasari</a:t>
            </a:r>
            <a:r>
              <a:rPr lang="en-US" sz="1800" b="1" dirty="0"/>
              <a:t> </a:t>
            </a:r>
            <a:r>
              <a:rPr lang="en-US" sz="1800" b="1" dirty="0" err="1"/>
              <a:t>Paranamana</a:t>
            </a:r>
            <a:endParaRPr lang="en-US" sz="1800" b="1" dirty="0"/>
          </a:p>
          <a:p>
            <a:r>
              <a:rPr lang="en-US" sz="1800" b="1" dirty="0"/>
              <a:t>Paper ID: 11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8/3/26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B991-452F-C889-7B6E-85B16ED3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17FCF1-3D1C-D237-C139-20EAD600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and Context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2AF75A-2259-0A70-E256-61DB800A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Key Points</a:t>
            </a:r>
          </a:p>
          <a:p>
            <a:r>
              <a:rPr lang="en-US" dirty="0"/>
              <a:t>Generative AI is increasingly influencing creative higher education.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Film students use AI for scriptwriting, mood boards, visualization, editing, and post-production.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AI is reshaping creative learning and production practices.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Universities have yet to establish clear ethical and pedagogical guidance for AI use.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i="1" dirty="0"/>
              <a:t>This study explores how undergraduate film students negotiate authorship and ethical responsibility when AI becomes part of creative production.</a:t>
            </a:r>
          </a:p>
          <a:p>
            <a:endParaRPr lang="en-US" sz="2000" b="1" i="1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5F7BD-6D9D-F52D-9F5F-49C7B259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79D0EB-B171-49B8-6E4C-2669A638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0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370B-F806-8EC8-C729-91006A09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FFA451E-9C88-C4B3-FF3A-2921EB8D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Problem and  Gap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6DE07A-AFB8-6711-B0E4-A0A8C92049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87905"/>
              </p:ext>
            </p:extLst>
          </p:nvPr>
        </p:nvGraphicFramePr>
        <p:xfrm>
          <a:off x="838200" y="1295400"/>
          <a:ext cx="10921678" cy="456139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460839">
                  <a:extLst>
                    <a:ext uri="{9D8B030D-6E8A-4147-A177-3AD203B41FA5}">
                      <a16:colId xmlns:a16="http://schemas.microsoft.com/office/drawing/2014/main" val="1271540237"/>
                    </a:ext>
                  </a:extLst>
                </a:gridCol>
                <a:gridCol w="5460839">
                  <a:extLst>
                    <a:ext uri="{9D8B030D-6E8A-4147-A177-3AD203B41FA5}">
                      <a16:colId xmlns:a16="http://schemas.microsoft.com/office/drawing/2014/main" val="2793147917"/>
                    </a:ext>
                  </a:extLst>
                </a:gridCol>
              </a:tblGrid>
              <a:tr h="633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Research Problem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E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936614"/>
                  </a:ext>
                </a:extLst>
              </a:tr>
              <a:tr h="1140348">
                <a:tc>
                  <a:txBody>
                    <a:bodyPr/>
                    <a:lstStyle/>
                    <a:p>
                      <a:r>
                        <a:rPr lang="en-US" sz="2400" dirty="0"/>
                        <a:t>Students are adopting AI faster than institutional policies</a:t>
                      </a:r>
                      <a:endParaRPr lang="en-A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Limited evidence from Sri Lankan higher education.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011197"/>
                  </a:ext>
                </a:extLst>
              </a:tr>
              <a:tr h="1140348">
                <a:tc>
                  <a:txBody>
                    <a:bodyPr/>
                    <a:lstStyle/>
                    <a:p>
                      <a:r>
                        <a:rPr lang="en-US" sz="2400" dirty="0"/>
                        <a:t>Ethical decision making is often left to individual students</a:t>
                      </a:r>
                      <a:endParaRPr lang="en-A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Little research on AI-assisted film education.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10957"/>
                  </a:ext>
                </a:extLst>
              </a:tr>
              <a:tr h="1647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Existing research focuses mainly on Western educational contexts. </a:t>
                      </a:r>
                    </a:p>
                    <a:p>
                      <a:endParaRPr lang="en-A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Students' perspectives remain underexplored. </a:t>
                      </a:r>
                    </a:p>
                    <a:p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89335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F4C25-1993-74B0-0353-78C1D92F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7546D9-E5A9-3068-E0CD-245B5ACF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7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827F-D434-3CEE-8763-3F6588F8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3D97A2-A02B-73D8-F810-586E17A8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8886"/>
            <a:ext cx="10515600" cy="846455"/>
          </a:xfrm>
        </p:spPr>
        <p:txBody>
          <a:bodyPr/>
          <a:lstStyle/>
          <a:p>
            <a:r>
              <a:rPr lang="en-US" b="1" dirty="0"/>
              <a:t>Aim, Objectives and Research Questions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475E-1E52-32A7-18A4-6D03828F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33102-5479-6C93-7497-90D4A245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24F148C-38EE-CA79-2EEB-6F08151C8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179133"/>
              </p:ext>
            </p:extLst>
          </p:nvPr>
        </p:nvGraphicFramePr>
        <p:xfrm>
          <a:off x="838200" y="1295400"/>
          <a:ext cx="10515600" cy="12801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3050459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Research Aim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148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To explore how undergraduate film students negotiate authorship, creativity, and ethical responsibility when using AI assisted visual production tools.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89173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3D946A5-39EC-0171-1820-35370BD22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693157"/>
              </p:ext>
            </p:extLst>
          </p:nvPr>
        </p:nvGraphicFramePr>
        <p:xfrm>
          <a:off x="838199" y="2942006"/>
          <a:ext cx="10515599" cy="298423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3941338767"/>
                    </a:ext>
                  </a:extLst>
                </a:gridCol>
              </a:tblGrid>
              <a:tr h="59684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Research Questions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831464"/>
                  </a:ext>
                </a:extLst>
              </a:tr>
              <a:tr h="5968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How are AI tools used throughout visual production?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0679"/>
                  </a:ext>
                </a:extLst>
              </a:tr>
              <a:tr h="5968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How do students understand authorship and originality?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919588"/>
                  </a:ext>
                </a:extLst>
              </a:tr>
              <a:tr h="5968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What ethical tensions do students experience?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680998"/>
                  </a:ext>
                </a:extLst>
              </a:tr>
              <a:tr h="59684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/>
                        <a:t>How does the institutional environment shape responsible AI use?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35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37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B3F0-ADC8-053A-3A20-25FB23C87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3B9212-0538-9F4C-AEB1-596202F9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4C2217-66F2-84B0-2BE1-A74E6AB06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821885"/>
              </p:ext>
            </p:extLst>
          </p:nvPr>
        </p:nvGraphicFramePr>
        <p:xfrm>
          <a:off x="838200" y="1295400"/>
          <a:ext cx="10515600" cy="914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961014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1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Planned qualitative case study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29253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D629C-498C-ACAB-69A1-19236A00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89A29-EAD5-1FAA-A6B0-3BC391E2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DE6554-D7F5-C5D3-AFD8-8E5B078F8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78963"/>
              </p:ext>
            </p:extLst>
          </p:nvPr>
        </p:nvGraphicFramePr>
        <p:xfrm>
          <a:off x="838199" y="2513742"/>
          <a:ext cx="10487025" cy="914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487025">
                  <a:extLst>
                    <a:ext uri="{9D8B030D-6E8A-4147-A177-3AD203B41FA5}">
                      <a16:colId xmlns:a16="http://schemas.microsoft.com/office/drawing/2014/main" val="69022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Study Site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26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Department of Drama, Cinema and Television, University of Kelaniya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215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E3C838-88C9-CA52-F976-3B8E04C6E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290558"/>
              </p:ext>
            </p:extLst>
          </p:nvPr>
        </p:nvGraphicFramePr>
        <p:xfrm>
          <a:off x="838198" y="3732084"/>
          <a:ext cx="10487025" cy="17424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487025">
                  <a:extLst>
                    <a:ext uri="{9D8B030D-6E8A-4147-A177-3AD203B41FA5}">
                      <a16:colId xmlns:a16="http://schemas.microsoft.com/office/drawing/2014/main" val="102911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Participants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35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20–25 second- and third-year undergraduate students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2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Purposive sampling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249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537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45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42A3-B152-4B59-F3DD-88692B92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16144E-5A24-F2FB-50F9-FF7CCC87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09"/>
            <a:ext cx="10515600" cy="846455"/>
          </a:xfrm>
        </p:spPr>
        <p:txBody>
          <a:bodyPr/>
          <a:lstStyle/>
          <a:p>
            <a:r>
              <a:rPr lang="en-US" b="1" dirty="0"/>
              <a:t>Data Collection and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96E99-0E5F-2482-E7B8-42A3A6DD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BD1E6-8216-C49E-EE0B-EABFD648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FD25AA5-DA79-54E0-2A72-BF257F6C9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872618"/>
              </p:ext>
            </p:extLst>
          </p:nvPr>
        </p:nvGraphicFramePr>
        <p:xfrm>
          <a:off x="838200" y="1295400"/>
          <a:ext cx="3525456" cy="2194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525456">
                  <a:extLst>
                    <a:ext uri="{9D8B030D-6E8A-4147-A177-3AD203B41FA5}">
                      <a16:colId xmlns:a16="http://schemas.microsoft.com/office/drawing/2014/main" val="1687781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 Collection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378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Semi-structured interviews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123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Focus group discussions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7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Document analysis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628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E1394B-276C-4309-EF2B-314A2B097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503324"/>
              </p:ext>
            </p:extLst>
          </p:nvPr>
        </p:nvGraphicFramePr>
        <p:xfrm>
          <a:off x="7289800" y="1238024"/>
          <a:ext cx="4064000" cy="21945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14032275"/>
                    </a:ext>
                  </a:extLst>
                </a:gridCol>
              </a:tblGrid>
              <a:tr h="434475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 Analysis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844193"/>
                  </a:ext>
                </a:extLst>
              </a:tr>
              <a:tr h="43447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Thematic Analysis (Braun &amp; Clarke, 2006)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416699"/>
                  </a:ext>
                </a:extLst>
              </a:tr>
              <a:tr h="43447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Inductive coding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752330"/>
                  </a:ext>
                </a:extLst>
              </a:tr>
              <a:tr h="43447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Theme development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0451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79415A-6CF1-CA25-8485-C231D87A2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015947"/>
              </p:ext>
            </p:extLst>
          </p:nvPr>
        </p:nvGraphicFramePr>
        <p:xfrm>
          <a:off x="3759521" y="3808617"/>
          <a:ext cx="4064000" cy="22860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60350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Ethical Considerations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75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Ethical approval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524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Informed consent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7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Confidentiality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40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Voluntary participation 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959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72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D689-91C4-B233-360A-51F41316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9D1E9E-005E-A2AA-535C-49CE3507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Expected Outcomes </a:t>
            </a:r>
            <a:r>
              <a:rPr lang="en-US" sz="1800" b="1" dirty="0"/>
              <a:t>(Planned Study – No empirical findings yet)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545636-0527-9A7C-0FA5-50A25EB8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study anticipates that students may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AI throughout multiple stages of filmmaking.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Develop personal ethical boundaries.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Experience uncertainty regarding acceptable AI use.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Distinguish between AI as a creative support tool and AI as a replacement for creative decision-making. 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D6A90-388F-7B0F-D588-E836A8B3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FAC5C-5C90-DF90-D52F-09135D0D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0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FABF-CCA6-1D8B-6EB1-61B79BCC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C9301C-F2B3-3B39-A145-189AD33F5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Anticipated Findings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458E0D-8CD3-296E-4276-D833F339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AI-supported creativity </a:t>
            </a:r>
          </a:p>
          <a:p>
            <a:pPr>
              <a:lnSpc>
                <a:spcPct val="150000"/>
              </a:lnSpc>
            </a:pPr>
            <a:r>
              <a:rPr lang="en-US" dirty="0"/>
              <a:t>Ethical ambiguity </a:t>
            </a:r>
          </a:p>
          <a:p>
            <a:pPr>
              <a:lnSpc>
                <a:spcPct val="150000"/>
              </a:lnSpc>
            </a:pPr>
            <a:r>
              <a:rPr lang="en-US" dirty="0"/>
              <a:t>Negotiating authorship </a:t>
            </a:r>
          </a:p>
          <a:p>
            <a:pPr>
              <a:lnSpc>
                <a:spcPct val="150000"/>
              </a:lnSpc>
            </a:pPr>
            <a:r>
              <a:rPr lang="en-US" dirty="0"/>
              <a:t>Originality and ownership </a:t>
            </a:r>
          </a:p>
          <a:p>
            <a:pPr>
              <a:lnSpc>
                <a:spcPct val="150000"/>
              </a:lnSpc>
            </a:pPr>
            <a:r>
              <a:rPr lang="en-US" dirty="0"/>
              <a:t>Institutional preparedness </a:t>
            </a:r>
          </a:p>
          <a:p>
            <a:pPr>
              <a:lnSpc>
                <a:spcPct val="150000"/>
              </a:lnSpc>
            </a:pPr>
            <a:r>
              <a:rPr lang="en-US" dirty="0"/>
              <a:t>Curriculum and assessment gaps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324DE-F249-83E3-30F8-AD79D645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A18E3-1423-A923-B18A-9F5B4BB9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9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2219-1A9A-2A02-6A67-9A14AFF1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6B8AF9-63C1-7314-2355-78D00C12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FD00AA-57AB-25B4-4AFA-368B5AA16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00909"/>
              </p:ext>
            </p:extLst>
          </p:nvPr>
        </p:nvGraphicFramePr>
        <p:xfrm>
          <a:off x="838200" y="1295400"/>
          <a:ext cx="10515600" cy="4754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549410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Theoretical</a:t>
                      </a:r>
                      <a:endParaRPr lang="en-AE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70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Extends authorship theory to AI-assisted creative practice.</a:t>
                      </a:r>
                    </a:p>
                    <a:p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7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Educational</a:t>
                      </a:r>
                      <a:endParaRPr lang="en-AE" sz="2400" b="1" dirty="0"/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024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Supports AI literacy and ethical reasoning in creative education.</a:t>
                      </a:r>
                    </a:p>
                    <a:p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526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Institutional</a:t>
                      </a:r>
                      <a:endParaRPr lang="en-AE" sz="2400" b="1" dirty="0"/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Highlights the need for curriculum redesign and clearer AI guidance.</a:t>
                      </a:r>
                    </a:p>
                    <a:p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52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Cultural</a:t>
                      </a:r>
                      <a:endParaRPr lang="en-AE" sz="2400" b="1" dirty="0"/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09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Provides a non-Western perspective on AI-assisted learning.</a:t>
                      </a:r>
                      <a:endParaRPr lang="en-A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14480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B83F0-153A-DA7D-403C-BCD75B31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F62C9E-75BC-6493-0ABE-F38F1266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8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7180-85DD-60D6-5CC7-BE1A674A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54C9FD-B14D-E075-95D6-D8C065C1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AB5621-0762-F2A8-03A7-6BF9233CF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025690"/>
              </p:ext>
            </p:extLst>
          </p:nvPr>
        </p:nvGraphicFramePr>
        <p:xfrm>
          <a:off x="838200" y="1295400"/>
          <a:ext cx="10515600" cy="26517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953584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Key Takeaways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94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AI is reshaping creative learning environments.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58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Students require institutional support to navigate ethical AI use.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31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Responsible AI integration should become part of film education.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37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This study contributes a Sri Lankan perspective to global discussions on AI in higher education.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73334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31484-AB7E-5A68-6C2A-2E4B198A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C9115-2663-3FBF-E92A-C9450BBE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7DED05-83B7-32E6-16FF-10A9F4DC2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91176"/>
              </p:ext>
            </p:extLst>
          </p:nvPr>
        </p:nvGraphicFramePr>
        <p:xfrm>
          <a:off x="838199" y="4236085"/>
          <a:ext cx="10515599" cy="18288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2003204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Future Directions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9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3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Obtain ethical clearance.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1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Conduct fieldwork in late 2026.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859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Expand research to other creative disciplines.</a:t>
                      </a:r>
                      <a:endParaRPr lang="en-A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29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1E57-4904-1121-F3DD-35620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36"/>
            <a:ext cx="10515600" cy="5953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 for your attention.</a:t>
            </a:r>
          </a:p>
          <a:p>
            <a:pPr marL="0" indent="0" algn="ctr">
              <a:buNone/>
            </a:pPr>
            <a:endParaRPr lang="en-GB" sz="6600" i="1" noProof="0" dirty="0">
              <a:latin typeface="PT Serif" panose="020A0603040505020204" pitchFamily="18" charset="77"/>
            </a:endParaRPr>
          </a:p>
          <a:p>
            <a:pPr marL="0" indent="0" algn="ctr">
              <a:buNone/>
            </a:pPr>
            <a:r>
              <a:rPr lang="en-US" sz="3200" dirty="0"/>
              <a:t>"</a:t>
            </a:r>
            <a:r>
              <a:rPr lang="en-US" sz="3200" b="1" i="1" dirty="0"/>
              <a:t>The future of creative education depends not only on adopting AI, but on teaching students to use it ethically, critically, and creatively</a:t>
            </a:r>
            <a:r>
              <a:rPr lang="en-US" sz="3200" dirty="0"/>
              <a:t>."</a:t>
            </a:r>
            <a:endParaRPr lang="en-GB" sz="3200" i="1" noProof="0" dirty="0">
              <a:latin typeface="PT Serif" panose="020A0603040505020204" pitchFamily="18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8/3/26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4442</TotalTime>
  <Words>542</Words>
  <Application>Microsoft Macintosh PowerPoint</Application>
  <PresentationFormat>Widescreen</PresentationFormat>
  <Paragraphs>123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Batang</vt:lpstr>
      <vt:lpstr>Arial</vt:lpstr>
      <vt:lpstr>Calibri</vt:lpstr>
      <vt:lpstr>Calibri Light</vt:lpstr>
      <vt:lpstr>Helvetica Light</vt:lpstr>
      <vt:lpstr>PT Serif</vt:lpstr>
      <vt:lpstr>Office Theme</vt:lpstr>
      <vt:lpstr>Student Negotiations of Authorship and Ethics in AI-Assisted Visual Production: A Case Study of Undergraduate Film Education at the Department of Drama, Cinema and Television, University of Kelaniya  </vt:lpstr>
      <vt:lpstr>Background and Context</vt:lpstr>
      <vt:lpstr>Research Problem and  Gap </vt:lpstr>
      <vt:lpstr>Aim, Objectives and Research Questions</vt:lpstr>
      <vt:lpstr>Methodology </vt:lpstr>
      <vt:lpstr>Data Collection and Analysis</vt:lpstr>
      <vt:lpstr>Expected Outcomes (Planned Study – No empirical findings yet)</vt:lpstr>
      <vt:lpstr>Anticipated Findings </vt:lpstr>
      <vt:lpstr>Discussion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Hasaruwan</cp:lastModifiedBy>
  <cp:revision>57</cp:revision>
  <dcterms:created xsi:type="dcterms:W3CDTF">2023-10-19T00:48:35Z</dcterms:created>
  <dcterms:modified xsi:type="dcterms:W3CDTF">2026-08-03T09:28:54Z</dcterms:modified>
</cp:coreProperties>
</file>
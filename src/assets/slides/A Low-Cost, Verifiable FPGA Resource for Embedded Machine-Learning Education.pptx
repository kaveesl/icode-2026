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963D"/>
    <a:srgbClr val="776612"/>
    <a:srgbClr val="FDDB89"/>
    <a:srgbClr val="FCECAE"/>
    <a:srgbClr val="AA988F"/>
    <a:srgbClr val="BE7C26"/>
    <a:srgbClr val="F7C05A"/>
    <a:srgbClr val="BF5A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2"/>
    <p:restoredTop sz="94976" autoAdjust="0"/>
  </p:normalViewPr>
  <p:slideViewPr>
    <p:cSldViewPr snapToGrid="0">
      <p:cViewPr varScale="1">
        <p:scale>
          <a:sx n="105" d="100"/>
          <a:sy n="105" d="100"/>
        </p:scale>
        <p:origin x="98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0D744-E84F-6343-A86E-B978A19DD840}" type="datetimeFigureOut">
              <a:rPr lang="en-US" smtClean="0"/>
              <a:t>8/3/2026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8C1E9-10D7-BC49-9440-411BDAEE25AF}"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 Greeting and the single message. Good morning. My name is Wimalachandra, from the University of Ruhuna. My own background is FPGA design and embedded systems, not education research, so I'll speak as an engineer addressing educators, and I'll explain the hardware ideas in plain terms. The one sentence I want you to leave with: this work is not about building a better FPGA — it is an educational resource that lets distance learners carry out authentic embedded machine-learning experiments on hardware they own, and verify their own results. Pause, then advance.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[~75 s] Lead with the competence, not the technology. Industry now expects an engineering graduate to take a trained model and run it on a real chip. That means holding three things in your head at once: how the model was trained, how numbers behave once you leave floating point, and how digital logic actually executes it. Emphasise: this is learned by doing. Now the problem for this audience — distance learners often never get sustained lab access. So the skill industry wants most is exactly the one hardest to deliver at a distance. Slow down on that sentence; it is the motivation for everything that follows. Transition: so what do we currently give distance learners, and why is it not enough?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[~80 s] Be fair to what exists before positioning your own work — reviewers and educators both respect that. Remote and virtual labs are a genuine advance, and the literature says they can match hands-on labs on many outcomes. But two limits remain. First, they are owned by the institution and shared through a booking system, so a learner cannot tinker freely late at night — and that exploratory tinkering is where deep understanding forms. Second, simulation removes the single most formative moment in hardware work: watching your design run on a physical chip. Now walk the table left to right, then rest on the final row: this resource is the only one that is at once low-cost, student-owned, on real silicon, and self-verifying. Point at the gold row. Transition: let me show you what that resource actually is.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[~65 s] Three design principles, taken straight from the paper. One — affordability and ownership: about 130 US dollars, standard free tools, and crucially the student owns it. No booking, no queue. Two — full-stack transparency: one project spans three subjects we normally teach separately: the machine learning, the numerical methods of going to fixed point, and the digital design of turning that into hardware. Three, the heart — verifiability: the board can prove to the student that it behaves exactly like the software reference. Keep this at the level of 'a small, affordable computer you build that runs your model'; do not go into FPGA internals here. Transition: here is the pipeline that ties those three stages together.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 s] Walk the flow, do not read the boxes. Top row is software: we train a small denoiser in PyTorch, then quantise it — convert it from floating point to fixed-point integers, because that is what cheap hardware runs. From that fixed-point description we do two things. Going right, we build a software 'golden model' that computes the exact integer answer. Going down, the same specification becomes hardware: we write it in Verilog, synthesise it, and run it on the FPGA. Then the two paths meet at the box on the right — the on-device self-test — which checks the hardware output against the golden model, bit for bit. If they match, the hardware is verified and we run the live demo. The key word is 'same specification driving both paths' — that is what makes an exact comparison meaningful. Transition: that comparison is the real contribution, so let me slow down on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s] This is the slide to expect questions on, so take your time. Technically: because the design is fixed-point, it is fully deterministic — for a given input there is one exact integer answer. So we can compute that answer in software (the golden model) and compare it against what the chip produces, bit for bit, with no tolerance. Educationally: a match is positive proof the student's hardware is faithful to the model — they are not taking the lecturer's word for it. A mismatch is even more useful: it localises the error to one of three concepts — numerical precision, timing, or interface — which is exactly the diagnostic a supervisor would give in person, delivered automatically on the student's own desk. Why better than simulation: simulation shows the model working in software; it never proves the physical chip is right. Here the proof is on real silicon. And this is why verification becomes a learning outcome, not just a QA step — the act of making the check pass is the learning. Be precise if asked: this proves the hardware faithfully matches the model; it does not claim the model itself is optimal. Transition: so why choose embedded machine learning as the thing to verify?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[~75 s] Explain why this application, in plain terms. Embedded machine learning is the integrative skill: a single task forces the student to connect training, number representation, and digital logic — the very things distance study tends to teach in separate boxes. It is also genuinely hard to teach remotely, because it depends on real hardware behaviour and timing that a simulator does not reproduce. Why an FPGA and not a microcontroller: the popular TinyML route runs models on microcontrollers but hides the register-transfer level — the actual mapping of maths to logic — which is exactly what co-design students need to see; an FPGA exposes it. Finally, the specific model — a fifteen-stage LISTA denoiser — was chosen not because it is the most powerful, but because it is compact and maps cleanly and readably to hardware. And denoising is a task where improvement is directly visible. Transition: here it is, running.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[~75 s] Keep the numbers honest and brief. The same board, through one interface, handles two very different signals: a colour image and an ECG trace. On the screen the student sees the noisy input beside the cleaned output, live. For a sense of scale, one representative run lifts image PSNR from about 20.9 to 25.7 decibels (roughly five up) and SSIM from 0.36 to 0.70 — a clearly visible improvement. Say this plainly: this is one illustrative run to show the pipeline end to end, not a benchmarked evaluation against other methods. What matters educationally is that everything — seeds, code, tools — is fixed and shared, so a learner at home reproduces the same result and then verifies it on their own board. If pressed on the numbers, concede they are demonstrative and point to the reproducibility. Transition: so what does this give education, and what is actually new?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[~75 s] Two things here: how it teaches, and what is genuinely new. On teaching: the artifact is staged so a lone learner is never stuck. Every stage comes with a working reference, and the self-test holds the rest fixed while the student rewrites just one stage; when a check fails, it names the stage that broke. That same mechanism becomes assessment — a four-milestone rubric from reproducing the build, to replacing the golden model, to diagnosing a planted precision fault, to extending the network. On novelty, be honest and precise. The educational novelty is the real one: reframing an equivalence check as a learning outcome and an assessment tool. The engineering and practical contributions are integrative — a complete open pipeline on cheap owned hardware, reproducible and scalable to a shared board. Say the quiet part out loud: there is no new algorithm here; the contribution is the combination and the reframing. Reviewers accept that when it is stated plainly. Transition: now the limits.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 State the limits before anyone else does; it builds credibility. This is a feasibility and design study — I am showing that the resource works and is reproducible, not yet that it improves learning; there is no controlled outcome data. It still needs a host PC beside the board, so 'ownership' is not zero-infrastructure. And the model is deliberately small. What is next follows directly: a controlled study across two cohorts, one owning boards and one booking a shared instance; a hosted remote-lab version over the network — which needs no new hardware because the host already streams frames; and a larger model through the very same verified flow. Frame limitations as the roadmap, not as apology. Transition: to close.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 Land the one message, slowly, making eye contact — do not rush the finish. If you remember one thing from this talk: this is not a better FPGA. It is an educational resource that puts authentic, verifiable embedded machine-learning experiments within reach of distance learners, on hardware they own. Affordable and owned; full-stack in a single project; and verified bit-for-bit by the student. Pause. Thank the audience and move to questions.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s + Q&amp;A] Thank you. I'm happy to take questions. Repeat each question back so the whole room hears it, and if a question runs long, offer to continue afterwards. Expect questions on: what 'bit-exact' really proves, whether this counts as formal verification, cost including the host PC, and how you would evaluate learning gains. Answers are in the coaching document.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5873610"/>
            <a:ext cx="12192000" cy="984390"/>
          </a:xfrm>
          <a:prstGeom prst="rect">
            <a:avLst/>
          </a:prstGeom>
          <a:solidFill>
            <a:srgbClr val="BE7C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933032" y="3601484"/>
            <a:ext cx="10420768" cy="1488697"/>
          </a:xfrm>
        </p:spPr>
        <p:txBody>
          <a:bodyPr anchor="b"/>
          <a:lstStyle>
            <a:lvl1pPr algn="l">
              <a:defRPr sz="2800" b="0" i="0">
                <a:latin typeface="Helvetica Light" panose="020B0403020202020204" pitchFamily="34" charset="0"/>
              </a:defRPr>
            </a:lvl1pPr>
          </a:lstStyle>
          <a:p>
            <a:r>
              <a:rPr lang="en-GB" dirty="0"/>
              <a:t>Title</a:t>
            </a:r>
            <a:endParaRPr lang="en-US" dirty="0"/>
          </a:p>
        </p:txBody>
      </p:sp>
      <p:sp>
        <p:nvSpPr>
          <p:cNvPr id="3" name="Subtitle 2"/>
          <p:cNvSpPr>
            <a:spLocks noGrp="1"/>
          </p:cNvSpPr>
          <p:nvPr>
            <p:ph type="subTitle" idx="1" hasCustomPrompt="1"/>
          </p:nvPr>
        </p:nvSpPr>
        <p:spPr>
          <a:xfrm>
            <a:off x="933032" y="5195330"/>
            <a:ext cx="10420768" cy="478472"/>
          </a:xfrm>
        </p:spPr>
        <p:txBody>
          <a:bodyPr anchor="t">
            <a:normAutofit/>
          </a:bodyPr>
          <a:lstStyle>
            <a:lvl1pPr marL="0" indent="0" algn="l">
              <a:buNone/>
              <a:defRPr sz="1600" b="0" i="0">
                <a:latin typeface="Helvetica Light" panose="020B04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Subtitle</a:t>
            </a:r>
            <a:endParaRPr lang="en-US" dirty="0"/>
          </a:p>
        </p:txBody>
      </p:sp>
      <p:sp>
        <p:nvSpPr>
          <p:cNvPr id="4" name="Date Placeholder 3"/>
          <p:cNvSpPr>
            <a:spLocks noGrp="1"/>
          </p:cNvSpPr>
          <p:nvPr>
            <p:ph type="dt" sz="half" idx="10"/>
          </p:nvPr>
        </p:nvSpPr>
        <p:spPr>
          <a:xfrm>
            <a:off x="2551602" y="6470650"/>
            <a:ext cx="885024" cy="365125"/>
          </a:xfrm>
        </p:spPr>
        <p:txBody>
          <a:bodyPr/>
          <a:lstStyle/>
          <a:p>
            <a:fld id="{2CA05847-19ED-4347-AEF2-B952E6249A27}" type="datetime1">
              <a:rPr lang="en-US" smtClean="0"/>
              <a:t>8/3/2026</a:t>
            </a:fld>
            <a:endParaRPr lang="en-US" dirty="0"/>
          </a:p>
        </p:txBody>
      </p:sp>
      <p:sp>
        <p:nvSpPr>
          <p:cNvPr id="5" name="Footer Placeholder 4"/>
          <p:cNvSpPr>
            <a:spLocks noGrp="1"/>
          </p:cNvSpPr>
          <p:nvPr>
            <p:ph type="ftr" sz="quarter" idx="11"/>
          </p:nvPr>
        </p:nvSpPr>
        <p:spPr/>
        <p:txBody>
          <a:bodyPr/>
          <a:lstStyle/>
          <a:p>
            <a:endParaRPr lang="en-US" dirty="0"/>
          </a:p>
        </p:txBody>
      </p:sp>
      <p:pic>
        <p:nvPicPr>
          <p:cNvPr id="9" name="Picture 8" descr="A logo of university of moratuna&#10;&#10;Description automatically generated"/>
          <p:cNvPicPr>
            <a:picLocks noChangeAspect="1"/>
          </p:cNvPicPr>
          <p:nvPr userDrawn="1"/>
        </p:nvPicPr>
        <p:blipFill>
          <a:blip r:embed="rId2"/>
          <a:stretch>
            <a:fillRect/>
          </a:stretch>
        </p:blipFill>
        <p:spPr>
          <a:xfrm>
            <a:off x="-1" y="5810152"/>
            <a:ext cx="993179" cy="1047849"/>
          </a:xfrm>
          <a:prstGeom prst="rect">
            <a:avLst/>
          </a:prstGeom>
        </p:spPr>
      </p:pic>
      <p:sp>
        <p:nvSpPr>
          <p:cNvPr id="10" name="TextBox 9"/>
          <p:cNvSpPr txBox="1"/>
          <p:nvPr userDrawn="1"/>
        </p:nvSpPr>
        <p:spPr>
          <a:xfrm>
            <a:off x="5062822" y="6078801"/>
            <a:ext cx="3499149" cy="523220"/>
          </a:xfrm>
          <a:prstGeom prst="rect">
            <a:avLst/>
          </a:prstGeom>
          <a:noFill/>
        </p:spPr>
        <p:txBody>
          <a:bodyPr wrap="square" rtlCol="0">
            <a:spAutoFit/>
          </a:bodyPr>
          <a:lstStyle/>
          <a:p>
            <a:pPr algn="ctr"/>
            <a:r>
              <a:rPr lang="en-US" sz="1600" b="1" dirty="0">
                <a:solidFill>
                  <a:schemeClr val="bg1"/>
                </a:solidFill>
                <a:latin typeface="Batang" panose="02030600000101010101" pitchFamily="18" charset="-127"/>
                <a:ea typeface="Batang" panose="02030600000101010101" pitchFamily="18" charset="-127"/>
              </a:rPr>
              <a:t>UNIVERSITY OF </a:t>
            </a:r>
            <a:r>
              <a:rPr lang="en-US" sz="1600" b="1" dirty="0">
                <a:solidFill>
                  <a:schemeClr val="bg1"/>
                </a:solidFill>
                <a:latin typeface="Batang" panose="02030600000101010101" pitchFamily="18" charset="-127"/>
                <a:ea typeface="Batang" panose="02030600000101010101" pitchFamily="18" charset="-127"/>
                <a:cs typeface="Bangla Sangam MN" panose="02000000000000000000" pitchFamily="2" charset="0"/>
              </a:rPr>
              <a:t>MORATUWA</a:t>
            </a:r>
            <a:br>
              <a:rPr lang="en-US" sz="1600" b="1" dirty="0">
                <a:solidFill>
                  <a:schemeClr val="bg1"/>
                </a:solidFill>
                <a:latin typeface="Batang" panose="02030600000101010101" pitchFamily="18" charset="-127"/>
                <a:ea typeface="Batang" panose="02030600000101010101" pitchFamily="18" charset="-127"/>
              </a:rPr>
            </a:br>
            <a:r>
              <a:rPr lang="en-US" sz="1200" b="1" dirty="0">
                <a:solidFill>
                  <a:schemeClr val="bg1"/>
                </a:solidFill>
                <a:latin typeface="Batang" panose="02030600000101010101" pitchFamily="18" charset="-127"/>
                <a:ea typeface="Batang" panose="02030600000101010101" pitchFamily="18" charset="-127"/>
              </a:rPr>
              <a:t>Centre for Open and Distance Learning</a:t>
            </a:r>
            <a:endParaRPr lang="en-US" sz="1600" b="1" dirty="0">
              <a:solidFill>
                <a:schemeClr val="bg1"/>
              </a:solidFill>
              <a:latin typeface="Batang" panose="02030600000101010101" pitchFamily="18" charset="-127"/>
              <a:ea typeface="Batang" panose="02030600000101010101" pitchFamily="18" charset="-127"/>
            </a:endParaRPr>
          </a:p>
        </p:txBody>
      </p:sp>
      <p:pic>
        <p:nvPicPr>
          <p:cNvPr id="11" name="Picture 10"/>
          <p:cNvPicPr>
            <a:picLocks noChangeAspect="1"/>
          </p:cNvPicPr>
          <p:nvPr userDrawn="1"/>
        </p:nvPicPr>
        <p:blipFill>
          <a:blip r:embed="rId3"/>
          <a:srcRect t="22189" b="28622"/>
          <a:stretch>
            <a:fillRect/>
          </a:stretch>
        </p:blipFill>
        <p:spPr>
          <a:xfrm>
            <a:off x="0" y="0"/>
            <a:ext cx="12192000" cy="3174522"/>
          </a:xfrm>
          <a:prstGeom prst="rect">
            <a:avLst/>
          </a:prstGeom>
        </p:spPr>
      </p:pic>
      <p:pic>
        <p:nvPicPr>
          <p:cNvPr id="14" name="Picture 13"/>
          <p:cNvPicPr>
            <a:picLocks noChangeAspect="1"/>
          </p:cNvPicPr>
          <p:nvPr userDrawn="1"/>
        </p:nvPicPr>
        <p:blipFill>
          <a:blip r:embed="rId4"/>
          <a:stretch>
            <a:fillRect/>
          </a:stretch>
        </p:blipFill>
        <p:spPr>
          <a:xfrm>
            <a:off x="10798490" y="6097902"/>
            <a:ext cx="555310" cy="555310"/>
          </a:xfrm>
          <a:prstGeom prst="rect">
            <a:avLst/>
          </a:prstGeom>
        </p:spPr>
      </p:pic>
      <p:pic>
        <p:nvPicPr>
          <p:cNvPr id="18" name="Picture 17"/>
          <p:cNvPicPr>
            <a:picLocks noChangeAspect="1"/>
          </p:cNvPicPr>
          <p:nvPr userDrawn="1"/>
        </p:nvPicPr>
        <p:blipFill>
          <a:blip r:embed="rId5"/>
          <a:stretch>
            <a:fillRect/>
          </a:stretch>
        </p:blipFill>
        <p:spPr>
          <a:xfrm>
            <a:off x="11492998" y="6089239"/>
            <a:ext cx="547928" cy="547928"/>
          </a:xfrm>
          <a:prstGeom prst="rect">
            <a:avLst/>
          </a:prstGeom>
        </p:spPr>
      </p:pic>
      <p:pic>
        <p:nvPicPr>
          <p:cNvPr id="20" name="Picture 19"/>
          <p:cNvPicPr>
            <a:picLocks noChangeAspect="1"/>
          </p:cNvPicPr>
          <p:nvPr userDrawn="1"/>
        </p:nvPicPr>
        <p:blipFill>
          <a:blip r:embed="rId6"/>
          <a:stretch>
            <a:fillRect/>
          </a:stretch>
        </p:blipFill>
        <p:spPr>
          <a:xfrm>
            <a:off x="1132376" y="6146958"/>
            <a:ext cx="3949700" cy="4572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ectangle 7"/>
          <p:cNvSpPr/>
          <p:nvPr userDrawn="1"/>
        </p:nvSpPr>
        <p:spPr>
          <a:xfrm>
            <a:off x="0" y="6386513"/>
            <a:ext cx="12247233" cy="471487"/>
          </a:xfrm>
          <a:prstGeom prst="rect">
            <a:avLst/>
          </a:prstGeom>
          <a:solidFill>
            <a:srgbClr val="D896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p:cNvPicPr>
            <a:picLocks noChangeAspect="1"/>
          </p:cNvPicPr>
          <p:nvPr userDrawn="1"/>
        </p:nvPicPr>
        <p:blipFill>
          <a:blip r:embed="rId2"/>
          <a:stretch>
            <a:fillRect/>
          </a:stretch>
        </p:blipFill>
        <p:spPr>
          <a:xfrm>
            <a:off x="1161773" y="6467507"/>
            <a:ext cx="333792" cy="333792"/>
          </a:xfrm>
          <a:prstGeom prst="rect">
            <a:avLst/>
          </a:prstGeom>
        </p:spPr>
      </p:pic>
      <p:pic>
        <p:nvPicPr>
          <p:cNvPr id="13" name="Picture 12"/>
          <p:cNvPicPr>
            <a:picLocks noChangeAspect="1"/>
          </p:cNvPicPr>
          <p:nvPr userDrawn="1"/>
        </p:nvPicPr>
        <p:blipFill>
          <a:blip r:embed="rId3"/>
          <a:stretch>
            <a:fillRect/>
          </a:stretch>
        </p:blipFill>
        <p:spPr>
          <a:xfrm>
            <a:off x="1542337" y="6478912"/>
            <a:ext cx="329714" cy="329714"/>
          </a:xfrm>
          <a:prstGeom prst="rect">
            <a:avLst/>
          </a:prstGeom>
        </p:spPr>
      </p:pic>
      <p:pic>
        <p:nvPicPr>
          <p:cNvPr id="16" name="Picture 15"/>
          <p:cNvPicPr>
            <a:picLocks noChangeAspect="1"/>
          </p:cNvPicPr>
          <p:nvPr userDrawn="1"/>
        </p:nvPicPr>
        <p:blipFill>
          <a:blip r:embed="rId4"/>
          <a:stretch>
            <a:fillRect/>
          </a:stretch>
        </p:blipFill>
        <p:spPr>
          <a:xfrm>
            <a:off x="791428" y="6464962"/>
            <a:ext cx="337679" cy="337679"/>
          </a:xfrm>
          <a:prstGeom prst="rect">
            <a:avLst/>
          </a:prstGeom>
        </p:spPr>
      </p:pic>
      <p:pic>
        <p:nvPicPr>
          <p:cNvPr id="21" name="Picture 20"/>
          <p:cNvPicPr>
            <a:picLocks noChangeAspect="1"/>
          </p:cNvPicPr>
          <p:nvPr userDrawn="1"/>
        </p:nvPicPr>
        <p:blipFill>
          <a:blip r:embed="rId5"/>
          <a:stretch>
            <a:fillRect/>
          </a:stretch>
        </p:blipFill>
        <p:spPr>
          <a:xfrm>
            <a:off x="1952765" y="6467688"/>
            <a:ext cx="2848362" cy="329714"/>
          </a:xfrm>
          <a:prstGeom prst="rect">
            <a:avLst/>
          </a:prstGeom>
        </p:spPr>
      </p:pic>
      <p:sp>
        <p:nvSpPr>
          <p:cNvPr id="2" name="Title 1"/>
          <p:cNvSpPr>
            <a:spLocks noGrp="1"/>
          </p:cNvSpPr>
          <p:nvPr>
            <p:ph type="title"/>
          </p:nvPr>
        </p:nvSpPr>
        <p:spPr>
          <a:xfrm>
            <a:off x="838200" y="365125"/>
            <a:ext cx="10515600" cy="846455"/>
          </a:xfrm>
        </p:spPr>
        <p:txBody>
          <a:bodyPr>
            <a:normAutofit/>
          </a:bodyPr>
          <a:lstStyle>
            <a:lvl1pPr>
              <a:defRPr sz="3200" b="0" i="0">
                <a:latin typeface="Helvetica Light" panose="020B0403020202020204" pitchFamily="34" charset="0"/>
              </a:defRPr>
            </a:lvl1pPr>
          </a:lstStyle>
          <a:p>
            <a:r>
              <a:rPr lang="en-GB" dirty="0"/>
              <a:t>Click to edit Master title style</a:t>
            </a:r>
            <a:endParaRPr lang="en-US" dirty="0"/>
          </a:p>
        </p:txBody>
      </p:sp>
      <p:sp>
        <p:nvSpPr>
          <p:cNvPr id="3" name="Content Placeholder 2"/>
          <p:cNvSpPr>
            <a:spLocks noGrp="1"/>
          </p:cNvSpPr>
          <p:nvPr>
            <p:ph idx="1"/>
          </p:nvPr>
        </p:nvSpPr>
        <p:spPr>
          <a:xfrm>
            <a:off x="838200" y="1295718"/>
            <a:ext cx="10515600" cy="4881245"/>
          </a:xfrm>
        </p:spPr>
        <p:txBody>
          <a:bodyPr/>
          <a:lstStyle>
            <a:lvl1pPr>
              <a:defRPr sz="2400" b="0" i="0">
                <a:latin typeface="Helvetica Light" panose="020B0403020202020204" pitchFamily="34" charset="0"/>
              </a:defRPr>
            </a:lvl1pPr>
            <a:lvl2pPr>
              <a:defRPr sz="2000" b="0" i="0">
                <a:latin typeface="Helvetica Light" panose="020B0403020202020204" pitchFamily="34" charset="0"/>
              </a:defRPr>
            </a:lvl2pPr>
            <a:lvl3pPr>
              <a:defRPr sz="1600" b="0" i="0">
                <a:latin typeface="Helvetica Light" panose="020B0403020202020204" pitchFamily="34" charset="0"/>
              </a:defRPr>
            </a:lvl3pPr>
            <a:lvl4pPr>
              <a:defRPr sz="1400" b="0" i="0">
                <a:latin typeface="Helvetica Light" panose="020B0403020202020204" pitchFamily="34" charset="0"/>
              </a:defRPr>
            </a:lvl4pPr>
            <a:lvl5pPr>
              <a:defRPr sz="1200" b="0" i="0">
                <a:latin typeface="Helvetica Light" panose="020B0403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a:xfrm>
            <a:off x="8582025" y="6451600"/>
            <a:ext cx="2743200" cy="365125"/>
          </a:xfrm>
        </p:spPr>
        <p:txBody>
          <a:bodyPr/>
          <a:lstStyle/>
          <a:p>
            <a:fld id="{858B1FD3-4AEA-41A5-943D-86B4B96C521D}" type="datetime1">
              <a:rPr lang="en-US" smtClean="0"/>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63210D4-8309-FA4E-999D-6938C4C3C70A}" type="slidenum">
              <a:rPr lang="en-US" smtClean="0"/>
              <a:t>‹#›</a:t>
            </a:fld>
            <a:endParaRPr lang="en-US" dirty="0"/>
          </a:p>
        </p:txBody>
      </p:sp>
      <p:sp>
        <p:nvSpPr>
          <p:cNvPr id="10" name="TextBox 9"/>
          <p:cNvSpPr txBox="1"/>
          <p:nvPr userDrawn="1"/>
        </p:nvSpPr>
        <p:spPr>
          <a:xfrm>
            <a:off x="4346425" y="6456645"/>
            <a:ext cx="3499149" cy="369332"/>
          </a:xfrm>
          <a:prstGeom prst="rect">
            <a:avLst/>
          </a:prstGeom>
          <a:noFill/>
        </p:spPr>
        <p:txBody>
          <a:bodyPr wrap="square" rtlCol="0">
            <a:spAutoFit/>
          </a:bodyPr>
          <a:lstStyle/>
          <a:p>
            <a:pPr algn="ctr"/>
            <a:r>
              <a:rPr lang="en-US" sz="1000" b="1" dirty="0">
                <a:solidFill>
                  <a:schemeClr val="bg1"/>
                </a:solidFill>
                <a:latin typeface="Batang" panose="02030600000101010101" pitchFamily="18" charset="-127"/>
                <a:ea typeface="Batang" panose="02030600000101010101" pitchFamily="18" charset="-127"/>
              </a:rPr>
              <a:t>UNIVERSITY OF </a:t>
            </a:r>
            <a:r>
              <a:rPr lang="en-US" sz="1000" b="1" dirty="0">
                <a:solidFill>
                  <a:schemeClr val="bg1"/>
                </a:solidFill>
                <a:latin typeface="Batang" panose="02030600000101010101" pitchFamily="18" charset="-127"/>
                <a:ea typeface="Batang" panose="02030600000101010101" pitchFamily="18" charset="-127"/>
                <a:cs typeface="Bangla Sangam MN" panose="02000000000000000000" pitchFamily="2" charset="0"/>
              </a:rPr>
              <a:t>MORATUWA</a:t>
            </a:r>
            <a:br>
              <a:rPr lang="en-US" sz="1000" b="1" dirty="0">
                <a:solidFill>
                  <a:schemeClr val="bg1"/>
                </a:solidFill>
                <a:latin typeface="Batang" panose="02030600000101010101" pitchFamily="18" charset="-127"/>
                <a:ea typeface="Batang" panose="02030600000101010101" pitchFamily="18" charset="-127"/>
              </a:rPr>
            </a:br>
            <a:r>
              <a:rPr lang="en-US" sz="800" b="1" dirty="0">
                <a:solidFill>
                  <a:schemeClr val="bg1"/>
                </a:solidFill>
                <a:latin typeface="Batang" panose="02030600000101010101" pitchFamily="18" charset="-127"/>
                <a:ea typeface="Batang" panose="02030600000101010101" pitchFamily="18" charset="-127"/>
              </a:rPr>
              <a:t>Centre for Open and  Distance Learning</a:t>
            </a:r>
            <a:endParaRPr lang="en-US" sz="1000" b="1" dirty="0">
              <a:solidFill>
                <a:schemeClr val="bg1"/>
              </a:solidFill>
              <a:latin typeface="Batang" panose="02030600000101010101" pitchFamily="18" charset="-127"/>
              <a:ea typeface="Batang" panose="02030600000101010101" pitchFamily="18" charset="-127"/>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838200" y="6470650"/>
            <a:ext cx="2743200" cy="365125"/>
          </a:xfrm>
          <a:prstGeom prst="rect">
            <a:avLst/>
          </a:prstGeom>
        </p:spPr>
        <p:txBody>
          <a:bodyPr vert="horz" lIns="91440" tIns="45720" rIns="91440" bIns="45720" rtlCol="0" anchor="ctr"/>
          <a:lstStyle>
            <a:lvl1pPr algn="l">
              <a:defRPr sz="1200">
                <a:solidFill>
                  <a:schemeClr val="bg1"/>
                </a:solidFill>
              </a:defRPr>
            </a:lvl1pPr>
          </a:lstStyle>
          <a:p>
            <a:fld id="{0BE1F675-7703-4C18-A059-3C6B370B5644}" type="datetime1">
              <a:rPr lang="en-US" smtClean="0"/>
              <a:t>8/3/2026</a:t>
            </a:fld>
            <a:endParaRPr lang="en-US" dirty="0"/>
          </a:p>
        </p:txBody>
      </p:sp>
      <p:sp>
        <p:nvSpPr>
          <p:cNvPr id="5" name="Footer Placeholder 4"/>
          <p:cNvSpPr>
            <a:spLocks noGrp="1"/>
          </p:cNvSpPr>
          <p:nvPr>
            <p:ph type="ftr" sz="quarter" idx="3"/>
          </p:nvPr>
        </p:nvSpPr>
        <p:spPr>
          <a:xfrm>
            <a:off x="4038600" y="64706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470650"/>
            <a:ext cx="2743200" cy="365125"/>
          </a:xfrm>
          <a:prstGeom prst="rect">
            <a:avLst/>
          </a:prstGeom>
        </p:spPr>
        <p:txBody>
          <a:bodyPr vert="horz" lIns="91440" tIns="45720" rIns="91440" bIns="45720" rtlCol="0" anchor="ctr"/>
          <a:lstStyle>
            <a:lvl1pPr algn="r">
              <a:defRPr sz="1200">
                <a:solidFill>
                  <a:schemeClr val="bg1"/>
                </a:solidFill>
              </a:defRPr>
            </a:lvl1pPr>
          </a:lstStyle>
          <a:p>
            <a:fld id="{863210D4-8309-FA4E-999D-6938C4C3C70A}"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3920" y="3255264"/>
            <a:ext cx="10424160" cy="1234440"/>
          </a:xfrm>
        </p:spPr>
        <p:txBody>
          <a:bodyPr wrap="square" anchor="ctr">
            <a:normAutofit fontScale="90000"/>
          </a:bodyPr>
          <a:lstStyle/>
          <a:p>
            <a:pPr algn="ctr"/>
            <a:r>
              <a:rPr sz="3600" b="1" i="0" dirty="0">
                <a:solidFill>
                  <a:srgbClr val="7A1E2B"/>
                </a:solidFill>
                <a:latin typeface="Calibri" panose="020F0502020204030204"/>
              </a:rPr>
              <a:t>A Low-Cost, Verifiable FPGA Resource for Embedded Machine-Learning Education in Open and Distance Learning</a:t>
            </a:r>
          </a:p>
        </p:txBody>
      </p:sp>
      <p:sp>
        <p:nvSpPr>
          <p:cNvPr id="3" name="Subtitle 2"/>
          <p:cNvSpPr>
            <a:spLocks noGrp="1"/>
          </p:cNvSpPr>
          <p:nvPr>
            <p:ph type="subTitle" idx="1"/>
          </p:nvPr>
        </p:nvSpPr>
        <p:spPr>
          <a:xfrm>
            <a:off x="822960" y="4709160"/>
            <a:ext cx="10515600" cy="1097280"/>
          </a:xfrm>
        </p:spPr>
        <p:txBody>
          <a:bodyPr wrap="square" anchor="t">
            <a:noAutofit/>
          </a:bodyPr>
          <a:lstStyle/>
          <a:p>
            <a:pPr algn="ctr">
              <a:spcBef>
                <a:spcPts val="0"/>
              </a:spcBef>
              <a:spcAft>
                <a:spcPts val="200"/>
              </a:spcAft>
            </a:pPr>
            <a:r>
              <a:rPr sz="2000" b="1" i="0" dirty="0">
                <a:solidFill>
                  <a:srgbClr val="2B2B2B"/>
                </a:solidFill>
                <a:latin typeface="Calibri" panose="020F0502020204030204"/>
              </a:rPr>
              <a:t>Wimalachandra R.D.M.K.T.</a:t>
            </a:r>
          </a:p>
          <a:p>
            <a:pPr algn="ctr">
              <a:spcBef>
                <a:spcPts val="0"/>
              </a:spcBef>
              <a:spcAft>
                <a:spcPts val="200"/>
              </a:spcAft>
            </a:pPr>
            <a:r>
              <a:rPr b="0" i="0" dirty="0">
                <a:solidFill>
                  <a:srgbClr val="666666"/>
                </a:solidFill>
                <a:latin typeface="Calibri" panose="020F0502020204030204"/>
              </a:rPr>
              <a:t>Department of Electrical and Information Engineering, University of Ruhuna, Galle, Sri Lanka</a:t>
            </a:r>
          </a:p>
          <a:p>
            <a:pPr algn="ctr">
              <a:spcBef>
                <a:spcPts val="0"/>
              </a:spcBef>
            </a:pPr>
            <a:r>
              <a:rPr b="1" i="0" dirty="0">
                <a:solidFill>
                  <a:srgbClr val="8A5814"/>
                </a:solidFill>
                <a:latin typeface="Calibri" panose="020F0502020204030204"/>
              </a:rPr>
              <a:t>ICODE 2026  ·  International Conference on Open and Distance Learning</a:t>
            </a:r>
          </a:p>
        </p:txBody>
      </p:sp>
      <p:sp>
        <p:nvSpPr>
          <p:cNvPr id="4" name="TextBox 3"/>
          <p:cNvSpPr txBox="1"/>
          <p:nvPr/>
        </p:nvSpPr>
        <p:spPr>
          <a:xfrm>
            <a:off x="11859768" y="5501116"/>
            <a:ext cx="246888" cy="369332"/>
          </a:xfrm>
          <a:prstGeom prst="rect">
            <a:avLst/>
          </a:prstGeom>
          <a:noFill/>
        </p:spPr>
        <p:txBody>
          <a:bodyPr wrap="square" rtlCol="0">
            <a:spAutoFit/>
          </a:bodyPr>
          <a:lstStyle/>
          <a:p>
            <a:r>
              <a:rPr lang="en-US"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296" y="365124"/>
            <a:ext cx="10171176" cy="1417955"/>
          </a:xfrm>
        </p:spPr>
        <p:txBody>
          <a:bodyPr wrap="square">
            <a:normAutofit/>
          </a:bodyPr>
          <a:lstStyle/>
          <a:p>
            <a:r>
              <a:rPr b="1" dirty="0">
                <a:solidFill>
                  <a:srgbClr val="7A1E2B"/>
                </a:solidFill>
                <a:latin typeface="Calibri" panose="020F0502020204030204"/>
              </a:rPr>
              <a:t>Engineers must put models on real hardware — distance learners rarely can</a:t>
            </a:r>
          </a:p>
        </p:txBody>
      </p:sp>
      <p:sp>
        <p:nvSpPr>
          <p:cNvPr id="3" name="TextBox 2"/>
          <p:cNvSpPr txBox="1"/>
          <p:nvPr/>
        </p:nvSpPr>
        <p:spPr>
          <a:xfrm>
            <a:off x="670560" y="1956816"/>
            <a:ext cx="5971032" cy="3694345"/>
          </a:xfrm>
          <a:prstGeom prst="rect">
            <a:avLst/>
          </a:prstGeom>
          <a:noFill/>
        </p:spPr>
        <p:txBody>
          <a:bodyPr wrap="square" lIns="45720" tIns="18288" rIns="45720" bIns="18288" anchor="t">
            <a:spAutoFit/>
          </a:bodyPr>
          <a:lstStyle/>
          <a:p>
            <a:pPr>
              <a:spcBef>
                <a:spcPts val="0"/>
              </a:spcBef>
              <a:spcAft>
                <a:spcPts val="1300"/>
              </a:spcAft>
            </a:pPr>
            <a:r>
              <a:rPr sz="2400" b="1" i="0" dirty="0">
                <a:solidFill>
                  <a:srgbClr val="BE7C26"/>
                </a:solidFill>
                <a:latin typeface="Calibri" panose="020F0502020204030204"/>
              </a:rPr>
              <a:t>▪  </a:t>
            </a:r>
            <a:r>
              <a:rPr sz="2400" b="0" i="0" dirty="0">
                <a:solidFill>
                  <a:srgbClr val="2B2B2B"/>
                </a:solidFill>
                <a:latin typeface="Calibri" panose="020F0502020204030204"/>
              </a:rPr>
              <a:t>Modern curricula expect graduates to move a machine-learning model onto real silicon — training, numerical precision and digital logic together.</a:t>
            </a:r>
          </a:p>
          <a:p>
            <a:pPr>
              <a:spcBef>
                <a:spcPts val="0"/>
              </a:spcBef>
              <a:spcAft>
                <a:spcPts val="1300"/>
              </a:spcAft>
            </a:pPr>
            <a:r>
              <a:rPr sz="2400" b="1" i="0" dirty="0">
                <a:solidFill>
                  <a:srgbClr val="BE7C26"/>
                </a:solidFill>
                <a:latin typeface="Calibri" panose="020F0502020204030204"/>
              </a:rPr>
              <a:t>▪  </a:t>
            </a:r>
            <a:r>
              <a:rPr sz="2400" b="0" i="0" dirty="0">
                <a:solidFill>
                  <a:srgbClr val="2B2B2B"/>
                </a:solidFill>
                <a:latin typeface="Calibri" panose="020F0502020204030204"/>
              </a:rPr>
              <a:t>This competence is built by doing, not by reading. You have to touch the hardware.</a:t>
            </a:r>
          </a:p>
          <a:p>
            <a:pPr>
              <a:spcBef>
                <a:spcPts val="0"/>
              </a:spcBef>
              <a:spcAft>
                <a:spcPts val="1300"/>
              </a:spcAft>
            </a:pPr>
            <a:r>
              <a:rPr sz="2400" b="1" i="0" dirty="0">
                <a:solidFill>
                  <a:srgbClr val="BE7C26"/>
                </a:solidFill>
                <a:latin typeface="Calibri" panose="020F0502020204030204"/>
              </a:rPr>
              <a:t>▪  </a:t>
            </a:r>
            <a:r>
              <a:rPr sz="2400" b="0" i="0" dirty="0">
                <a:solidFill>
                  <a:srgbClr val="2B2B2B"/>
                </a:solidFill>
                <a:latin typeface="Calibri" panose="020F0502020204030204"/>
              </a:rPr>
              <a:t>In Open and Distance Learning (ODL), sustained laboratory access is the exception, not the rule.</a:t>
            </a:r>
          </a:p>
        </p:txBody>
      </p:sp>
      <p:sp>
        <p:nvSpPr>
          <p:cNvPr id="4" name="Rounded Rectangle 3"/>
          <p:cNvSpPr/>
          <p:nvPr/>
        </p:nvSpPr>
        <p:spPr>
          <a:xfrm>
            <a:off x="7397496" y="2240280"/>
            <a:ext cx="4297680" cy="2706792"/>
          </a:xfrm>
          <a:prstGeom prst="roundRect">
            <a:avLst>
              <a:gd name="adj" fmla="val 5000"/>
            </a:avLst>
          </a:prstGeom>
          <a:solidFill>
            <a:srgbClr val="F6ECDB"/>
          </a:solidFill>
          <a:ln w="19050">
            <a:solidFill>
              <a:srgbClr val="BE7C26"/>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i="0" dirty="0">
                <a:solidFill>
                  <a:srgbClr val="7A1E2B"/>
                </a:solidFill>
                <a:latin typeface="Calibri" panose="020F0502020204030204"/>
              </a:rPr>
              <a:t>For a distance learner,</a:t>
            </a:r>
          </a:p>
          <a:p>
            <a:pPr algn="ctr"/>
            <a:r>
              <a:rPr sz="2400" b="1" i="0" dirty="0">
                <a:solidFill>
                  <a:srgbClr val="7A1E2B"/>
                </a:solidFill>
                <a:latin typeface="Calibri" panose="020F0502020204030204"/>
              </a:rPr>
              <a:t>hands-on hardware is the exception,</a:t>
            </a:r>
          </a:p>
          <a:p>
            <a:pPr algn="ctr"/>
            <a:r>
              <a:rPr sz="2400" b="1" i="0" dirty="0">
                <a:solidFill>
                  <a:srgbClr val="7A1E2B"/>
                </a:solidFill>
                <a:latin typeface="Calibri" panose="020F0502020204030204"/>
              </a:rPr>
              <a:t>not the rule.</a:t>
            </a:r>
          </a:p>
          <a:p>
            <a:pPr algn="ctr">
              <a:spcBef>
                <a:spcPts val="1200"/>
              </a:spcBef>
            </a:pPr>
            <a:r>
              <a:rPr sz="1600" b="0" i="1" dirty="0">
                <a:solidFill>
                  <a:srgbClr val="2B2B2B"/>
                </a:solidFill>
                <a:latin typeface="Calibri" panose="020F0502020204030204"/>
              </a:rPr>
              <a:t>Embedded ML and hardware–software co-design are core skills — and they need real hardware.</a:t>
            </a:r>
          </a:p>
        </p:txBody>
      </p:sp>
      <p:sp>
        <p:nvSpPr>
          <p:cNvPr id="6" name="TextBox 5"/>
          <p:cNvSpPr txBox="1"/>
          <p:nvPr/>
        </p:nvSpPr>
        <p:spPr>
          <a:xfrm>
            <a:off x="11768328" y="5985748"/>
            <a:ext cx="246888" cy="369332"/>
          </a:xfrm>
          <a:prstGeom prst="rect">
            <a:avLst/>
          </a:prstGeom>
          <a:noFill/>
        </p:spPr>
        <p:txBody>
          <a:bodyPr wrap="square" rtlCol="0">
            <a:spAutoFit/>
          </a:bodyPr>
          <a:lstStyle/>
          <a:p>
            <a:r>
              <a:rPr lang="en-US"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189859"/>
            <a:ext cx="10515600" cy="846455"/>
          </a:xfrm>
        </p:spPr>
        <p:txBody>
          <a:bodyPr wrap="square">
            <a:normAutofit/>
          </a:bodyPr>
          <a:lstStyle/>
          <a:p>
            <a:r>
              <a:rPr b="1" dirty="0">
                <a:solidFill>
                  <a:srgbClr val="7A1E2B"/>
                </a:solidFill>
                <a:latin typeface="Calibri" panose="020F0502020204030204"/>
              </a:rPr>
              <a:t>Why existing options fall short for distance learners</a:t>
            </a:r>
          </a:p>
        </p:txBody>
      </p:sp>
      <p:sp>
        <p:nvSpPr>
          <p:cNvPr id="3" name="TextBox 2"/>
          <p:cNvSpPr txBox="1"/>
          <p:nvPr/>
        </p:nvSpPr>
        <p:spPr>
          <a:xfrm>
            <a:off x="640080" y="1188714"/>
            <a:ext cx="10972800" cy="1037207"/>
          </a:xfrm>
          <a:prstGeom prst="rect">
            <a:avLst/>
          </a:prstGeom>
          <a:noFill/>
        </p:spPr>
        <p:txBody>
          <a:bodyPr wrap="square" lIns="45720" tIns="18288" rIns="45720" bIns="18288" anchor="t">
            <a:spAutoFit/>
          </a:bodyPr>
          <a:lstStyle/>
          <a:p>
            <a:pPr>
              <a:spcBef>
                <a:spcPts val="0"/>
              </a:spcBef>
              <a:spcAft>
                <a:spcPts val="600"/>
              </a:spcAft>
            </a:pPr>
            <a:r>
              <a:rPr sz="2000" b="1" i="0" dirty="0">
                <a:solidFill>
                  <a:srgbClr val="BE7C26"/>
                </a:solidFill>
                <a:latin typeface="Calibri" panose="020F0502020204030204"/>
              </a:rPr>
              <a:t>▪  </a:t>
            </a:r>
            <a:r>
              <a:rPr sz="2000" b="0" i="0" dirty="0">
                <a:solidFill>
                  <a:srgbClr val="2B2B2B"/>
                </a:solidFill>
                <a:latin typeface="Calibri" panose="020F0502020204030204"/>
              </a:rPr>
              <a:t>Remote and virtual labs genuinely help — but they are institution-owned and time-shared, leaving little room for free, exploratory tinkering.</a:t>
            </a:r>
          </a:p>
          <a:p>
            <a:pPr>
              <a:spcBef>
                <a:spcPts val="0"/>
              </a:spcBef>
              <a:spcAft>
                <a:spcPts val="200"/>
              </a:spcAft>
            </a:pPr>
            <a:r>
              <a:rPr sz="2000" b="1" i="0" dirty="0">
                <a:solidFill>
                  <a:srgbClr val="BE7C26"/>
                </a:solidFill>
                <a:latin typeface="Calibri" panose="020F0502020204030204"/>
              </a:rPr>
              <a:t>▪  </a:t>
            </a:r>
            <a:r>
              <a:rPr sz="2000" b="0" i="0" dirty="0">
                <a:solidFill>
                  <a:srgbClr val="2B2B2B"/>
                </a:solidFill>
                <a:latin typeface="Calibri" panose="020F0502020204030204"/>
              </a:rPr>
              <a:t>Pure simulation is cheap — but it never lets the student confirm a design on real silicon.</a:t>
            </a:r>
          </a:p>
        </p:txBody>
      </p:sp>
      <p:graphicFrame>
        <p:nvGraphicFramePr>
          <p:cNvPr id="4" name="Table 3"/>
          <p:cNvGraphicFramePr>
            <a:graphicFrameLocks noGrp="1"/>
          </p:cNvGraphicFramePr>
          <p:nvPr/>
        </p:nvGraphicFramePr>
        <p:xfrm>
          <a:off x="640080" y="2560320"/>
          <a:ext cx="10927080" cy="2663952"/>
        </p:xfrm>
        <a:graphic>
          <a:graphicData uri="http://schemas.openxmlformats.org/drawingml/2006/table">
            <a:tbl>
              <a:tblPr>
                <a:tableStyleId>{5C22544A-7EE6-4342-B048-85BDC9FD1C3A}</a:tableStyleId>
              </a:tblPr>
              <a:tblGrid>
                <a:gridCol w="27889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457200">
                <a:tc>
                  <a:txBody>
                    <a:bodyPr/>
                    <a:lstStyle/>
                    <a:p>
                      <a:pPr algn="l"/>
                      <a:r>
                        <a:rPr sz="2000" b="1" i="0" dirty="0">
                          <a:solidFill>
                            <a:srgbClr val="FFFFFF"/>
                          </a:solidFill>
                          <a:latin typeface="Calibri" panose="020F0502020204030204"/>
                        </a:rPr>
                        <a:t>Modality</a:t>
                      </a:r>
                    </a:p>
                  </a:txBody>
                  <a:tcPr marL="82296" marR="54864" marT="18288" marB="18288" anchor="ctr">
                    <a:solidFill>
                      <a:srgbClr val="7A1E2B"/>
                    </a:solidFill>
                  </a:tcPr>
                </a:tc>
                <a:tc>
                  <a:txBody>
                    <a:bodyPr/>
                    <a:lstStyle/>
                    <a:p>
                      <a:pPr algn="ctr"/>
                      <a:r>
                        <a:rPr sz="2000" b="1" i="0">
                          <a:solidFill>
                            <a:srgbClr val="FFFFFF"/>
                          </a:solidFill>
                          <a:latin typeface="Calibri" panose="020F0502020204030204"/>
                        </a:rPr>
                        <a:t>Cost / learner</a:t>
                      </a:r>
                    </a:p>
                  </a:txBody>
                  <a:tcPr marL="82296" marR="54864" marT="18288" marB="18288" anchor="ctr">
                    <a:solidFill>
                      <a:srgbClr val="7A1E2B"/>
                    </a:solidFill>
                  </a:tcPr>
                </a:tc>
                <a:tc>
                  <a:txBody>
                    <a:bodyPr/>
                    <a:lstStyle/>
                    <a:p>
                      <a:pPr algn="ctr"/>
                      <a:r>
                        <a:rPr sz="2000" b="1" i="0">
                          <a:solidFill>
                            <a:srgbClr val="FFFFFF"/>
                          </a:solidFill>
                          <a:latin typeface="Calibri" panose="020F0502020204030204"/>
                        </a:rPr>
                        <a:t>Owned by student</a:t>
                      </a:r>
                    </a:p>
                  </a:txBody>
                  <a:tcPr marL="82296" marR="54864" marT="18288" marB="18288" anchor="ctr">
                    <a:solidFill>
                      <a:srgbClr val="7A1E2B"/>
                    </a:solidFill>
                  </a:tcPr>
                </a:tc>
                <a:tc>
                  <a:txBody>
                    <a:bodyPr/>
                    <a:lstStyle/>
                    <a:p>
                      <a:pPr algn="ctr"/>
                      <a:r>
                        <a:rPr sz="2000" b="1" i="0">
                          <a:solidFill>
                            <a:srgbClr val="FFFFFF"/>
                          </a:solidFill>
                          <a:latin typeface="Calibri" panose="020F0502020204030204"/>
                        </a:rPr>
                        <a:t>Real silicon</a:t>
                      </a:r>
                    </a:p>
                  </a:txBody>
                  <a:tcPr marL="82296" marR="54864" marT="18288" marB="18288" anchor="ctr">
                    <a:solidFill>
                      <a:srgbClr val="7A1E2B"/>
                    </a:solidFill>
                  </a:tcPr>
                </a:tc>
                <a:tc>
                  <a:txBody>
                    <a:bodyPr/>
                    <a:lstStyle/>
                    <a:p>
                      <a:pPr algn="ctr"/>
                      <a:r>
                        <a:rPr sz="2000" b="1" i="0">
                          <a:solidFill>
                            <a:srgbClr val="FFFFFF"/>
                          </a:solidFill>
                          <a:latin typeface="Calibri" panose="020F0502020204030204"/>
                        </a:rPr>
                        <a:t>Built-in verification</a:t>
                      </a:r>
                    </a:p>
                  </a:txBody>
                  <a:tcPr marL="82296" marR="54864" marT="18288" marB="18288" anchor="ctr">
                    <a:solidFill>
                      <a:srgbClr val="7A1E2B"/>
                    </a:solidFill>
                  </a:tcPr>
                </a:tc>
                <a:extLst>
                  <a:ext uri="{0D108BD9-81ED-4DB2-BD59-A6C34878D82A}">
                    <a16:rowId xmlns:a16="http://schemas.microsoft.com/office/drawing/2014/main" val="10000"/>
                  </a:ext>
                </a:extLst>
              </a:tr>
              <a:tr h="457200">
                <a:tc>
                  <a:txBody>
                    <a:bodyPr/>
                    <a:lstStyle/>
                    <a:p>
                      <a:pPr algn="l"/>
                      <a:r>
                        <a:rPr sz="2000" b="0" i="0">
                          <a:solidFill>
                            <a:srgbClr val="2B2B2B"/>
                          </a:solidFill>
                          <a:latin typeface="Calibri" panose="020F0502020204030204"/>
                        </a:rPr>
                        <a:t>Campus lab (hands-on)</a:t>
                      </a:r>
                    </a:p>
                  </a:txBody>
                  <a:tcPr marL="82296" marR="54864" marT="18288" marB="18288" anchor="ctr">
                    <a:solidFill>
                      <a:srgbClr val="FFFFFF"/>
                    </a:solidFill>
                  </a:tcPr>
                </a:tc>
                <a:tc>
                  <a:txBody>
                    <a:bodyPr/>
                    <a:lstStyle/>
                    <a:p>
                      <a:pPr algn="ctr"/>
                      <a:r>
                        <a:rPr sz="2000" b="0" i="0" dirty="0">
                          <a:solidFill>
                            <a:srgbClr val="2B2B2B"/>
                          </a:solidFill>
                          <a:latin typeface="Calibri" panose="020F0502020204030204"/>
                        </a:rPr>
                        <a:t>High</a:t>
                      </a:r>
                    </a:p>
                  </a:txBody>
                  <a:tcPr marL="82296" marR="54864" marT="18288" marB="18288" anchor="ctr">
                    <a:solidFill>
                      <a:srgbClr val="FFFFFF"/>
                    </a:solidFill>
                  </a:tcPr>
                </a:tc>
                <a:tc>
                  <a:txBody>
                    <a:bodyPr/>
                    <a:lstStyle/>
                    <a:p>
                      <a:pPr algn="ctr"/>
                      <a:r>
                        <a:rPr sz="2000" b="0" i="0">
                          <a:solidFill>
                            <a:srgbClr val="2B2B2B"/>
                          </a:solidFill>
                          <a:latin typeface="Calibri" panose="020F0502020204030204"/>
                        </a:rPr>
                        <a:t>No (shared)</a:t>
                      </a:r>
                    </a:p>
                  </a:txBody>
                  <a:tcPr marL="82296" marR="54864" marT="18288" marB="18288" anchor="ctr">
                    <a:solidFill>
                      <a:srgbClr val="FFFFFF"/>
                    </a:solidFill>
                  </a:tcPr>
                </a:tc>
                <a:tc>
                  <a:txBody>
                    <a:bodyPr/>
                    <a:lstStyle/>
                    <a:p>
                      <a:pPr algn="ctr"/>
                      <a:r>
                        <a:rPr sz="2000" b="0" i="0">
                          <a:solidFill>
                            <a:srgbClr val="2B2B2B"/>
                          </a:solidFill>
                          <a:latin typeface="Calibri" panose="020F0502020204030204"/>
                        </a:rPr>
                        <a:t>Yes</a:t>
                      </a:r>
                    </a:p>
                  </a:txBody>
                  <a:tcPr marL="82296" marR="54864" marT="18288" marB="18288" anchor="ctr">
                    <a:solidFill>
                      <a:srgbClr val="FFFFFF"/>
                    </a:solidFill>
                  </a:tcPr>
                </a:tc>
                <a:tc>
                  <a:txBody>
                    <a:bodyPr/>
                    <a:lstStyle/>
                    <a:p>
                      <a:pPr algn="ctr"/>
                      <a:r>
                        <a:rPr sz="2000" b="0" i="0">
                          <a:solidFill>
                            <a:srgbClr val="2B2B2B"/>
                          </a:solidFill>
                          <a:latin typeface="Calibri" panose="020F0502020204030204"/>
                        </a:rPr>
                        <a:t>—</a:t>
                      </a:r>
                    </a:p>
                  </a:txBody>
                  <a:tcPr marL="82296" marR="54864"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2000" b="0" i="0">
                          <a:solidFill>
                            <a:srgbClr val="2B2B2B"/>
                          </a:solidFill>
                          <a:latin typeface="Calibri" panose="020F0502020204030204"/>
                        </a:rPr>
                        <a:t>Simulation only</a:t>
                      </a:r>
                    </a:p>
                  </a:txBody>
                  <a:tcPr marL="82296" marR="54864" marT="18288" marB="18288" anchor="ctr">
                    <a:solidFill>
                      <a:srgbClr val="F2F1EF"/>
                    </a:solidFill>
                  </a:tcPr>
                </a:tc>
                <a:tc>
                  <a:txBody>
                    <a:bodyPr/>
                    <a:lstStyle/>
                    <a:p>
                      <a:pPr algn="ctr"/>
                      <a:r>
                        <a:rPr sz="2000" b="0" i="0">
                          <a:solidFill>
                            <a:srgbClr val="2B2B2B"/>
                          </a:solidFill>
                          <a:latin typeface="Calibri" panose="020F0502020204030204"/>
                        </a:rPr>
                        <a:t>Low</a:t>
                      </a:r>
                    </a:p>
                  </a:txBody>
                  <a:tcPr marL="82296" marR="54864" marT="18288" marB="18288" anchor="ctr">
                    <a:solidFill>
                      <a:srgbClr val="F2F1EF"/>
                    </a:solidFill>
                  </a:tcPr>
                </a:tc>
                <a:tc>
                  <a:txBody>
                    <a:bodyPr/>
                    <a:lstStyle/>
                    <a:p>
                      <a:pPr algn="ctr"/>
                      <a:r>
                        <a:rPr sz="2000" b="0" i="0">
                          <a:solidFill>
                            <a:srgbClr val="2B2B2B"/>
                          </a:solidFill>
                          <a:latin typeface="Calibri" panose="020F0502020204030204"/>
                        </a:rPr>
                        <a:t>No</a:t>
                      </a:r>
                    </a:p>
                  </a:txBody>
                  <a:tcPr marL="82296" marR="54864" marT="18288" marB="18288" anchor="ctr">
                    <a:solidFill>
                      <a:srgbClr val="F2F1EF"/>
                    </a:solidFill>
                  </a:tcPr>
                </a:tc>
                <a:tc>
                  <a:txBody>
                    <a:bodyPr/>
                    <a:lstStyle/>
                    <a:p>
                      <a:pPr algn="ctr"/>
                      <a:r>
                        <a:rPr sz="2000" b="0" i="0">
                          <a:solidFill>
                            <a:srgbClr val="2B2B2B"/>
                          </a:solidFill>
                          <a:latin typeface="Calibri" panose="020F0502020204030204"/>
                        </a:rPr>
                        <a:t>No</a:t>
                      </a:r>
                    </a:p>
                  </a:txBody>
                  <a:tcPr marL="82296" marR="54864" marT="18288" marB="18288" anchor="ctr">
                    <a:solidFill>
                      <a:srgbClr val="F2F1EF"/>
                    </a:solidFill>
                  </a:tcPr>
                </a:tc>
                <a:tc>
                  <a:txBody>
                    <a:bodyPr/>
                    <a:lstStyle/>
                    <a:p>
                      <a:pPr algn="ctr"/>
                      <a:r>
                        <a:rPr sz="2000" b="0" i="0">
                          <a:solidFill>
                            <a:srgbClr val="2B2B2B"/>
                          </a:solidFill>
                          <a:latin typeface="Calibri" panose="020F0502020204030204"/>
                        </a:rPr>
                        <a:t>No</a:t>
                      </a:r>
                    </a:p>
                  </a:txBody>
                  <a:tcPr marL="82296" marR="54864" marT="18288" marB="18288" anchor="ctr">
                    <a:solidFill>
                      <a:srgbClr val="F2F1EF"/>
                    </a:solidFill>
                  </a:tcPr>
                </a:tc>
                <a:extLst>
                  <a:ext uri="{0D108BD9-81ED-4DB2-BD59-A6C34878D82A}">
                    <a16:rowId xmlns:a16="http://schemas.microsoft.com/office/drawing/2014/main" val="10002"/>
                  </a:ext>
                </a:extLst>
              </a:tr>
              <a:tr h="457200">
                <a:tc>
                  <a:txBody>
                    <a:bodyPr/>
                    <a:lstStyle/>
                    <a:p>
                      <a:pPr algn="l"/>
                      <a:r>
                        <a:rPr sz="2000" b="0" i="0">
                          <a:solidFill>
                            <a:srgbClr val="2B2B2B"/>
                          </a:solidFill>
                          <a:latin typeface="Calibri" panose="020F0502020204030204"/>
                        </a:rPr>
                        <a:t>Remote laboratory</a:t>
                      </a:r>
                    </a:p>
                  </a:txBody>
                  <a:tcPr marL="82296" marR="54864" marT="18288" marB="18288" anchor="ctr">
                    <a:solidFill>
                      <a:srgbClr val="FFFFFF"/>
                    </a:solidFill>
                  </a:tcPr>
                </a:tc>
                <a:tc>
                  <a:txBody>
                    <a:bodyPr/>
                    <a:lstStyle/>
                    <a:p>
                      <a:pPr algn="ctr"/>
                      <a:r>
                        <a:rPr sz="2000" b="0" i="0">
                          <a:solidFill>
                            <a:srgbClr val="2B2B2B"/>
                          </a:solidFill>
                          <a:latin typeface="Calibri" panose="020F0502020204030204"/>
                        </a:rPr>
                        <a:t>Medium (institutional)</a:t>
                      </a:r>
                    </a:p>
                  </a:txBody>
                  <a:tcPr marL="82296" marR="54864" marT="18288" marB="18288" anchor="ctr">
                    <a:solidFill>
                      <a:srgbClr val="FFFFFF"/>
                    </a:solidFill>
                  </a:tcPr>
                </a:tc>
                <a:tc>
                  <a:txBody>
                    <a:bodyPr/>
                    <a:lstStyle/>
                    <a:p>
                      <a:pPr algn="ctr"/>
                      <a:r>
                        <a:rPr sz="2000" b="0" i="0" dirty="0">
                          <a:solidFill>
                            <a:srgbClr val="2B2B2B"/>
                          </a:solidFill>
                          <a:latin typeface="Calibri" panose="020F0502020204030204"/>
                        </a:rPr>
                        <a:t>No (shared)</a:t>
                      </a:r>
                    </a:p>
                  </a:txBody>
                  <a:tcPr marL="82296" marR="54864" marT="18288" marB="18288" anchor="ctr">
                    <a:solidFill>
                      <a:srgbClr val="FFFFFF"/>
                    </a:solidFill>
                  </a:tcPr>
                </a:tc>
                <a:tc>
                  <a:txBody>
                    <a:bodyPr/>
                    <a:lstStyle/>
                    <a:p>
                      <a:pPr algn="ctr"/>
                      <a:r>
                        <a:rPr sz="2000" b="0" i="0">
                          <a:solidFill>
                            <a:srgbClr val="2B2B2B"/>
                          </a:solidFill>
                          <a:latin typeface="Calibri" panose="020F0502020204030204"/>
                        </a:rPr>
                        <a:t>Yes</a:t>
                      </a:r>
                    </a:p>
                  </a:txBody>
                  <a:tcPr marL="82296" marR="54864" marT="18288" marB="18288" anchor="ctr">
                    <a:solidFill>
                      <a:srgbClr val="FFFFFF"/>
                    </a:solidFill>
                  </a:tcPr>
                </a:tc>
                <a:tc>
                  <a:txBody>
                    <a:bodyPr/>
                    <a:lstStyle/>
                    <a:p>
                      <a:pPr algn="ctr"/>
                      <a:r>
                        <a:rPr sz="2000" b="0" i="0">
                          <a:solidFill>
                            <a:srgbClr val="2B2B2B"/>
                          </a:solidFill>
                          <a:latin typeface="Calibri" panose="020F0502020204030204"/>
                        </a:rPr>
                        <a:t>Limited</a:t>
                      </a:r>
                    </a:p>
                  </a:txBody>
                  <a:tcPr marL="82296" marR="54864" marT="18288" marB="18288" anchor="ctr">
                    <a:solidFill>
                      <a:srgbClr val="FFFFFF"/>
                    </a:solidFill>
                  </a:tcPr>
                </a:tc>
                <a:extLst>
                  <a:ext uri="{0D108BD9-81ED-4DB2-BD59-A6C34878D82A}">
                    <a16:rowId xmlns:a16="http://schemas.microsoft.com/office/drawing/2014/main" val="10003"/>
                  </a:ext>
                </a:extLst>
              </a:tr>
              <a:tr h="457200">
                <a:tc>
                  <a:txBody>
                    <a:bodyPr/>
                    <a:lstStyle/>
                    <a:p>
                      <a:pPr algn="l"/>
                      <a:r>
                        <a:rPr sz="2000" b="1" i="0">
                          <a:solidFill>
                            <a:srgbClr val="FFFFFF"/>
                          </a:solidFill>
                          <a:latin typeface="Calibri" panose="020F0502020204030204"/>
                        </a:rPr>
                        <a:t>This resource</a:t>
                      </a:r>
                    </a:p>
                  </a:txBody>
                  <a:tcPr marL="82296" marR="54864" marT="18288" marB="18288" anchor="ctr">
                    <a:solidFill>
                      <a:srgbClr val="BE7C26"/>
                    </a:solidFill>
                  </a:tcPr>
                </a:tc>
                <a:tc>
                  <a:txBody>
                    <a:bodyPr/>
                    <a:lstStyle/>
                    <a:p>
                      <a:pPr algn="ctr"/>
                      <a:r>
                        <a:rPr sz="2000" b="1" i="0">
                          <a:solidFill>
                            <a:srgbClr val="FFFFFF"/>
                          </a:solidFill>
                          <a:latin typeface="Calibri" panose="020F0502020204030204"/>
                        </a:rPr>
                        <a:t>Low (≈ US$130)</a:t>
                      </a:r>
                    </a:p>
                  </a:txBody>
                  <a:tcPr marL="82296" marR="54864" marT="18288" marB="18288" anchor="ctr">
                    <a:solidFill>
                      <a:srgbClr val="BE7C26"/>
                    </a:solidFill>
                  </a:tcPr>
                </a:tc>
                <a:tc>
                  <a:txBody>
                    <a:bodyPr/>
                    <a:lstStyle/>
                    <a:p>
                      <a:pPr algn="ctr"/>
                      <a:r>
                        <a:rPr sz="2000" b="1" i="0">
                          <a:solidFill>
                            <a:srgbClr val="FFFFFF"/>
                          </a:solidFill>
                          <a:latin typeface="Calibri" panose="020F0502020204030204"/>
                        </a:rPr>
                        <a:t>Yes</a:t>
                      </a:r>
                    </a:p>
                  </a:txBody>
                  <a:tcPr marL="82296" marR="54864" marT="18288" marB="18288" anchor="ctr">
                    <a:solidFill>
                      <a:srgbClr val="BE7C26"/>
                    </a:solidFill>
                  </a:tcPr>
                </a:tc>
                <a:tc>
                  <a:txBody>
                    <a:bodyPr/>
                    <a:lstStyle/>
                    <a:p>
                      <a:pPr algn="ctr"/>
                      <a:r>
                        <a:rPr sz="2000" b="1" i="0">
                          <a:solidFill>
                            <a:srgbClr val="FFFFFF"/>
                          </a:solidFill>
                          <a:latin typeface="Calibri" panose="020F0502020204030204"/>
                        </a:rPr>
                        <a:t>Yes</a:t>
                      </a:r>
                    </a:p>
                  </a:txBody>
                  <a:tcPr marL="82296" marR="54864" marT="18288" marB="18288" anchor="ctr">
                    <a:solidFill>
                      <a:srgbClr val="BE7C26"/>
                    </a:solidFill>
                  </a:tcPr>
                </a:tc>
                <a:tc>
                  <a:txBody>
                    <a:bodyPr/>
                    <a:lstStyle/>
                    <a:p>
                      <a:pPr algn="ctr"/>
                      <a:r>
                        <a:rPr sz="2000" b="1" i="0" dirty="0">
                          <a:solidFill>
                            <a:srgbClr val="FFFFFF"/>
                          </a:solidFill>
                          <a:latin typeface="Calibri" panose="020F0502020204030204"/>
                        </a:rPr>
                        <a:t>Bit-exact</a:t>
                      </a:r>
                    </a:p>
                  </a:txBody>
                  <a:tcPr marL="82296" marR="54864" marT="18288" marB="18288" anchor="ctr">
                    <a:solidFill>
                      <a:srgbClr val="BE7C26"/>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40080" y="5376672"/>
            <a:ext cx="10972800" cy="252377"/>
          </a:xfrm>
          <a:prstGeom prst="rect">
            <a:avLst/>
          </a:prstGeom>
          <a:noFill/>
        </p:spPr>
        <p:txBody>
          <a:bodyPr wrap="square" lIns="45720" tIns="18288" rIns="45720" bIns="18288" anchor="t">
            <a:spAutoFit/>
          </a:bodyPr>
          <a:lstStyle/>
          <a:p>
            <a:r>
              <a:rPr sz="1400" b="0" i="1" dirty="0">
                <a:solidFill>
                  <a:srgbClr val="666666"/>
                </a:solidFill>
                <a:latin typeface="Calibri" panose="020F0502020204030204"/>
              </a:rPr>
              <a:t>Table I — No existing modality offers low cost, ownership, real silicon and built-in verification </a:t>
            </a:r>
            <a:r>
              <a:rPr sz="1400" b="1" i="1" dirty="0">
                <a:solidFill>
                  <a:srgbClr val="7A1E2B"/>
                </a:solidFill>
                <a:latin typeface="Calibri" panose="020F0502020204030204"/>
              </a:rPr>
              <a:t>together.</a:t>
            </a:r>
          </a:p>
        </p:txBody>
      </p:sp>
      <p:sp>
        <p:nvSpPr>
          <p:cNvPr id="7" name="TextBox 6"/>
          <p:cNvSpPr txBox="1"/>
          <p:nvPr/>
        </p:nvSpPr>
        <p:spPr>
          <a:xfrm>
            <a:off x="11768328" y="5985748"/>
            <a:ext cx="246888" cy="369332"/>
          </a:xfrm>
          <a:prstGeom prst="rect">
            <a:avLst/>
          </a:prstGeom>
          <a:noFill/>
        </p:spPr>
        <p:txBody>
          <a:bodyPr wrap="square" rtlCol="0">
            <a:spAutoFit/>
          </a:bodyPr>
          <a:lstStyle/>
          <a:p>
            <a:r>
              <a:rPr lang="en-US"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584" y="504931"/>
            <a:ext cx="10515600" cy="846455"/>
          </a:xfrm>
        </p:spPr>
        <p:txBody>
          <a:bodyPr wrap="square">
            <a:normAutofit/>
          </a:bodyPr>
          <a:lstStyle/>
          <a:p>
            <a:r>
              <a:rPr b="1" dirty="0">
                <a:solidFill>
                  <a:srgbClr val="7A1E2B"/>
                </a:solidFill>
                <a:latin typeface="Calibri" panose="020F0502020204030204"/>
              </a:rPr>
              <a:t>The proposed resource: a verifiable FPGA you own</a:t>
            </a:r>
          </a:p>
        </p:txBody>
      </p:sp>
      <p:sp>
        <p:nvSpPr>
          <p:cNvPr id="4" name="TextBox 3"/>
          <p:cNvSpPr txBox="1"/>
          <p:nvPr/>
        </p:nvSpPr>
        <p:spPr>
          <a:xfrm>
            <a:off x="5422392" y="1554480"/>
            <a:ext cx="6236208" cy="3068532"/>
          </a:xfrm>
          <a:prstGeom prst="rect">
            <a:avLst/>
          </a:prstGeom>
          <a:noFill/>
        </p:spPr>
        <p:txBody>
          <a:bodyPr wrap="square" lIns="45720" tIns="18288" rIns="45720" bIns="18288" anchor="t">
            <a:spAutoFit/>
          </a:bodyPr>
          <a:lstStyle/>
          <a:p>
            <a:pPr>
              <a:spcBef>
                <a:spcPts val="200"/>
              </a:spcBef>
              <a:spcAft>
                <a:spcPts val="200"/>
              </a:spcAft>
            </a:pPr>
            <a:r>
              <a:rPr sz="2000" b="1" i="0" dirty="0">
                <a:solidFill>
                  <a:srgbClr val="7A1E2B"/>
                </a:solidFill>
                <a:latin typeface="Calibri" panose="020F0502020204030204"/>
              </a:rPr>
              <a:t>Affordable &amp; owned</a:t>
            </a:r>
          </a:p>
          <a:p>
            <a:pPr>
              <a:spcBef>
                <a:spcPts val="0"/>
              </a:spcBef>
              <a:spcAft>
                <a:spcPts val="1000"/>
              </a:spcAft>
            </a:pPr>
            <a:r>
              <a:rPr b="1" i="0" dirty="0">
                <a:solidFill>
                  <a:srgbClr val="8A5814"/>
                </a:solidFill>
                <a:latin typeface="Calibri" panose="020F0502020204030204"/>
              </a:rPr>
              <a:t>   – </a:t>
            </a:r>
            <a:r>
              <a:rPr b="0" i="0" dirty="0">
                <a:solidFill>
                  <a:srgbClr val="2B2B2B"/>
                </a:solidFill>
                <a:latin typeface="Calibri" panose="020F0502020204030204"/>
              </a:rPr>
              <a:t>A commodity FPGA board (≈ US$130) with free vendor tools</a:t>
            </a:r>
            <a:r>
              <a:rPr lang="en-US" b="1" dirty="0">
                <a:solidFill>
                  <a:srgbClr val="8A5814"/>
                </a:solidFill>
              </a:rPr>
              <a:t>  </a:t>
            </a:r>
            <a:r>
              <a:rPr b="0" i="0" dirty="0">
                <a:solidFill>
                  <a:srgbClr val="2B2B2B"/>
                </a:solidFill>
                <a:latin typeface="Calibri" panose="020F0502020204030204"/>
              </a:rPr>
              <a:t>the learner owns it outright.</a:t>
            </a:r>
          </a:p>
          <a:p>
            <a:pPr>
              <a:spcBef>
                <a:spcPts val="200"/>
              </a:spcBef>
              <a:spcAft>
                <a:spcPts val="200"/>
              </a:spcAft>
            </a:pPr>
            <a:r>
              <a:rPr sz="2000" b="1" i="0" dirty="0">
                <a:solidFill>
                  <a:srgbClr val="7A1E2B"/>
                </a:solidFill>
                <a:latin typeface="Calibri" panose="020F0502020204030204"/>
              </a:rPr>
              <a:t>Full-stack in one project</a:t>
            </a:r>
          </a:p>
          <a:p>
            <a:pPr>
              <a:spcBef>
                <a:spcPts val="0"/>
              </a:spcBef>
              <a:spcAft>
                <a:spcPts val="1000"/>
              </a:spcAft>
            </a:pPr>
            <a:r>
              <a:rPr b="1" i="0" dirty="0">
                <a:solidFill>
                  <a:srgbClr val="8A5814"/>
                </a:solidFill>
                <a:latin typeface="Calibri" panose="020F0502020204030204"/>
              </a:rPr>
              <a:t>   –  </a:t>
            </a:r>
            <a:r>
              <a:rPr b="0" i="0" dirty="0">
                <a:solidFill>
                  <a:srgbClr val="2B2B2B"/>
                </a:solidFill>
                <a:latin typeface="Calibri" panose="020F0502020204030204"/>
              </a:rPr>
              <a:t>Training (machine learning) → fixed-point export (numerical methods) → RTL synthesis (digital design).</a:t>
            </a:r>
          </a:p>
          <a:p>
            <a:pPr>
              <a:spcBef>
                <a:spcPts val="200"/>
              </a:spcBef>
              <a:spcAft>
                <a:spcPts val="200"/>
              </a:spcAft>
            </a:pPr>
            <a:r>
              <a:rPr sz="2000" b="1" i="0" dirty="0">
                <a:solidFill>
                  <a:srgbClr val="7A1E2B"/>
                </a:solidFill>
                <a:latin typeface="Calibri" panose="020F0502020204030204"/>
              </a:rPr>
              <a:t>Verifiable by design</a:t>
            </a:r>
          </a:p>
          <a:p>
            <a:pPr>
              <a:spcBef>
                <a:spcPts val="0"/>
              </a:spcBef>
              <a:spcAft>
                <a:spcPts val="1000"/>
              </a:spcAft>
            </a:pPr>
            <a:r>
              <a:rPr b="1" i="0" dirty="0">
                <a:solidFill>
                  <a:srgbClr val="8A5814"/>
                </a:solidFill>
                <a:latin typeface="Calibri" panose="020F0502020204030204"/>
              </a:rPr>
              <a:t>   –  </a:t>
            </a:r>
            <a:r>
              <a:rPr b="0" i="0" dirty="0">
                <a:solidFill>
                  <a:srgbClr val="2B2B2B"/>
                </a:solidFill>
                <a:latin typeface="Calibri" panose="020F0502020204030204"/>
              </a:rPr>
              <a:t>An on-device self-test proves the hardware reproduces the software model, bit-for-bit.</a:t>
            </a:r>
          </a:p>
        </p:txBody>
      </p:sp>
      <p:sp>
        <p:nvSpPr>
          <p:cNvPr id="5" name="Rounded Rectangle 4"/>
          <p:cNvSpPr/>
          <p:nvPr/>
        </p:nvSpPr>
        <p:spPr>
          <a:xfrm>
            <a:off x="5422392" y="5029200"/>
            <a:ext cx="6144768" cy="731520"/>
          </a:xfrm>
          <a:prstGeom prst="roundRect">
            <a:avLst>
              <a:gd name="adj" fmla="val 12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100"/>
              </a:spcAft>
            </a:pPr>
            <a:r>
              <a:rPr sz="2000" b="0" i="0" dirty="0">
                <a:solidFill>
                  <a:srgbClr val="355274"/>
                </a:solidFill>
                <a:latin typeface="Calibri" panose="020F0502020204030204"/>
              </a:rPr>
              <a:t>Design-based research: an artifact built to be reproduced on a student's own desk.</a:t>
            </a:r>
          </a:p>
        </p:txBody>
      </p:sp>
      <p:pic>
        <p:nvPicPr>
          <p:cNvPr id="7" name="Picture 6"/>
          <p:cNvPicPr>
            <a:picLocks noChangeAspect="1"/>
          </p:cNvPicPr>
          <p:nvPr/>
        </p:nvPicPr>
        <p:blipFill>
          <a:blip r:embed="rId3"/>
          <a:srcRect l="6311" t="6933" r="6623" b="16000"/>
          <a:stretch>
            <a:fillRect/>
          </a:stretch>
        </p:blipFill>
        <p:spPr>
          <a:xfrm>
            <a:off x="219456" y="1444752"/>
            <a:ext cx="4875998" cy="4315968"/>
          </a:xfrm>
          <a:prstGeom prst="rect">
            <a:avLst/>
          </a:prstGeom>
        </p:spPr>
      </p:pic>
      <p:sp>
        <p:nvSpPr>
          <p:cNvPr id="6" name="TextBox 5"/>
          <p:cNvSpPr txBox="1"/>
          <p:nvPr/>
        </p:nvSpPr>
        <p:spPr>
          <a:xfrm>
            <a:off x="481584" y="5837625"/>
            <a:ext cx="5480304" cy="221599"/>
          </a:xfrm>
          <a:prstGeom prst="rect">
            <a:avLst/>
          </a:prstGeom>
          <a:noFill/>
        </p:spPr>
        <p:txBody>
          <a:bodyPr wrap="square" lIns="45720" tIns="18288" rIns="45720" bIns="18288" anchor="t">
            <a:spAutoFit/>
          </a:bodyPr>
          <a:lstStyle/>
          <a:p>
            <a:r>
              <a:rPr lang="en-US" sz="1200" i="1" dirty="0">
                <a:solidFill>
                  <a:srgbClr val="666666"/>
                </a:solidFill>
                <a:latin typeface="Calibri" panose="020F0502020204030204"/>
              </a:rPr>
              <a:t>Figure 1</a:t>
            </a:r>
            <a:r>
              <a:rPr sz="1200" b="0" i="1" dirty="0">
                <a:solidFill>
                  <a:srgbClr val="666666"/>
                </a:solidFill>
                <a:latin typeface="Calibri" panose="020F0502020204030204"/>
              </a:rPr>
              <a:t> —</a:t>
            </a:r>
            <a:r>
              <a:rPr lang="en-US" sz="1200" b="0" i="1" dirty="0">
                <a:solidFill>
                  <a:srgbClr val="666666"/>
                </a:solidFill>
                <a:latin typeface="Calibri" panose="020F0502020204030204"/>
              </a:rPr>
              <a:t> </a:t>
            </a:r>
            <a:r>
              <a:rPr lang="en-US" sz="1200" b="0" i="1" dirty="0" err="1">
                <a:solidFill>
                  <a:srgbClr val="666666"/>
                </a:solidFill>
                <a:latin typeface="Calibri" panose="020F0502020204030204"/>
              </a:rPr>
              <a:t>Nexys</a:t>
            </a:r>
            <a:r>
              <a:rPr lang="en-US" sz="1200" b="0" i="1" dirty="0">
                <a:solidFill>
                  <a:srgbClr val="666666"/>
                </a:solidFill>
                <a:latin typeface="Calibri" panose="020F0502020204030204"/>
              </a:rPr>
              <a:t> A7 AMD Xilinx </a:t>
            </a:r>
            <a:r>
              <a:rPr lang="en-US" sz="1200" b="0" i="1" dirty="0" err="1">
                <a:solidFill>
                  <a:srgbClr val="666666"/>
                </a:solidFill>
                <a:latin typeface="Calibri" panose="020F0502020204030204"/>
              </a:rPr>
              <a:t>Artix</a:t>
            </a:r>
            <a:r>
              <a:rPr lang="en-US" sz="1200" b="0" i="1" dirty="0">
                <a:solidFill>
                  <a:srgbClr val="666666"/>
                </a:solidFill>
                <a:latin typeface="Calibri" panose="020F0502020204030204"/>
              </a:rPr>
              <a:t> 7 FPGA (Mid range balanced performance FPGA)</a:t>
            </a:r>
            <a:endParaRPr sz="1200" b="1" i="1" dirty="0">
              <a:solidFill>
                <a:srgbClr val="7A1E2B"/>
              </a:solidFill>
              <a:latin typeface="Calibri" panose="020F0502020204030204"/>
            </a:endParaRPr>
          </a:p>
        </p:txBody>
      </p:sp>
      <p:sp>
        <p:nvSpPr>
          <p:cNvPr id="8" name="TextBox 7"/>
          <p:cNvSpPr txBox="1"/>
          <p:nvPr/>
        </p:nvSpPr>
        <p:spPr>
          <a:xfrm>
            <a:off x="11768328" y="5985748"/>
            <a:ext cx="246888" cy="369332"/>
          </a:xfrm>
          <a:prstGeom prst="rect">
            <a:avLst/>
          </a:prstGeom>
          <a:noFill/>
        </p:spPr>
        <p:txBody>
          <a:bodyPr wrap="square" rtlCol="0">
            <a:spAutoFit/>
          </a:bodyPr>
          <a:lstStyle/>
          <a:p>
            <a:r>
              <a:rPr lang="en-US"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192" y="284798"/>
            <a:ext cx="10515600" cy="846455"/>
          </a:xfrm>
        </p:spPr>
        <p:txBody>
          <a:bodyPr wrap="square">
            <a:normAutofit fontScale="90000"/>
          </a:bodyPr>
          <a:lstStyle/>
          <a:p>
            <a:r>
              <a:rPr sz="3600" b="1" dirty="0">
                <a:solidFill>
                  <a:srgbClr val="7A1E2B"/>
                </a:solidFill>
                <a:latin typeface="Calibri" panose="020F0502020204030204"/>
              </a:rPr>
              <a:t>One pipeline: from trained model to verified hardware</a:t>
            </a:r>
          </a:p>
        </p:txBody>
      </p:sp>
      <p:sp>
        <p:nvSpPr>
          <p:cNvPr id="3" name="TextBox 2"/>
          <p:cNvSpPr txBox="1"/>
          <p:nvPr/>
        </p:nvSpPr>
        <p:spPr>
          <a:xfrm>
            <a:off x="502920" y="1102495"/>
            <a:ext cx="3200400" cy="344710"/>
          </a:xfrm>
          <a:prstGeom prst="rect">
            <a:avLst/>
          </a:prstGeom>
          <a:noFill/>
        </p:spPr>
        <p:txBody>
          <a:bodyPr wrap="square" lIns="45720" tIns="18288" rIns="45720" bIns="18288" anchor="t">
            <a:spAutoFit/>
          </a:bodyPr>
          <a:lstStyle/>
          <a:p>
            <a:r>
              <a:rPr sz="2000" b="1" i="0" dirty="0">
                <a:solidFill>
                  <a:srgbClr val="355274"/>
                </a:solidFill>
                <a:latin typeface="Calibri" panose="020F0502020204030204"/>
              </a:rPr>
              <a:t>SOFTWARE DOMAIN</a:t>
            </a:r>
          </a:p>
        </p:txBody>
      </p:sp>
      <p:sp>
        <p:nvSpPr>
          <p:cNvPr id="4" name="TextBox 3"/>
          <p:cNvSpPr txBox="1"/>
          <p:nvPr/>
        </p:nvSpPr>
        <p:spPr>
          <a:xfrm>
            <a:off x="624840" y="3886200"/>
            <a:ext cx="2880360" cy="344710"/>
          </a:xfrm>
          <a:prstGeom prst="rect">
            <a:avLst/>
          </a:prstGeom>
          <a:noFill/>
        </p:spPr>
        <p:txBody>
          <a:bodyPr wrap="square" lIns="45720" tIns="18288" rIns="45720" bIns="18288" anchor="t">
            <a:spAutoFit/>
          </a:bodyPr>
          <a:lstStyle/>
          <a:p>
            <a:r>
              <a:rPr sz="2000" b="1" i="0" dirty="0">
                <a:solidFill>
                  <a:srgbClr val="8A5814"/>
                </a:solidFill>
                <a:latin typeface="Calibri" panose="020F0502020204030204"/>
              </a:rPr>
              <a:t>HARDWARE DOMAIN</a:t>
            </a:r>
          </a:p>
        </p:txBody>
      </p:sp>
      <p:sp>
        <p:nvSpPr>
          <p:cNvPr id="5" name="Rounded Rectangle 4"/>
          <p:cNvSpPr/>
          <p:nvPr/>
        </p:nvSpPr>
        <p:spPr>
          <a:xfrm>
            <a:off x="502920" y="1691640"/>
            <a:ext cx="2331720" cy="914400"/>
          </a:xfrm>
          <a:prstGeom prst="roundRect">
            <a:avLst>
              <a:gd name="adj" fmla="val 10000"/>
            </a:avLst>
          </a:prstGeom>
          <a:solidFill>
            <a:srgbClr val="E9EFF6"/>
          </a:solidFill>
          <a:ln w="15875">
            <a:solidFill>
              <a:srgbClr val="355274"/>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000" b="1" i="0" dirty="0">
                <a:solidFill>
                  <a:srgbClr val="355274"/>
                </a:solidFill>
                <a:latin typeface="Calibri" panose="020F0502020204030204"/>
              </a:rPr>
              <a:t>Train in </a:t>
            </a:r>
            <a:r>
              <a:rPr sz="2000" b="1" i="0" dirty="0" err="1">
                <a:solidFill>
                  <a:srgbClr val="355274"/>
                </a:solidFill>
                <a:latin typeface="Calibri" panose="020F0502020204030204"/>
              </a:rPr>
              <a:t>PyTorch</a:t>
            </a:r>
            <a:endParaRPr sz="2000" b="1" i="0" dirty="0">
              <a:solidFill>
                <a:srgbClr val="355274"/>
              </a:solidFill>
              <a:latin typeface="Calibri" panose="020F0502020204030204"/>
            </a:endParaRPr>
          </a:p>
          <a:p>
            <a:pPr algn="ctr">
              <a:spcBef>
                <a:spcPts val="0"/>
              </a:spcBef>
              <a:spcAft>
                <a:spcPts val="100"/>
              </a:spcAft>
            </a:pPr>
            <a:r>
              <a:rPr b="0" i="0" dirty="0">
                <a:solidFill>
                  <a:srgbClr val="2B2B2B"/>
                </a:solidFill>
                <a:latin typeface="Calibri" panose="020F0502020204030204"/>
              </a:rPr>
              <a:t>15-stage LISTA denoiser</a:t>
            </a:r>
          </a:p>
        </p:txBody>
      </p:sp>
      <p:sp>
        <p:nvSpPr>
          <p:cNvPr id="6" name="Rounded Rectangle 5"/>
          <p:cNvSpPr/>
          <p:nvPr/>
        </p:nvSpPr>
        <p:spPr>
          <a:xfrm>
            <a:off x="3154680" y="1691640"/>
            <a:ext cx="2331720" cy="914400"/>
          </a:xfrm>
          <a:prstGeom prst="roundRect">
            <a:avLst>
              <a:gd name="adj" fmla="val 10000"/>
            </a:avLst>
          </a:prstGeom>
          <a:solidFill>
            <a:srgbClr val="E9EFF6"/>
          </a:solidFill>
          <a:ln w="15875">
            <a:solidFill>
              <a:srgbClr val="355274"/>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000" b="1" i="0" dirty="0">
                <a:solidFill>
                  <a:srgbClr val="355274"/>
                </a:solidFill>
                <a:latin typeface="Calibri" panose="020F0502020204030204"/>
              </a:rPr>
              <a:t>Quantize</a:t>
            </a:r>
          </a:p>
          <a:p>
            <a:pPr algn="ctr">
              <a:spcBef>
                <a:spcPts val="0"/>
              </a:spcBef>
              <a:spcAft>
                <a:spcPts val="100"/>
              </a:spcAft>
            </a:pPr>
            <a:r>
              <a:rPr b="0" i="0" dirty="0">
                <a:solidFill>
                  <a:srgbClr val="2B2B2B"/>
                </a:solidFill>
                <a:latin typeface="Calibri" panose="020F0502020204030204"/>
              </a:rPr>
              <a:t>float → fixed-point </a:t>
            </a:r>
            <a:br>
              <a:rPr lang="en-US" b="0" i="0" dirty="0">
                <a:solidFill>
                  <a:srgbClr val="2B2B2B"/>
                </a:solidFill>
                <a:latin typeface="Calibri" panose="020F0502020204030204"/>
              </a:rPr>
            </a:br>
            <a:r>
              <a:rPr b="0" i="0" dirty="0">
                <a:solidFill>
                  <a:srgbClr val="2B2B2B"/>
                </a:solidFill>
                <a:latin typeface="Calibri" panose="020F0502020204030204"/>
              </a:rPr>
              <a:t>(Q </a:t>
            </a:r>
            <a:r>
              <a:rPr b="0" i="0" dirty="0" err="1">
                <a:solidFill>
                  <a:srgbClr val="2B2B2B"/>
                </a:solidFill>
                <a:latin typeface="Calibri" panose="020F0502020204030204"/>
              </a:rPr>
              <a:t>m.n</a:t>
            </a:r>
            <a:r>
              <a:rPr b="0" i="0" dirty="0">
                <a:solidFill>
                  <a:srgbClr val="2B2B2B"/>
                </a:solidFill>
                <a:latin typeface="Calibri" panose="020F0502020204030204"/>
              </a:rPr>
              <a:t>)</a:t>
            </a:r>
          </a:p>
        </p:txBody>
      </p:sp>
      <p:sp>
        <p:nvSpPr>
          <p:cNvPr id="7" name="Rounded Rectangle 6"/>
          <p:cNvSpPr/>
          <p:nvPr/>
        </p:nvSpPr>
        <p:spPr>
          <a:xfrm>
            <a:off x="5806440" y="1691640"/>
            <a:ext cx="2331720" cy="914400"/>
          </a:xfrm>
          <a:prstGeom prst="roundRect">
            <a:avLst>
              <a:gd name="adj" fmla="val 10000"/>
            </a:avLst>
          </a:prstGeom>
          <a:solidFill>
            <a:srgbClr val="E9EFF6"/>
          </a:solidFill>
          <a:ln w="15875">
            <a:solidFill>
              <a:srgbClr val="355274"/>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000" b="1" i="0" dirty="0">
                <a:solidFill>
                  <a:srgbClr val="355274"/>
                </a:solidFill>
                <a:latin typeface="Calibri" panose="020F0502020204030204"/>
              </a:rPr>
              <a:t>Software golden model</a:t>
            </a:r>
          </a:p>
          <a:p>
            <a:pPr algn="ctr">
              <a:spcBef>
                <a:spcPts val="0"/>
              </a:spcBef>
              <a:spcAft>
                <a:spcPts val="100"/>
              </a:spcAft>
            </a:pPr>
            <a:r>
              <a:rPr b="0" i="0" dirty="0">
                <a:solidFill>
                  <a:srgbClr val="2B2B2B"/>
                </a:solidFill>
                <a:latin typeface="Calibri" panose="020F0502020204030204"/>
              </a:rPr>
              <a:t>exact integer outputs</a:t>
            </a:r>
          </a:p>
        </p:txBody>
      </p:sp>
      <p:sp>
        <p:nvSpPr>
          <p:cNvPr id="8" name="Right Arrow 7"/>
          <p:cNvSpPr/>
          <p:nvPr/>
        </p:nvSpPr>
        <p:spPr>
          <a:xfrm>
            <a:off x="2834641" y="1965960"/>
            <a:ext cx="320040" cy="365760"/>
          </a:xfrm>
          <a:prstGeom prst="rightArrow">
            <a:avLst/>
          </a:prstGeom>
          <a:solidFill>
            <a:srgbClr val="35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5486400" y="1965960"/>
            <a:ext cx="310896" cy="365760"/>
          </a:xfrm>
          <a:prstGeom prst="rightArrow">
            <a:avLst/>
          </a:prstGeom>
          <a:solidFill>
            <a:srgbClr val="35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154680" y="3566160"/>
            <a:ext cx="2331720" cy="914400"/>
          </a:xfrm>
          <a:prstGeom prst="roundRect">
            <a:avLst>
              <a:gd name="adj" fmla="val 10000"/>
            </a:avLst>
          </a:prstGeom>
          <a:solidFill>
            <a:srgbClr val="F6ECDB"/>
          </a:solidFill>
          <a:ln w="15875">
            <a:solidFill>
              <a:srgbClr val="BE7C26"/>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400" b="1" i="0" dirty="0">
                <a:solidFill>
                  <a:srgbClr val="8A5814"/>
                </a:solidFill>
                <a:latin typeface="Calibri" panose="020F0502020204030204"/>
              </a:rPr>
              <a:t>Write RTL (Verilog)</a:t>
            </a:r>
          </a:p>
        </p:txBody>
      </p:sp>
      <p:sp>
        <p:nvSpPr>
          <p:cNvPr id="11" name="Rounded Rectangle 10"/>
          <p:cNvSpPr/>
          <p:nvPr/>
        </p:nvSpPr>
        <p:spPr>
          <a:xfrm>
            <a:off x="5806440" y="3566160"/>
            <a:ext cx="2331720" cy="914400"/>
          </a:xfrm>
          <a:prstGeom prst="roundRect">
            <a:avLst>
              <a:gd name="adj" fmla="val 10000"/>
            </a:avLst>
          </a:prstGeom>
          <a:solidFill>
            <a:srgbClr val="F6ECDB"/>
          </a:solidFill>
          <a:ln w="15875">
            <a:solidFill>
              <a:srgbClr val="BE7C26"/>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b="1" i="0" dirty="0">
                <a:solidFill>
                  <a:srgbClr val="8A5814"/>
                </a:solidFill>
                <a:latin typeface="Calibri" panose="020F0502020204030204"/>
              </a:rPr>
              <a:t>Synthesize → run on FPGA</a:t>
            </a:r>
          </a:p>
          <a:p>
            <a:pPr algn="ctr">
              <a:spcBef>
                <a:spcPts val="0"/>
              </a:spcBef>
              <a:spcAft>
                <a:spcPts val="100"/>
              </a:spcAft>
            </a:pPr>
            <a:r>
              <a:rPr sz="1600" b="0" i="0" dirty="0" err="1">
                <a:solidFill>
                  <a:srgbClr val="2B2B2B"/>
                </a:solidFill>
                <a:latin typeface="Calibri" panose="020F0502020204030204"/>
              </a:rPr>
              <a:t>Nexys</a:t>
            </a:r>
            <a:r>
              <a:rPr sz="1600" b="0" i="0" dirty="0">
                <a:solidFill>
                  <a:srgbClr val="2B2B2B"/>
                </a:solidFill>
                <a:latin typeface="Calibri" panose="020F0502020204030204"/>
              </a:rPr>
              <a:t> A7-100T</a:t>
            </a:r>
          </a:p>
        </p:txBody>
      </p:sp>
      <p:sp>
        <p:nvSpPr>
          <p:cNvPr id="12" name="Down Arrow 11"/>
          <p:cNvSpPr/>
          <p:nvPr/>
        </p:nvSpPr>
        <p:spPr>
          <a:xfrm>
            <a:off x="4142232" y="2697480"/>
            <a:ext cx="310896" cy="777240"/>
          </a:xfrm>
          <a:prstGeom prst="downArrow">
            <a:avLst/>
          </a:prstGeom>
          <a:solidFill>
            <a:srgbClr val="8A5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2788920"/>
            <a:ext cx="2103120" cy="529376"/>
          </a:xfrm>
          <a:prstGeom prst="rect">
            <a:avLst/>
          </a:prstGeom>
          <a:noFill/>
        </p:spPr>
        <p:txBody>
          <a:bodyPr wrap="square" lIns="45720" tIns="18288" rIns="45720" bIns="18288" anchor="t">
            <a:spAutoFit/>
          </a:bodyPr>
          <a:lstStyle/>
          <a:p>
            <a:r>
              <a:rPr sz="1600" b="0" i="1" dirty="0">
                <a:solidFill>
                  <a:srgbClr val="666666"/>
                </a:solidFill>
                <a:latin typeface="Calibri" panose="020F0502020204030204"/>
              </a:rPr>
              <a:t>same fixed-point</a:t>
            </a:r>
          </a:p>
          <a:p>
            <a:r>
              <a:rPr sz="1600" b="0" i="1" dirty="0">
                <a:solidFill>
                  <a:srgbClr val="666666"/>
                </a:solidFill>
                <a:latin typeface="Calibri" panose="020F0502020204030204"/>
              </a:rPr>
              <a:t>specification</a:t>
            </a:r>
          </a:p>
        </p:txBody>
      </p:sp>
      <p:sp>
        <p:nvSpPr>
          <p:cNvPr id="14" name="Right Arrow 13"/>
          <p:cNvSpPr/>
          <p:nvPr/>
        </p:nvSpPr>
        <p:spPr>
          <a:xfrm>
            <a:off x="5495544" y="3840480"/>
            <a:ext cx="310896" cy="365760"/>
          </a:xfrm>
          <a:prstGeom prst="rightArrow">
            <a:avLst/>
          </a:prstGeom>
          <a:solidFill>
            <a:srgbClr val="BE7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808720" y="1920240"/>
            <a:ext cx="2880360" cy="2450592"/>
          </a:xfrm>
          <a:prstGeom prst="roundRect">
            <a:avLst>
              <a:gd name="adj" fmla="val 7000"/>
            </a:avLst>
          </a:prstGeom>
          <a:solidFill>
            <a:srgbClr val="7A1E2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400" b="1" i="0" dirty="0">
                <a:solidFill>
                  <a:srgbClr val="FFFFFF"/>
                </a:solidFill>
                <a:latin typeface="Calibri" panose="020F0502020204030204"/>
              </a:rPr>
              <a:t>On-device self-test</a:t>
            </a:r>
          </a:p>
          <a:p>
            <a:pPr algn="ctr">
              <a:spcBef>
                <a:spcPts val="0"/>
              </a:spcBef>
              <a:spcAft>
                <a:spcPts val="100"/>
              </a:spcAft>
            </a:pPr>
            <a:r>
              <a:rPr sz="2800" b="1" i="0" dirty="0">
                <a:solidFill>
                  <a:srgbClr val="FFD98A"/>
                </a:solidFill>
                <a:latin typeface="Calibri" panose="020F0502020204030204"/>
              </a:rPr>
              <a:t>BIT-EXACT</a:t>
            </a:r>
          </a:p>
          <a:p>
            <a:pPr algn="ctr">
              <a:spcBef>
                <a:spcPts val="0"/>
              </a:spcBef>
              <a:spcAft>
                <a:spcPts val="100"/>
              </a:spcAft>
            </a:pPr>
            <a:r>
              <a:rPr sz="2000" b="0" i="0" dirty="0">
                <a:solidFill>
                  <a:srgbClr val="FFFFFF"/>
                </a:solidFill>
                <a:latin typeface="Calibri" panose="020F0502020204030204"/>
              </a:rPr>
              <a:t>equivalence check</a:t>
            </a:r>
          </a:p>
        </p:txBody>
      </p:sp>
      <p:sp>
        <p:nvSpPr>
          <p:cNvPr id="16" name="Right Arrow 15"/>
          <p:cNvSpPr/>
          <p:nvPr/>
        </p:nvSpPr>
        <p:spPr>
          <a:xfrm>
            <a:off x="8138160" y="2043684"/>
            <a:ext cx="637033" cy="310896"/>
          </a:xfrm>
          <a:prstGeom prst="rightArrow">
            <a:avLst/>
          </a:prstGeom>
          <a:solidFill>
            <a:srgbClr val="35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8171687" y="3886200"/>
            <a:ext cx="603506" cy="310896"/>
          </a:xfrm>
          <a:prstGeom prst="rightArrow">
            <a:avLst/>
          </a:prstGeom>
          <a:solidFill>
            <a:srgbClr val="BE7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808720" y="4937760"/>
            <a:ext cx="2880360" cy="777240"/>
          </a:xfrm>
          <a:prstGeom prst="roundRect">
            <a:avLst>
              <a:gd name="adj" fmla="val 12000"/>
            </a:avLst>
          </a:prstGeom>
          <a:solidFill>
            <a:srgbClr val="2E704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000" b="1" i="0" dirty="0">
                <a:solidFill>
                  <a:srgbClr val="FFFFFF"/>
                </a:solidFill>
                <a:latin typeface="Calibri" panose="020F0502020204030204"/>
              </a:rPr>
              <a:t>✓  Verified hardware → live demo</a:t>
            </a:r>
          </a:p>
        </p:txBody>
      </p:sp>
      <p:sp>
        <p:nvSpPr>
          <p:cNvPr id="19" name="Down Arrow 18"/>
          <p:cNvSpPr/>
          <p:nvPr/>
        </p:nvSpPr>
        <p:spPr>
          <a:xfrm>
            <a:off x="10093452" y="4425696"/>
            <a:ext cx="310896" cy="512064"/>
          </a:xfrm>
          <a:prstGeom prst="downArrow">
            <a:avLst/>
          </a:prstGeom>
          <a:solidFill>
            <a:srgbClr val="2E7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5440680"/>
            <a:ext cx="7863840" cy="590931"/>
          </a:xfrm>
          <a:prstGeom prst="rect">
            <a:avLst/>
          </a:prstGeom>
          <a:noFill/>
        </p:spPr>
        <p:txBody>
          <a:bodyPr wrap="square" lIns="45720" tIns="18288" rIns="45720" bIns="18288" anchor="t">
            <a:spAutoFit/>
          </a:bodyPr>
          <a:lstStyle/>
          <a:p>
            <a:r>
              <a:rPr b="0" i="1" dirty="0">
                <a:solidFill>
                  <a:srgbClr val="666666"/>
                </a:solidFill>
                <a:latin typeface="Calibri" panose="020F0502020204030204"/>
              </a:rPr>
              <a:t>A software reference and an on-device self-test confirm the hardware is exactly right — the same fixed-point specification drives both paths.</a:t>
            </a:r>
          </a:p>
        </p:txBody>
      </p:sp>
      <p:sp>
        <p:nvSpPr>
          <p:cNvPr id="22" name="TextBox 21"/>
          <p:cNvSpPr txBox="1"/>
          <p:nvPr/>
        </p:nvSpPr>
        <p:spPr>
          <a:xfrm>
            <a:off x="11768328" y="5985748"/>
            <a:ext cx="246888" cy="369332"/>
          </a:xfrm>
          <a:prstGeom prst="rect">
            <a:avLst/>
          </a:prstGeom>
          <a:noFill/>
        </p:spPr>
        <p:txBody>
          <a:bodyPr wrap="square" rtlCol="0">
            <a:spAutoFit/>
          </a:bodyPr>
          <a:lstStyle/>
          <a:p>
            <a:r>
              <a:rPr lang="en-US"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768" y="171131"/>
            <a:ext cx="10515600" cy="846455"/>
          </a:xfrm>
        </p:spPr>
        <p:txBody>
          <a:bodyPr wrap="square">
            <a:normAutofit/>
          </a:bodyPr>
          <a:lstStyle/>
          <a:p>
            <a:r>
              <a:rPr b="1" dirty="0">
                <a:solidFill>
                  <a:srgbClr val="7A1E2B"/>
                </a:solidFill>
                <a:latin typeface="Calibri" panose="020F0502020204030204"/>
              </a:rPr>
              <a:t>Bit-exact verification — the heart of the idea</a:t>
            </a:r>
          </a:p>
        </p:txBody>
      </p:sp>
      <p:sp>
        <p:nvSpPr>
          <p:cNvPr id="3" name="TextBox 2"/>
          <p:cNvSpPr txBox="1"/>
          <p:nvPr/>
        </p:nvSpPr>
        <p:spPr>
          <a:xfrm>
            <a:off x="640080" y="1164049"/>
            <a:ext cx="10972800" cy="344710"/>
          </a:xfrm>
          <a:prstGeom prst="rect">
            <a:avLst/>
          </a:prstGeom>
          <a:noFill/>
        </p:spPr>
        <p:txBody>
          <a:bodyPr wrap="square" lIns="45720" tIns="18288" rIns="45720" bIns="18288" anchor="t">
            <a:spAutoFit/>
          </a:bodyPr>
          <a:lstStyle/>
          <a:p>
            <a:r>
              <a:rPr sz="2000" b="0" i="0" dirty="0">
                <a:solidFill>
                  <a:srgbClr val="2B2B2B"/>
                </a:solidFill>
                <a:latin typeface="Calibri" panose="020F0502020204030204"/>
              </a:rPr>
              <a:t>A software “golden model” computes the exact integer result the hardware should produce.</a:t>
            </a:r>
          </a:p>
        </p:txBody>
      </p:sp>
      <p:sp>
        <p:nvSpPr>
          <p:cNvPr id="4" name="Rounded Rectangle 3"/>
          <p:cNvSpPr/>
          <p:nvPr/>
        </p:nvSpPr>
        <p:spPr>
          <a:xfrm>
            <a:off x="640080" y="1965960"/>
            <a:ext cx="2880360" cy="914400"/>
          </a:xfrm>
          <a:prstGeom prst="roundRect">
            <a:avLst>
              <a:gd name="adj" fmla="val 10000"/>
            </a:avLst>
          </a:prstGeom>
          <a:solidFill>
            <a:srgbClr val="E9EFF6"/>
          </a:solidFill>
          <a:ln w="15875">
            <a:solidFill>
              <a:srgbClr val="355274"/>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000" b="1" i="0" dirty="0">
                <a:solidFill>
                  <a:srgbClr val="355274"/>
                </a:solidFill>
                <a:latin typeface="Calibri" panose="020F0502020204030204"/>
              </a:rPr>
              <a:t>Software golden model</a:t>
            </a:r>
          </a:p>
          <a:p>
            <a:pPr algn="ctr">
              <a:spcBef>
                <a:spcPts val="0"/>
              </a:spcBef>
              <a:spcAft>
                <a:spcPts val="100"/>
              </a:spcAft>
            </a:pPr>
            <a:r>
              <a:rPr b="0" i="0" dirty="0">
                <a:solidFill>
                  <a:srgbClr val="2B2B2B"/>
                </a:solidFill>
                <a:latin typeface="Calibri" panose="020F0502020204030204"/>
              </a:rPr>
              <a:t>exact integer result</a:t>
            </a:r>
          </a:p>
        </p:txBody>
      </p:sp>
      <p:sp>
        <p:nvSpPr>
          <p:cNvPr id="5" name="Rounded Rectangle 4"/>
          <p:cNvSpPr/>
          <p:nvPr/>
        </p:nvSpPr>
        <p:spPr>
          <a:xfrm>
            <a:off x="640080" y="3429000"/>
            <a:ext cx="2880360" cy="914400"/>
          </a:xfrm>
          <a:prstGeom prst="roundRect">
            <a:avLst>
              <a:gd name="adj" fmla="val 10000"/>
            </a:avLst>
          </a:prstGeom>
          <a:solidFill>
            <a:srgbClr val="F6ECDB"/>
          </a:solidFill>
          <a:ln w="15875">
            <a:solidFill>
              <a:srgbClr val="BE7C26"/>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400" b="1" i="0" dirty="0">
                <a:solidFill>
                  <a:srgbClr val="8A5814"/>
                </a:solidFill>
                <a:latin typeface="Calibri" panose="020F0502020204030204"/>
              </a:rPr>
              <a:t>FPGA output</a:t>
            </a:r>
          </a:p>
          <a:p>
            <a:pPr algn="ctr">
              <a:spcBef>
                <a:spcPts val="0"/>
              </a:spcBef>
              <a:spcAft>
                <a:spcPts val="100"/>
              </a:spcAft>
            </a:pPr>
            <a:r>
              <a:rPr sz="2000" b="0" i="0" dirty="0">
                <a:solidFill>
                  <a:srgbClr val="2B2B2B"/>
                </a:solidFill>
                <a:latin typeface="Calibri" panose="020F0502020204030204"/>
              </a:rPr>
              <a:t>on real silicon</a:t>
            </a:r>
          </a:p>
        </p:txBody>
      </p:sp>
      <p:sp>
        <p:nvSpPr>
          <p:cNvPr id="6" name="Rounded Rectangle 5"/>
          <p:cNvSpPr/>
          <p:nvPr/>
        </p:nvSpPr>
        <p:spPr>
          <a:xfrm>
            <a:off x="4069080" y="2078290"/>
            <a:ext cx="2148840" cy="2265110"/>
          </a:xfrm>
          <a:prstGeom prst="roundRect">
            <a:avLst>
              <a:gd name="adj" fmla="val 8000"/>
            </a:avLst>
          </a:prstGeom>
          <a:solidFill>
            <a:srgbClr val="7A1E2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3200" b="1" i="0" dirty="0">
                <a:solidFill>
                  <a:srgbClr val="FFFFFF"/>
                </a:solidFill>
                <a:latin typeface="Calibri" panose="020F0502020204030204"/>
              </a:rPr>
              <a:t>Compare</a:t>
            </a:r>
          </a:p>
          <a:p>
            <a:pPr algn="ctr">
              <a:spcBef>
                <a:spcPts val="0"/>
              </a:spcBef>
              <a:spcAft>
                <a:spcPts val="100"/>
              </a:spcAft>
            </a:pPr>
            <a:r>
              <a:rPr sz="2800" b="0" i="0" dirty="0">
                <a:solidFill>
                  <a:srgbClr val="FFD98A"/>
                </a:solidFill>
                <a:latin typeface="Calibri" panose="020F0502020204030204"/>
              </a:rPr>
              <a:t>bit-for-bit</a:t>
            </a:r>
          </a:p>
        </p:txBody>
      </p:sp>
      <p:sp>
        <p:nvSpPr>
          <p:cNvPr id="7" name="Right Arrow 6"/>
          <p:cNvSpPr/>
          <p:nvPr/>
        </p:nvSpPr>
        <p:spPr>
          <a:xfrm>
            <a:off x="3538728" y="2514600"/>
            <a:ext cx="502920" cy="310896"/>
          </a:xfrm>
          <a:prstGeom prst="rightArrow">
            <a:avLst/>
          </a:prstGeom>
          <a:solidFill>
            <a:srgbClr val="3552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Arrow 7"/>
          <p:cNvSpPr/>
          <p:nvPr/>
        </p:nvSpPr>
        <p:spPr>
          <a:xfrm>
            <a:off x="3538728" y="3566160"/>
            <a:ext cx="502920" cy="310896"/>
          </a:xfrm>
          <a:prstGeom prst="rightArrow">
            <a:avLst/>
          </a:prstGeom>
          <a:solidFill>
            <a:srgbClr val="BE7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12280" y="1874519"/>
            <a:ext cx="4754880" cy="1234440"/>
          </a:xfrm>
          <a:prstGeom prst="roundRect">
            <a:avLst>
              <a:gd name="adj" fmla="val 8000"/>
            </a:avLst>
          </a:prstGeom>
          <a:solidFill>
            <a:srgbClr val="E7F1EA"/>
          </a:solidFill>
          <a:ln w="15875">
            <a:solidFill>
              <a:srgbClr val="2E7046"/>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i="0" dirty="0">
                <a:solidFill>
                  <a:srgbClr val="2E7046"/>
                </a:solidFill>
                <a:latin typeface="Calibri" panose="020F0502020204030204"/>
              </a:rPr>
              <a:t>✓  MATCH</a:t>
            </a:r>
          </a:p>
          <a:p>
            <a:r>
              <a:rPr b="0" i="0" dirty="0">
                <a:solidFill>
                  <a:srgbClr val="2B2B2B"/>
                </a:solidFill>
                <a:latin typeface="Calibri" panose="020F0502020204030204"/>
              </a:rPr>
              <a:t>The hardware is faithful. Correctness becomes a verified learning outcome.</a:t>
            </a:r>
          </a:p>
        </p:txBody>
      </p:sp>
      <p:sp>
        <p:nvSpPr>
          <p:cNvPr id="10" name="Rounded Rectangle 9"/>
          <p:cNvSpPr/>
          <p:nvPr/>
        </p:nvSpPr>
        <p:spPr>
          <a:xfrm>
            <a:off x="6812280" y="3291840"/>
            <a:ext cx="4754880" cy="1984248"/>
          </a:xfrm>
          <a:prstGeom prst="roundRect">
            <a:avLst>
              <a:gd name="adj" fmla="val 8000"/>
            </a:avLst>
          </a:prstGeom>
          <a:solidFill>
            <a:srgbClr val="F7E9E7"/>
          </a:solidFill>
          <a:ln w="15875">
            <a:solidFill>
              <a:srgbClr val="963028"/>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i="0" dirty="0">
                <a:solidFill>
                  <a:srgbClr val="963028"/>
                </a:solidFill>
                <a:latin typeface="Calibri" panose="020F0502020204030204"/>
              </a:rPr>
              <a:t>✗  MISMATCH</a:t>
            </a:r>
          </a:p>
          <a:p>
            <a:r>
              <a:rPr b="0" i="0" dirty="0">
                <a:solidFill>
                  <a:srgbClr val="2B2B2B"/>
                </a:solidFill>
                <a:latin typeface="Calibri" panose="020F0502020204030204"/>
              </a:rPr>
              <a:t>The gap points to the concept to revisit:</a:t>
            </a:r>
            <a:endParaRPr lang="en-US" b="0" i="0" dirty="0">
              <a:solidFill>
                <a:srgbClr val="2B2B2B"/>
              </a:solidFill>
              <a:latin typeface="Calibri" panose="020F0502020204030204"/>
            </a:endParaRPr>
          </a:p>
          <a:p>
            <a:pPr marL="285750" indent="-285750">
              <a:buFont typeface="Arial" panose="020B0604020202020204" pitchFamily="34" charset="0"/>
              <a:buChar char="•"/>
            </a:pPr>
            <a:r>
              <a:rPr lang="en-US" dirty="0">
                <a:solidFill>
                  <a:srgbClr val="2B2B2B"/>
                </a:solidFill>
              </a:rPr>
              <a:t>numerical precision </a:t>
            </a:r>
          </a:p>
          <a:p>
            <a:pPr marL="285750" indent="-285750">
              <a:buFont typeface="Arial" panose="020B0604020202020204" pitchFamily="34" charset="0"/>
              <a:buChar char="•"/>
            </a:pPr>
            <a:r>
              <a:rPr lang="en-US" dirty="0">
                <a:solidFill>
                  <a:srgbClr val="2B2B2B"/>
                </a:solidFill>
              </a:rPr>
              <a:t>timing </a:t>
            </a:r>
          </a:p>
          <a:p>
            <a:pPr marL="285750" indent="-285750">
              <a:buFont typeface="Arial" panose="020B0604020202020204" pitchFamily="34" charset="0"/>
              <a:buChar char="•"/>
            </a:pPr>
            <a:r>
              <a:rPr lang="en-US" dirty="0">
                <a:solidFill>
                  <a:srgbClr val="2B2B2B"/>
                </a:solidFill>
              </a:rPr>
              <a:t>interface</a:t>
            </a:r>
            <a:br>
              <a:rPr lang="en-US" b="0" i="0" dirty="0">
                <a:solidFill>
                  <a:srgbClr val="2B2B2B"/>
                </a:solidFill>
                <a:latin typeface="Calibri" panose="020F0502020204030204"/>
              </a:rPr>
            </a:br>
            <a:r>
              <a:rPr b="0" i="1" dirty="0">
                <a:solidFill>
                  <a:srgbClr val="963028"/>
                </a:solidFill>
                <a:latin typeface="Calibri" panose="020F0502020204030204"/>
              </a:rPr>
              <a:t>The feedback a tutor would give in person.</a:t>
            </a:r>
          </a:p>
        </p:txBody>
      </p:sp>
      <p:sp>
        <p:nvSpPr>
          <p:cNvPr id="11" name="Right Arrow 10"/>
          <p:cNvSpPr/>
          <p:nvPr/>
        </p:nvSpPr>
        <p:spPr>
          <a:xfrm>
            <a:off x="6263640" y="2331720"/>
            <a:ext cx="502920" cy="310896"/>
          </a:xfrm>
          <a:prstGeom prst="rightArrow">
            <a:avLst/>
          </a:prstGeom>
          <a:solidFill>
            <a:srgbClr val="2E7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6263640" y="3703320"/>
            <a:ext cx="502920" cy="310896"/>
          </a:xfrm>
          <a:prstGeom prst="rightArrow">
            <a:avLst/>
          </a:prstGeom>
          <a:solidFill>
            <a:srgbClr val="963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85800" y="5559552"/>
            <a:ext cx="10927080" cy="777240"/>
          </a:xfrm>
          <a:prstGeom prst="roundRect">
            <a:avLst>
              <a:gd name="adj" fmla="val 10000"/>
            </a:avLst>
          </a:prstGeom>
          <a:solidFill>
            <a:srgbClr val="F6ECD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b="1" i="0" dirty="0">
                <a:solidFill>
                  <a:srgbClr val="7A1E2B"/>
                </a:solidFill>
                <a:latin typeface="Calibri" panose="020F0502020204030204"/>
              </a:rPr>
              <a:t>Correctness becomes something the learner proves — not something a lecturer asserts. Debugging turns into guided learning.</a:t>
            </a:r>
          </a:p>
        </p:txBody>
      </p:sp>
      <p:sp>
        <p:nvSpPr>
          <p:cNvPr id="15" name="TextBox 14"/>
          <p:cNvSpPr txBox="1"/>
          <p:nvPr/>
        </p:nvSpPr>
        <p:spPr>
          <a:xfrm>
            <a:off x="11768328" y="5985748"/>
            <a:ext cx="246888" cy="369332"/>
          </a:xfrm>
          <a:prstGeom prst="rect">
            <a:avLst/>
          </a:prstGeom>
          <a:noFill/>
        </p:spPr>
        <p:txBody>
          <a:bodyPr wrap="square" rtlCol="0">
            <a:spAutoFit/>
          </a:bodyPr>
          <a:lstStyle/>
          <a:p>
            <a:r>
              <a:rPr lang="en-US"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Art of FPGA Verification: Ensuring Design Quality and Reliability"/>
          <p:cNvPicPr>
            <a:picLocks noChangeAspect="1"/>
          </p:cNvPicPr>
          <p:nvPr/>
        </p:nvPicPr>
        <p:blipFill>
          <a:blip r:embed="rId3"/>
          <a:stretch>
            <a:fillRect/>
          </a:stretch>
        </p:blipFill>
        <p:spPr>
          <a:xfrm>
            <a:off x="2779777" y="0"/>
            <a:ext cx="9412224" cy="6381488"/>
          </a:xfrm>
          <a:prstGeom prst="rect">
            <a:avLst/>
          </a:prstGeom>
        </p:spPr>
      </p:pic>
      <p:sp>
        <p:nvSpPr>
          <p:cNvPr id="6" name="Rectangle 5"/>
          <p:cNvSpPr/>
          <p:nvPr/>
        </p:nvSpPr>
        <p:spPr>
          <a:xfrm>
            <a:off x="2779776" y="1"/>
            <a:ext cx="9412224" cy="6382512"/>
          </a:xfrm>
          <a:prstGeom prst="rect">
            <a:avLst/>
          </a:prstGeom>
          <a:gradFill flip="none" rotWithShape="1">
            <a:gsLst>
              <a:gs pos="39000">
                <a:srgbClr val="FFFFFF">
                  <a:alpha val="79000"/>
                </a:srgbClr>
              </a:gs>
              <a:gs pos="0">
                <a:schemeClr val="bg1">
                  <a:alpha val="46000"/>
                </a:schemeClr>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8912" y="195961"/>
            <a:ext cx="10515600" cy="846455"/>
          </a:xfrm>
        </p:spPr>
        <p:txBody>
          <a:bodyPr wrap="square">
            <a:normAutofit/>
          </a:bodyPr>
          <a:lstStyle/>
          <a:p>
            <a:r>
              <a:rPr b="1" dirty="0">
                <a:solidFill>
                  <a:srgbClr val="7A1E2B"/>
                </a:solidFill>
                <a:latin typeface="Calibri" panose="020F0502020204030204"/>
              </a:rPr>
              <a:t>Why embedded machine learning is the demonstration</a:t>
            </a:r>
          </a:p>
        </p:txBody>
      </p:sp>
      <p:sp>
        <p:nvSpPr>
          <p:cNvPr id="3" name="TextBox 2"/>
          <p:cNvSpPr txBox="1"/>
          <p:nvPr/>
        </p:nvSpPr>
        <p:spPr>
          <a:xfrm>
            <a:off x="557784" y="1472184"/>
            <a:ext cx="6400800" cy="4191917"/>
          </a:xfrm>
          <a:prstGeom prst="rect">
            <a:avLst/>
          </a:prstGeom>
          <a:noFill/>
        </p:spPr>
        <p:txBody>
          <a:bodyPr wrap="square" lIns="45720" tIns="18288" rIns="45720" bIns="18288" anchor="t">
            <a:spAutoFit/>
          </a:bodyPr>
          <a:lstStyle/>
          <a:p>
            <a:pPr>
              <a:spcBef>
                <a:spcPts val="0"/>
              </a:spcBef>
              <a:spcAft>
                <a:spcPts val="1200"/>
              </a:spcAft>
            </a:pPr>
            <a:r>
              <a:rPr sz="2000" b="1" i="0" dirty="0">
                <a:solidFill>
                  <a:srgbClr val="BE7C26"/>
                </a:solidFill>
                <a:latin typeface="Calibri" panose="020F0502020204030204"/>
              </a:rPr>
              <a:t>▪  </a:t>
            </a:r>
            <a:r>
              <a:rPr sz="2400" b="0" i="0" dirty="0">
                <a:solidFill>
                  <a:srgbClr val="2B2B2B"/>
                </a:solidFill>
                <a:latin typeface="Calibri" panose="020F0502020204030204"/>
              </a:rPr>
              <a:t>The hard, integrative skill — one task spans training, numerical precision and digital logic at once.</a:t>
            </a:r>
          </a:p>
          <a:p>
            <a:pPr>
              <a:spcBef>
                <a:spcPts val="0"/>
              </a:spcBef>
              <a:spcAft>
                <a:spcPts val="1200"/>
              </a:spcAft>
            </a:pPr>
            <a:r>
              <a:rPr sz="2400" b="1" i="0" dirty="0">
                <a:solidFill>
                  <a:srgbClr val="BE7C26"/>
                </a:solidFill>
                <a:latin typeface="Calibri" panose="020F0502020204030204"/>
              </a:rPr>
              <a:t>▪  </a:t>
            </a:r>
            <a:r>
              <a:rPr sz="2400" b="0" i="0" dirty="0">
                <a:solidFill>
                  <a:srgbClr val="2B2B2B"/>
                </a:solidFill>
                <a:latin typeface="Calibri" panose="020F0502020204030204"/>
              </a:rPr>
              <a:t>Hard to teach remotely — it needs real hardware and real timing, not just a simulator.</a:t>
            </a:r>
          </a:p>
          <a:p>
            <a:pPr>
              <a:spcBef>
                <a:spcPts val="0"/>
              </a:spcBef>
              <a:spcAft>
                <a:spcPts val="1200"/>
              </a:spcAft>
            </a:pPr>
            <a:r>
              <a:rPr sz="2400" b="1" i="0" dirty="0">
                <a:solidFill>
                  <a:srgbClr val="BE7C26"/>
                </a:solidFill>
                <a:latin typeface="Calibri" panose="020F0502020204030204"/>
              </a:rPr>
              <a:t>▪  </a:t>
            </a:r>
            <a:r>
              <a:rPr sz="2400" b="0" i="0" dirty="0">
                <a:solidFill>
                  <a:srgbClr val="2B2B2B"/>
                </a:solidFill>
                <a:latin typeface="Calibri" panose="020F0502020204030204"/>
              </a:rPr>
              <a:t>FPGA fits — it exposes the register-transfer-level mapping that microcontroller </a:t>
            </a:r>
            <a:r>
              <a:rPr sz="2400" b="0" i="0" dirty="0" err="1">
                <a:solidFill>
                  <a:srgbClr val="2B2B2B"/>
                </a:solidFill>
                <a:latin typeface="Calibri" panose="020F0502020204030204"/>
              </a:rPr>
              <a:t>TinyML</a:t>
            </a:r>
            <a:r>
              <a:rPr sz="2400" b="0" i="0" dirty="0">
                <a:solidFill>
                  <a:srgbClr val="2B2B2B"/>
                </a:solidFill>
                <a:latin typeface="Calibri" panose="020F0502020204030204"/>
              </a:rPr>
              <a:t> hides.</a:t>
            </a:r>
          </a:p>
          <a:p>
            <a:pPr>
              <a:spcBef>
                <a:spcPts val="0"/>
              </a:spcBef>
              <a:spcAft>
                <a:spcPts val="1200"/>
              </a:spcAft>
            </a:pPr>
            <a:r>
              <a:rPr sz="2400" b="1" i="0" dirty="0">
                <a:solidFill>
                  <a:srgbClr val="BE7C26"/>
                </a:solidFill>
                <a:latin typeface="Calibri" panose="020F0502020204030204"/>
              </a:rPr>
              <a:t>▪  </a:t>
            </a:r>
            <a:r>
              <a:rPr sz="2400" b="0" i="0" dirty="0">
                <a:solidFill>
                  <a:srgbClr val="2B2B2B"/>
                </a:solidFill>
                <a:latin typeface="Calibri" panose="020F0502020204030204"/>
              </a:rPr>
              <a:t>The chosen example — a 15-stage LISTA sparse-coding denoiser: compact and interpretable in hardware.</a:t>
            </a:r>
          </a:p>
        </p:txBody>
      </p:sp>
      <p:sp>
        <p:nvSpPr>
          <p:cNvPr id="4" name="Rounded Rectangle 3"/>
          <p:cNvSpPr/>
          <p:nvPr/>
        </p:nvSpPr>
        <p:spPr>
          <a:xfrm>
            <a:off x="7485888" y="1915156"/>
            <a:ext cx="4206240" cy="2551176"/>
          </a:xfrm>
          <a:prstGeom prst="roundRect">
            <a:avLst>
              <a:gd name="adj" fmla="val 5000"/>
            </a:avLst>
          </a:prstGeom>
          <a:solidFill>
            <a:srgbClr val="E9EFF6"/>
          </a:solidFill>
          <a:ln w="19050">
            <a:solidFill>
              <a:srgbClr val="355274"/>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400" b="1" i="0" dirty="0">
                <a:solidFill>
                  <a:srgbClr val="355274"/>
                </a:solidFill>
                <a:latin typeface="Calibri" panose="020F0502020204030204"/>
              </a:rPr>
              <a:t>One board, two domains,</a:t>
            </a:r>
          </a:p>
          <a:p>
            <a:pPr algn="ctr"/>
            <a:r>
              <a:rPr sz="2400" b="1" i="0" dirty="0">
                <a:solidFill>
                  <a:srgbClr val="355274"/>
                </a:solidFill>
                <a:latin typeface="Calibri" panose="020F0502020204030204"/>
              </a:rPr>
              <a:t>one identical </a:t>
            </a:r>
            <a:r>
              <a:rPr sz="2400" b="1" i="0" dirty="0" err="1">
                <a:solidFill>
                  <a:srgbClr val="355274"/>
                </a:solidFill>
                <a:latin typeface="Calibri" panose="020F0502020204030204"/>
              </a:rPr>
              <a:t>datapath</a:t>
            </a:r>
            <a:r>
              <a:rPr sz="2400" b="1" i="0" dirty="0">
                <a:solidFill>
                  <a:srgbClr val="355274"/>
                </a:solidFill>
                <a:latin typeface="Calibri" panose="020F0502020204030204"/>
              </a:rPr>
              <a:t>:</a:t>
            </a:r>
          </a:p>
          <a:p>
            <a:pPr algn="ctr">
              <a:spcBef>
                <a:spcPts val="600"/>
              </a:spcBef>
            </a:pPr>
            <a:r>
              <a:rPr sz="2400" b="1" i="0" dirty="0">
                <a:solidFill>
                  <a:srgbClr val="7A1E2B"/>
                </a:solidFill>
                <a:latin typeface="Calibri" panose="020F0502020204030204"/>
              </a:rPr>
              <a:t>natural images  +  ECG signals</a:t>
            </a:r>
            <a:endParaRPr lang="en-US" sz="2400" b="1" i="0" dirty="0">
              <a:solidFill>
                <a:srgbClr val="7A1E2B"/>
              </a:solidFill>
              <a:latin typeface="Calibri" panose="020F0502020204030204"/>
            </a:endParaRPr>
          </a:p>
          <a:p>
            <a:pPr algn="ctr">
              <a:spcBef>
                <a:spcPts val="1000"/>
              </a:spcBef>
            </a:pPr>
            <a:r>
              <a:rPr b="0" i="1" dirty="0">
                <a:solidFill>
                  <a:srgbClr val="2B2B2B"/>
                </a:solidFill>
                <a:latin typeface="Calibri" panose="020F0502020204030204"/>
              </a:rPr>
              <a:t>Denoising is a concrete task where 'better' is visible and measurable</a:t>
            </a:r>
            <a:r>
              <a:rPr sz="1200" b="0" i="1" dirty="0">
                <a:solidFill>
                  <a:srgbClr val="2B2B2B"/>
                </a:solidFill>
                <a:latin typeface="Calibri" panose="020F0502020204030204"/>
              </a:rPr>
              <a:t>.</a:t>
            </a:r>
          </a:p>
        </p:txBody>
      </p:sp>
      <p:sp>
        <p:nvSpPr>
          <p:cNvPr id="8" name="TextBox 7"/>
          <p:cNvSpPr txBox="1"/>
          <p:nvPr/>
        </p:nvSpPr>
        <p:spPr>
          <a:xfrm>
            <a:off x="11768328" y="5985748"/>
            <a:ext cx="246888" cy="369332"/>
          </a:xfrm>
          <a:prstGeom prst="rect">
            <a:avLst/>
          </a:prstGeom>
          <a:noFill/>
        </p:spPr>
        <p:txBody>
          <a:bodyPr wrap="square" rtlCol="0">
            <a:spAutoFit/>
          </a:bodyPr>
          <a:lstStyle/>
          <a:p>
            <a:r>
              <a:rPr lang="en-US"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253238"/>
            <a:ext cx="10515600" cy="512064"/>
          </a:xfrm>
          <a:prstGeom prst="rect">
            <a:avLst/>
          </a:prstGeom>
          <a:noFill/>
        </p:spPr>
        <p:txBody>
          <a:bodyPr wrap="square" lIns="0" tIns="0" rIns="0" bIns="0" rtlCol="0" anchor="ctr"/>
          <a:lstStyle/>
          <a:p>
            <a:pPr marL="0" indent="0" algn="l">
              <a:buNone/>
            </a:pPr>
            <a:r>
              <a:rPr lang="en-US" sz="3200" b="1" dirty="0">
                <a:solidFill>
                  <a:srgbClr val="7A1E2B"/>
                </a:solidFill>
                <a:latin typeface="Calibri" panose="020F0502020204030204" pitchFamily="34" charset="0"/>
                <a:ea typeface="Calibri" panose="020F0502020204030204" pitchFamily="34" charset="-122"/>
                <a:cs typeface="Calibri" panose="020F0502020204030204" pitchFamily="34" charset="-120"/>
              </a:rPr>
              <a:t>It works: one board, two domains</a:t>
            </a:r>
            <a:endParaRPr lang="en-US" sz="3200" dirty="0"/>
          </a:p>
        </p:txBody>
      </p:sp>
      <p:sp>
        <p:nvSpPr>
          <p:cNvPr id="3" name="Shape 1"/>
          <p:cNvSpPr/>
          <p:nvPr/>
        </p:nvSpPr>
        <p:spPr>
          <a:xfrm>
            <a:off x="365760" y="1029399"/>
            <a:ext cx="5632704" cy="3300984"/>
          </a:xfrm>
          <a:prstGeom prst="roundRect">
            <a:avLst>
              <a:gd name="adj" fmla="val 1385"/>
            </a:avLst>
          </a:prstGeom>
          <a:solidFill>
            <a:srgbClr val="111111"/>
          </a:solidFill>
          <a:ln w="12700">
            <a:solidFill>
              <a:srgbClr val="D8D8D8"/>
            </a:solidFill>
            <a:prstDash val="solid"/>
          </a:ln>
        </p:spPr>
      </p:sp>
      <p:pic>
        <p:nvPicPr>
          <p:cNvPr id="4" name="Image 0" descr="media_src/vga_image.png"/>
          <p:cNvPicPr>
            <a:picLocks noChangeAspect="1"/>
          </p:cNvPicPr>
          <p:nvPr/>
        </p:nvPicPr>
        <p:blipFill>
          <a:blip r:embed="rId3"/>
          <a:stretch>
            <a:fillRect/>
          </a:stretch>
        </p:blipFill>
        <p:spPr>
          <a:xfrm>
            <a:off x="411480" y="1075119"/>
            <a:ext cx="5541264" cy="3209544"/>
          </a:xfrm>
          <a:prstGeom prst="rect">
            <a:avLst/>
          </a:prstGeom>
        </p:spPr>
      </p:pic>
      <p:sp>
        <p:nvSpPr>
          <p:cNvPr id="5" name="Shape 2"/>
          <p:cNvSpPr/>
          <p:nvPr/>
        </p:nvSpPr>
        <p:spPr>
          <a:xfrm>
            <a:off x="6181344" y="1102552"/>
            <a:ext cx="5632704" cy="3246120"/>
          </a:xfrm>
          <a:prstGeom prst="roundRect">
            <a:avLst>
              <a:gd name="adj" fmla="val 1408"/>
            </a:avLst>
          </a:prstGeom>
          <a:solidFill>
            <a:srgbClr val="111111"/>
          </a:solidFill>
          <a:ln w="12700">
            <a:solidFill>
              <a:srgbClr val="D8D8D8"/>
            </a:solidFill>
            <a:prstDash val="solid"/>
          </a:ln>
        </p:spPr>
      </p:sp>
      <p:pic>
        <p:nvPicPr>
          <p:cNvPr id="6" name="Image 1" descr="media_src/vga_ecg.png"/>
          <p:cNvPicPr>
            <a:picLocks noChangeAspect="1"/>
          </p:cNvPicPr>
          <p:nvPr/>
        </p:nvPicPr>
        <p:blipFill>
          <a:blip r:embed="rId4"/>
          <a:stretch>
            <a:fillRect/>
          </a:stretch>
        </p:blipFill>
        <p:spPr>
          <a:xfrm>
            <a:off x="6227064" y="1148272"/>
            <a:ext cx="5541264" cy="3154680"/>
          </a:xfrm>
          <a:prstGeom prst="rect">
            <a:avLst/>
          </a:prstGeom>
        </p:spPr>
      </p:pic>
      <p:sp>
        <p:nvSpPr>
          <p:cNvPr id="7" name="Text 3"/>
          <p:cNvSpPr/>
          <p:nvPr/>
        </p:nvSpPr>
        <p:spPr>
          <a:xfrm>
            <a:off x="365760" y="4599432"/>
            <a:ext cx="5541264" cy="256032"/>
          </a:xfrm>
          <a:prstGeom prst="rect">
            <a:avLst/>
          </a:prstGeom>
          <a:noFill/>
        </p:spPr>
        <p:txBody>
          <a:bodyPr wrap="square" lIns="0" tIns="0" rIns="0" bIns="0" rtlCol="0" anchor="ctr"/>
          <a:lstStyle/>
          <a:p>
            <a:pPr algn="ctr"/>
            <a:r>
              <a:rPr lang="en-US" sz="1400" i="1" dirty="0">
                <a:solidFill>
                  <a:srgbClr val="666666"/>
                </a:solidFill>
              </a:rPr>
              <a:t>Figure 2-</a:t>
            </a:r>
            <a:r>
              <a:rPr lang="en-US" sz="1400" i="1" dirty="0">
                <a:solidFill>
                  <a:srgbClr val="666666"/>
                </a:solidFill>
                <a:latin typeface="Calibri" panose="020F0502020204030204" pitchFamily="34" charset="0"/>
                <a:ea typeface="Calibri" panose="020F0502020204030204" pitchFamily="34" charset="-122"/>
                <a:cs typeface="Calibri" panose="020F0502020204030204" pitchFamily="34" charset="-120"/>
              </a:rPr>
              <a:t>Natural image (512×512 RGB)  —  noisy → on-device denoised, live on VGA</a:t>
            </a:r>
            <a:endParaRPr lang="en-US" sz="1400" i="1" dirty="0"/>
          </a:p>
        </p:txBody>
      </p:sp>
      <p:sp>
        <p:nvSpPr>
          <p:cNvPr id="8" name="Text 4"/>
          <p:cNvSpPr/>
          <p:nvPr/>
        </p:nvSpPr>
        <p:spPr>
          <a:xfrm>
            <a:off x="6227064" y="4471416"/>
            <a:ext cx="5541264" cy="256032"/>
          </a:xfrm>
          <a:prstGeom prst="rect">
            <a:avLst/>
          </a:prstGeom>
          <a:noFill/>
        </p:spPr>
        <p:txBody>
          <a:bodyPr wrap="square" lIns="0" tIns="0" rIns="0" bIns="0" rtlCol="0" anchor="ctr"/>
          <a:lstStyle/>
          <a:p>
            <a:pPr marL="0" indent="0" algn="ctr">
              <a:buNone/>
            </a:pPr>
            <a:r>
              <a:rPr lang="en-US" sz="1400" i="1" dirty="0">
                <a:solidFill>
                  <a:srgbClr val="666666"/>
                </a:solidFill>
                <a:latin typeface="Calibri" panose="020F0502020204030204" pitchFamily="34" charset="0"/>
                <a:ea typeface="Calibri" panose="020F0502020204030204" pitchFamily="34" charset="-122"/>
                <a:cs typeface="Calibri" panose="020F0502020204030204" pitchFamily="34" charset="-120"/>
              </a:rPr>
              <a:t>Figure3 - ECG signal  —  same board, same interface, live demo</a:t>
            </a:r>
            <a:endParaRPr lang="en-US" sz="1400" i="1" dirty="0"/>
          </a:p>
        </p:txBody>
      </p:sp>
      <p:sp>
        <p:nvSpPr>
          <p:cNvPr id="11" name="Shape 6"/>
          <p:cNvSpPr/>
          <p:nvPr/>
        </p:nvSpPr>
        <p:spPr>
          <a:xfrm>
            <a:off x="332233" y="5027802"/>
            <a:ext cx="11445240" cy="934085"/>
          </a:xfrm>
          <a:prstGeom prst="roundRect">
            <a:avLst>
              <a:gd name="adj" fmla="val 6250"/>
            </a:avLst>
          </a:prstGeom>
          <a:solidFill>
            <a:srgbClr val="BE7C26"/>
          </a:solidFill>
        </p:spPr>
      </p:sp>
      <p:sp>
        <p:nvSpPr>
          <p:cNvPr id="12" name="Text 7"/>
          <p:cNvSpPr/>
          <p:nvPr/>
        </p:nvSpPr>
        <p:spPr>
          <a:xfrm>
            <a:off x="676461" y="5143500"/>
            <a:ext cx="3246120" cy="667512"/>
          </a:xfrm>
          <a:prstGeom prst="rect">
            <a:avLst/>
          </a:prstGeom>
          <a:noFill/>
        </p:spPr>
        <p:txBody>
          <a:bodyPr wrap="square" lIns="0" tIns="0" rIns="0" bIns="0" rtlCol="0" anchor="ctr"/>
          <a:lstStyle/>
          <a:p>
            <a:pPr marL="0" indent="0" algn="l">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Live on the Nexys A7-100T</a:t>
            </a:r>
            <a:endParaRPr lang="en-US" dirty="0"/>
          </a:p>
          <a:p>
            <a:pPr marL="0" indent="0" algn="l">
              <a:buNone/>
            </a:pPr>
            <a:r>
              <a:rPr lang="en-US" sz="1200" dirty="0">
                <a:solidFill>
                  <a:srgbClr val="FBE9CF"/>
                </a:solidFill>
                <a:latin typeface="Calibri" panose="020F0502020204030204" pitchFamily="34" charset="0"/>
                <a:ea typeface="Calibri" panose="020F0502020204030204" pitchFamily="34" charset="-122"/>
                <a:cs typeface="Calibri" panose="020F0502020204030204" pitchFamily="34" charset="-120"/>
              </a:rPr>
              <a:t>100 MHz  ·  VGA 640×480@60  ·  ≈63 patches/s</a:t>
            </a:r>
            <a:endParaRPr lang="en-US" dirty="0"/>
          </a:p>
        </p:txBody>
      </p:sp>
      <p:sp>
        <p:nvSpPr>
          <p:cNvPr id="13" name="Text 8"/>
          <p:cNvSpPr/>
          <p:nvPr/>
        </p:nvSpPr>
        <p:spPr>
          <a:xfrm>
            <a:off x="4306824" y="4983480"/>
            <a:ext cx="1965960" cy="987552"/>
          </a:xfrm>
          <a:prstGeom prst="rect">
            <a:avLst/>
          </a:prstGeom>
          <a:noFill/>
        </p:spPr>
        <p:txBody>
          <a:bodyPr wrap="square" lIns="0" tIns="0" rIns="0" bIns="0" rtlCol="0" anchor="ctr"/>
          <a:lstStyle/>
          <a:p>
            <a:pPr marL="0" indent="0" algn="ctr">
              <a:lnSpc>
                <a:spcPct val="95000"/>
              </a:lnSpc>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20.9 → 25.7 dB</a:t>
            </a:r>
            <a:endParaRPr lang="en-US" sz="2000" dirty="0"/>
          </a:p>
          <a:p>
            <a:pPr marL="0" indent="0" algn="ctr">
              <a:lnSpc>
                <a:spcPct val="95000"/>
              </a:lnSpc>
              <a:buNone/>
            </a:pPr>
            <a:r>
              <a:rPr lang="en-US" sz="1050" dirty="0">
                <a:solidFill>
                  <a:srgbClr val="FBE9CF"/>
                </a:solidFill>
                <a:latin typeface="Calibri" panose="020F0502020204030204" pitchFamily="34" charset="0"/>
                <a:ea typeface="Calibri" panose="020F0502020204030204" pitchFamily="34" charset="-122"/>
                <a:cs typeface="Calibri" panose="020F0502020204030204" pitchFamily="34" charset="-120"/>
              </a:rPr>
              <a:t>image PSNR   (+4.8 dB)</a:t>
            </a:r>
            <a:endParaRPr lang="en-US" sz="2800" dirty="0"/>
          </a:p>
        </p:txBody>
      </p:sp>
      <p:sp>
        <p:nvSpPr>
          <p:cNvPr id="14" name="Text 9"/>
          <p:cNvSpPr/>
          <p:nvPr/>
        </p:nvSpPr>
        <p:spPr>
          <a:xfrm>
            <a:off x="6657027" y="4974335"/>
            <a:ext cx="1965960" cy="987552"/>
          </a:xfrm>
          <a:prstGeom prst="rect">
            <a:avLst/>
          </a:prstGeom>
          <a:noFill/>
        </p:spPr>
        <p:txBody>
          <a:bodyPr wrap="square" lIns="0" tIns="0" rIns="0" bIns="0" rtlCol="0" anchor="ctr"/>
          <a:lstStyle/>
          <a:p>
            <a:pPr marL="0" indent="0" algn="ctr">
              <a:lnSpc>
                <a:spcPct val="95000"/>
              </a:lnSpc>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0.36 → 0.70</a:t>
            </a:r>
            <a:endParaRPr lang="en-US" sz="2000" dirty="0"/>
          </a:p>
          <a:p>
            <a:pPr marL="0" indent="0" algn="ctr">
              <a:lnSpc>
                <a:spcPct val="95000"/>
              </a:lnSpc>
              <a:buNone/>
            </a:pPr>
            <a:r>
              <a:rPr lang="en-US" sz="1200" dirty="0">
                <a:solidFill>
                  <a:srgbClr val="FBE9CF"/>
                </a:solidFill>
                <a:latin typeface="Calibri" panose="020F0502020204030204" pitchFamily="34" charset="0"/>
                <a:ea typeface="Calibri" panose="020F0502020204030204" pitchFamily="34" charset="-122"/>
                <a:cs typeface="Calibri" panose="020F0502020204030204" pitchFamily="34" charset="-120"/>
              </a:rPr>
              <a:t>image SSIM</a:t>
            </a:r>
            <a:endParaRPr lang="en-US" sz="3600" dirty="0"/>
          </a:p>
        </p:txBody>
      </p:sp>
      <p:sp>
        <p:nvSpPr>
          <p:cNvPr id="15" name="Text 10"/>
          <p:cNvSpPr/>
          <p:nvPr/>
        </p:nvSpPr>
        <p:spPr>
          <a:xfrm>
            <a:off x="8915400" y="4965192"/>
            <a:ext cx="1965960" cy="987552"/>
          </a:xfrm>
          <a:prstGeom prst="rect">
            <a:avLst/>
          </a:prstGeom>
          <a:noFill/>
        </p:spPr>
        <p:txBody>
          <a:bodyPr wrap="square" lIns="0" tIns="0" rIns="0" bIns="0" rtlCol="0" anchor="ctr"/>
          <a:lstStyle/>
          <a:p>
            <a:pPr marL="0" indent="0" algn="ctr">
              <a:lnSpc>
                <a:spcPct val="95000"/>
              </a:lnSpc>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9.4 / 15</a:t>
            </a:r>
            <a:endParaRPr lang="en-US" sz="2000" dirty="0"/>
          </a:p>
          <a:p>
            <a:pPr marL="0" indent="0" algn="ctr">
              <a:lnSpc>
                <a:spcPct val="95000"/>
              </a:lnSpc>
              <a:buNone/>
            </a:pPr>
            <a:r>
              <a:rPr lang="en-US" sz="1100" dirty="0">
                <a:solidFill>
                  <a:srgbClr val="FBE9CF"/>
                </a:solidFill>
                <a:latin typeface="Calibri" panose="020F0502020204030204" pitchFamily="34" charset="0"/>
                <a:ea typeface="Calibri" panose="020F0502020204030204" pitchFamily="34" charset="-122"/>
                <a:cs typeface="Calibri" panose="020F0502020204030204" pitchFamily="34" charset="-120"/>
              </a:rPr>
              <a:t>avg iters  (early-exit)</a:t>
            </a:r>
            <a:endParaRPr lang="en-US" sz="3200" dirty="0"/>
          </a:p>
        </p:txBody>
      </p:sp>
      <p:sp>
        <p:nvSpPr>
          <p:cNvPr id="16" name="Text 11"/>
          <p:cNvSpPr/>
          <p:nvPr/>
        </p:nvSpPr>
        <p:spPr>
          <a:xfrm>
            <a:off x="804673" y="6024497"/>
            <a:ext cx="10963656" cy="292608"/>
          </a:xfrm>
          <a:prstGeom prst="rect">
            <a:avLst/>
          </a:prstGeom>
          <a:noFill/>
        </p:spPr>
        <p:txBody>
          <a:bodyPr wrap="square" lIns="0" tIns="0" rIns="0" bIns="0" rtlCol="0" anchor="t"/>
          <a:lstStyle/>
          <a:p>
            <a:pPr marL="0" indent="0" algn="l">
              <a:buNone/>
            </a:pPr>
            <a:r>
              <a:rPr lang="en-US" sz="1400" dirty="0">
                <a:solidFill>
                  <a:srgbClr val="2B2B2B"/>
                </a:solidFill>
                <a:latin typeface="Calibri" panose="020F0502020204030204" pitchFamily="34" charset="0"/>
                <a:ea typeface="Calibri" panose="020F0502020204030204" pitchFamily="34" charset="-122"/>
                <a:cs typeface="Calibri" panose="020F0502020204030204" pitchFamily="34" charset="-120"/>
              </a:rPr>
              <a:t>Seeds, source and tooling are shared — a distance learner reproduces this and verifies it on their own board.  </a:t>
            </a:r>
            <a:r>
              <a:rPr lang="en-US" sz="1400" i="1" dirty="0">
                <a:solidFill>
                  <a:srgbClr val="7A1E2B"/>
                </a:solidFill>
                <a:latin typeface="Calibri" panose="020F0502020204030204" pitchFamily="34" charset="0"/>
                <a:ea typeface="Calibri" panose="020F0502020204030204" pitchFamily="34" charset="-122"/>
                <a:cs typeface="Calibri" panose="020F0502020204030204" pitchFamily="34" charset="-120"/>
              </a:rPr>
              <a:t>One illustrative run, not a benchmark.</a:t>
            </a:r>
            <a:endParaRPr lang="en-US" sz="1400" dirty="0"/>
          </a:p>
        </p:txBody>
      </p:sp>
      <p:sp>
        <p:nvSpPr>
          <p:cNvPr id="17" name="TextBox 9"/>
          <p:cNvSpPr txBox="1"/>
          <p:nvPr/>
        </p:nvSpPr>
        <p:spPr>
          <a:xfrm>
            <a:off x="11768328" y="5985748"/>
            <a:ext cx="246888" cy="369332"/>
          </a:xfrm>
          <a:prstGeom prst="rect">
            <a:avLst/>
          </a:prstGeom>
          <a:noFill/>
        </p:spPr>
        <p:txBody>
          <a:bodyPr wrap="square" rtlCol="0">
            <a:spAutoFit/>
          </a:bodyPr>
          <a:lstStyle/>
          <a:p>
            <a:r>
              <a:rPr lang="en-US"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61938"/>
            <a:ext cx="10515600" cy="846455"/>
          </a:xfrm>
        </p:spPr>
        <p:txBody>
          <a:bodyPr wrap="square">
            <a:normAutofit/>
          </a:bodyPr>
          <a:lstStyle/>
          <a:p>
            <a:r>
              <a:rPr b="1" dirty="0">
                <a:solidFill>
                  <a:srgbClr val="7A1E2B"/>
                </a:solidFill>
                <a:latin typeface="Calibri" panose="020F0502020204030204"/>
              </a:rPr>
              <a:t>Verifiability as pedagogy — and what is new here</a:t>
            </a:r>
          </a:p>
        </p:txBody>
      </p:sp>
      <p:sp>
        <p:nvSpPr>
          <p:cNvPr id="3" name="Rounded Rectangle 2"/>
          <p:cNvSpPr/>
          <p:nvPr/>
        </p:nvSpPr>
        <p:spPr>
          <a:xfrm>
            <a:off x="502920" y="1422876"/>
            <a:ext cx="5394960" cy="3560604"/>
          </a:xfrm>
          <a:prstGeom prst="roundRect">
            <a:avLst>
              <a:gd name="adj" fmla="val 5000"/>
            </a:avLst>
          </a:prstGeom>
          <a:solidFill>
            <a:srgbClr val="F6ECDB"/>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28016" bIns="91440" rtlCol="0" anchor="t"/>
          <a:lstStyle/>
          <a:p>
            <a:pPr algn="ctr">
              <a:spcAft>
                <a:spcPts val="700"/>
              </a:spcAft>
            </a:pPr>
            <a:r>
              <a:rPr sz="2400" b="1" i="0" dirty="0">
                <a:solidFill>
                  <a:srgbClr val="8A5814"/>
                </a:solidFill>
                <a:latin typeface="Calibri" panose="020F0502020204030204"/>
              </a:rPr>
              <a:t>Staged learning (no tutor nearby)</a:t>
            </a:r>
          </a:p>
          <a:p>
            <a:pPr>
              <a:spcBef>
                <a:spcPts val="0"/>
              </a:spcBef>
              <a:spcAft>
                <a:spcPts val="800"/>
              </a:spcAft>
            </a:pPr>
            <a:r>
              <a:rPr sz="2000" b="1" i="0" dirty="0">
                <a:solidFill>
                  <a:srgbClr val="8A5814"/>
                </a:solidFill>
                <a:latin typeface="Calibri" panose="020F0502020204030204"/>
              </a:rPr>
              <a:t>▪  </a:t>
            </a:r>
            <a:r>
              <a:rPr sz="2000" b="0" i="0" dirty="0">
                <a:solidFill>
                  <a:srgbClr val="2B2B2B"/>
                </a:solidFill>
                <a:latin typeface="Calibri" panose="020F0502020204030204"/>
              </a:rPr>
              <a:t>Each stage ships with a working reference; the self-test pins the rest.</a:t>
            </a:r>
          </a:p>
          <a:p>
            <a:pPr>
              <a:spcBef>
                <a:spcPts val="0"/>
              </a:spcBef>
              <a:spcAft>
                <a:spcPts val="800"/>
              </a:spcAft>
            </a:pPr>
            <a:r>
              <a:rPr sz="2000" b="1" i="0" dirty="0">
                <a:solidFill>
                  <a:srgbClr val="8A5814"/>
                </a:solidFill>
                <a:latin typeface="Calibri" panose="020F0502020204030204"/>
              </a:rPr>
              <a:t>▪  </a:t>
            </a:r>
            <a:r>
              <a:rPr sz="2000" b="0" i="0" dirty="0">
                <a:solidFill>
                  <a:srgbClr val="2B2B2B"/>
                </a:solidFill>
                <a:latin typeface="Calibri" panose="020F0502020204030204"/>
              </a:rPr>
              <a:t>Rewrite one stage at a time — a failed check names what broke.</a:t>
            </a:r>
          </a:p>
          <a:p>
            <a:pPr>
              <a:spcBef>
                <a:spcPts val="0"/>
              </a:spcBef>
              <a:spcAft>
                <a:spcPts val="800"/>
              </a:spcAft>
            </a:pPr>
            <a:r>
              <a:rPr sz="2000" b="1" i="0" dirty="0">
                <a:solidFill>
                  <a:srgbClr val="8A5814"/>
                </a:solidFill>
                <a:latin typeface="Calibri" panose="020F0502020204030204"/>
              </a:rPr>
              <a:t>▪  </a:t>
            </a:r>
            <a:r>
              <a:rPr sz="2000" b="0" i="0" dirty="0">
                <a:solidFill>
                  <a:srgbClr val="2B2B2B"/>
                </a:solidFill>
                <a:latin typeface="Calibri" panose="020F0502020204030204"/>
              </a:rPr>
              <a:t>Four-milestone rubric (in draft): reproduce the build → replace the golden model → diagnose a seeded precision fault → extend the network by one stage.</a:t>
            </a:r>
          </a:p>
        </p:txBody>
      </p:sp>
      <p:sp>
        <p:nvSpPr>
          <p:cNvPr id="4" name="Rounded Rectangle 3"/>
          <p:cNvSpPr/>
          <p:nvPr/>
        </p:nvSpPr>
        <p:spPr>
          <a:xfrm>
            <a:off x="6172200" y="1422876"/>
            <a:ext cx="5394960" cy="338328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28016" bIns="91440" rtlCol="0" anchor="t"/>
          <a:lstStyle/>
          <a:p>
            <a:pPr algn="ctr">
              <a:spcAft>
                <a:spcPts val="700"/>
              </a:spcAft>
            </a:pPr>
            <a:r>
              <a:rPr sz="2400" b="1" i="0" dirty="0">
                <a:solidFill>
                  <a:srgbClr val="355274"/>
                </a:solidFill>
                <a:latin typeface="Calibri" panose="020F0502020204030204"/>
              </a:rPr>
              <a:t>What is new — the contribution</a:t>
            </a:r>
          </a:p>
          <a:p>
            <a:pPr>
              <a:spcBef>
                <a:spcPts val="0"/>
              </a:spcBef>
              <a:spcAft>
                <a:spcPts val="800"/>
              </a:spcAft>
            </a:pPr>
            <a:r>
              <a:rPr sz="2000" b="1" i="0" dirty="0">
                <a:solidFill>
                  <a:srgbClr val="355274"/>
                </a:solidFill>
                <a:latin typeface="Calibri" panose="020F0502020204030204"/>
              </a:rPr>
              <a:t>▪  </a:t>
            </a:r>
            <a:r>
              <a:rPr sz="2000" b="0" i="0" dirty="0">
                <a:solidFill>
                  <a:srgbClr val="2B2B2B"/>
                </a:solidFill>
                <a:latin typeface="Calibri" panose="020F0502020204030204"/>
              </a:rPr>
              <a:t>Educational: turning a correctness check into a learning outcome and assessment instrument.</a:t>
            </a:r>
          </a:p>
          <a:p>
            <a:pPr>
              <a:spcBef>
                <a:spcPts val="0"/>
              </a:spcBef>
              <a:spcAft>
                <a:spcPts val="800"/>
              </a:spcAft>
            </a:pPr>
            <a:r>
              <a:rPr sz="2000" b="1" i="0" dirty="0">
                <a:solidFill>
                  <a:srgbClr val="355274"/>
                </a:solidFill>
                <a:latin typeface="Calibri" panose="020F0502020204030204"/>
              </a:rPr>
              <a:t>▪  </a:t>
            </a:r>
            <a:r>
              <a:rPr sz="2000" b="0" i="0" dirty="0">
                <a:solidFill>
                  <a:srgbClr val="2B2B2B"/>
                </a:solidFill>
                <a:latin typeface="Calibri" panose="020F0502020204030204"/>
              </a:rPr>
              <a:t>Engineering: a complete, open model-to-RTL pipeline on one low-cost board (images + ECG).</a:t>
            </a:r>
          </a:p>
          <a:p>
            <a:pPr>
              <a:spcBef>
                <a:spcPts val="0"/>
              </a:spcBef>
              <a:spcAft>
                <a:spcPts val="800"/>
              </a:spcAft>
            </a:pPr>
            <a:r>
              <a:rPr sz="2000" b="1" i="0" dirty="0">
                <a:solidFill>
                  <a:srgbClr val="355274"/>
                </a:solidFill>
                <a:latin typeface="Calibri" panose="020F0502020204030204"/>
              </a:rPr>
              <a:t>▪  </a:t>
            </a:r>
            <a:r>
              <a:rPr sz="2000" b="0" i="0" dirty="0">
                <a:solidFill>
                  <a:srgbClr val="2B2B2B"/>
                </a:solidFill>
                <a:latin typeface="Calibri" panose="020F0502020204030204"/>
              </a:rPr>
              <a:t>Practical: reproducible, student-owned hardware that scales to a shared networked board.</a:t>
            </a:r>
          </a:p>
        </p:txBody>
      </p:sp>
      <p:sp>
        <p:nvSpPr>
          <p:cNvPr id="5" name="Rounded Rectangle 4"/>
          <p:cNvSpPr/>
          <p:nvPr/>
        </p:nvSpPr>
        <p:spPr>
          <a:xfrm>
            <a:off x="640080" y="5297963"/>
            <a:ext cx="10927080" cy="846454"/>
          </a:xfrm>
          <a:prstGeom prst="roundRect">
            <a:avLst>
              <a:gd name="adj" fmla="val 10000"/>
            </a:avLst>
          </a:prstGeom>
          <a:solidFill>
            <a:srgbClr val="F2F1E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000" b="1" i="0" dirty="0">
                <a:solidFill>
                  <a:srgbClr val="7A1E2B"/>
                </a:solidFill>
                <a:latin typeface="Calibri" panose="020F0502020204030204"/>
              </a:rPr>
              <a:t>The novelty is in the combination and the reframing of verification as pedagogy — not a new algorithm.</a:t>
            </a:r>
          </a:p>
        </p:txBody>
      </p:sp>
      <p:sp>
        <p:nvSpPr>
          <p:cNvPr id="7" name="TextBox 6"/>
          <p:cNvSpPr txBox="1"/>
          <p:nvPr/>
        </p:nvSpPr>
        <p:spPr>
          <a:xfrm>
            <a:off x="11768328" y="5985748"/>
            <a:ext cx="246888" cy="369332"/>
          </a:xfrm>
          <a:prstGeom prst="rect">
            <a:avLst/>
          </a:prstGeom>
          <a:noFill/>
        </p:spPr>
        <p:txBody>
          <a:bodyPr wrap="square" rtlCol="0">
            <a:spAutoFit/>
          </a:bodyPr>
          <a:lstStyle/>
          <a:p>
            <a:r>
              <a:rPr lang="en-US"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337693"/>
            <a:ext cx="10515600" cy="846455"/>
          </a:xfrm>
        </p:spPr>
        <p:txBody>
          <a:bodyPr wrap="square">
            <a:normAutofit/>
          </a:bodyPr>
          <a:lstStyle/>
          <a:p>
            <a:r>
              <a:rPr b="1" dirty="0">
                <a:solidFill>
                  <a:srgbClr val="7A1E2B"/>
                </a:solidFill>
                <a:latin typeface="Calibri" panose="020F0502020204030204"/>
              </a:rPr>
              <a:t>Limitations &amp; what comes next</a:t>
            </a:r>
          </a:p>
        </p:txBody>
      </p:sp>
      <p:sp>
        <p:nvSpPr>
          <p:cNvPr id="3" name="Rounded Rectangle 2"/>
          <p:cNvSpPr/>
          <p:nvPr/>
        </p:nvSpPr>
        <p:spPr>
          <a:xfrm>
            <a:off x="640080" y="1399032"/>
            <a:ext cx="5394960" cy="3995928"/>
          </a:xfrm>
          <a:prstGeom prst="roundRect">
            <a:avLst>
              <a:gd name="adj" fmla="val 5000"/>
            </a:avLst>
          </a:prstGeom>
          <a:solidFill>
            <a:srgbClr val="F7E9E7"/>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28016" bIns="91440" rtlCol="0" anchor="t"/>
          <a:lstStyle/>
          <a:p>
            <a:pPr algn="ctr">
              <a:spcAft>
                <a:spcPts val="700"/>
              </a:spcAft>
            </a:pPr>
            <a:r>
              <a:rPr lang="en-US" sz="2800" b="1" dirty="0">
                <a:solidFill>
                  <a:srgbClr val="963028"/>
                </a:solidFill>
                <a:latin typeface="Calibri" panose="020F0502020204030204"/>
              </a:rPr>
              <a:t>L</a:t>
            </a:r>
            <a:r>
              <a:rPr sz="2800" b="1" i="0" dirty="0">
                <a:solidFill>
                  <a:srgbClr val="963028"/>
                </a:solidFill>
                <a:latin typeface="Calibri" panose="020F0502020204030204"/>
              </a:rPr>
              <a:t>imitations</a:t>
            </a:r>
          </a:p>
          <a:p>
            <a:pPr>
              <a:spcBef>
                <a:spcPts val="0"/>
              </a:spcBef>
              <a:spcAft>
                <a:spcPts val="1200"/>
              </a:spcAft>
            </a:pPr>
            <a:r>
              <a:rPr sz="2400" b="1" i="0" dirty="0">
                <a:solidFill>
                  <a:srgbClr val="963028"/>
                </a:solidFill>
                <a:latin typeface="Calibri" panose="020F0502020204030204"/>
              </a:rPr>
              <a:t>▪  </a:t>
            </a:r>
            <a:r>
              <a:rPr sz="2400" b="0" i="0" dirty="0">
                <a:solidFill>
                  <a:srgbClr val="2B2B2B"/>
                </a:solidFill>
                <a:latin typeface="Calibri" panose="020F0502020204030204"/>
              </a:rPr>
              <a:t>A feasibility / design study — no controlled student-outcome data yet.</a:t>
            </a:r>
          </a:p>
          <a:p>
            <a:pPr>
              <a:spcBef>
                <a:spcPts val="0"/>
              </a:spcBef>
              <a:spcAft>
                <a:spcPts val="1200"/>
              </a:spcAft>
            </a:pPr>
            <a:r>
              <a:rPr sz="2400" b="1" i="0" dirty="0">
                <a:solidFill>
                  <a:srgbClr val="963028"/>
                </a:solidFill>
                <a:latin typeface="Calibri" panose="020F0502020204030204"/>
              </a:rPr>
              <a:t>▪  </a:t>
            </a:r>
            <a:r>
              <a:rPr sz="2400" b="0" i="0" dirty="0">
                <a:solidFill>
                  <a:srgbClr val="2B2B2B"/>
                </a:solidFill>
                <a:latin typeface="Calibri" panose="020F0502020204030204"/>
              </a:rPr>
              <a:t>Still needs a host PC alongside the board.</a:t>
            </a:r>
          </a:p>
          <a:p>
            <a:pPr>
              <a:spcBef>
                <a:spcPts val="0"/>
              </a:spcBef>
              <a:spcAft>
                <a:spcPts val="1200"/>
              </a:spcAft>
            </a:pPr>
            <a:r>
              <a:rPr sz="2400" b="1" i="0" dirty="0">
                <a:solidFill>
                  <a:srgbClr val="963028"/>
                </a:solidFill>
                <a:latin typeface="Calibri" panose="020F0502020204030204"/>
              </a:rPr>
              <a:t>▪  </a:t>
            </a:r>
            <a:r>
              <a:rPr sz="2400" b="0" i="0" dirty="0">
                <a:solidFill>
                  <a:srgbClr val="2B2B2B"/>
                </a:solidFill>
                <a:latin typeface="Calibri" panose="020F0502020204030204"/>
              </a:rPr>
              <a:t>The example model is deliberately modest.</a:t>
            </a:r>
            <a:endParaRPr sz="1600" b="0" i="0" dirty="0">
              <a:solidFill>
                <a:srgbClr val="2B2B2B"/>
              </a:solidFill>
              <a:latin typeface="Calibri" panose="020F0502020204030204"/>
            </a:endParaRPr>
          </a:p>
        </p:txBody>
      </p:sp>
      <p:sp>
        <p:nvSpPr>
          <p:cNvPr id="4" name="Rounded Rectangle 3"/>
          <p:cNvSpPr/>
          <p:nvPr/>
        </p:nvSpPr>
        <p:spPr>
          <a:xfrm>
            <a:off x="6156962" y="1399032"/>
            <a:ext cx="5394960" cy="3995928"/>
          </a:xfrm>
          <a:prstGeom prst="roundRect">
            <a:avLst>
              <a:gd name="adj" fmla="val 5000"/>
            </a:avLst>
          </a:prstGeom>
          <a:solidFill>
            <a:srgbClr val="E7F1EA"/>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28016" bIns="91440" rtlCol="0" anchor="t"/>
          <a:lstStyle/>
          <a:p>
            <a:pPr algn="ctr">
              <a:spcAft>
                <a:spcPts val="700"/>
              </a:spcAft>
            </a:pPr>
            <a:r>
              <a:rPr sz="2800" b="1" i="0" dirty="0">
                <a:solidFill>
                  <a:srgbClr val="2E7046"/>
                </a:solidFill>
                <a:latin typeface="Calibri" panose="020F0502020204030204"/>
              </a:rPr>
              <a:t>What comes next</a:t>
            </a:r>
          </a:p>
          <a:p>
            <a:pPr>
              <a:spcBef>
                <a:spcPts val="0"/>
              </a:spcBef>
              <a:spcAft>
                <a:spcPts val="1200"/>
              </a:spcAft>
            </a:pPr>
            <a:r>
              <a:rPr sz="2400" b="1" i="0" dirty="0">
                <a:solidFill>
                  <a:srgbClr val="2E7046"/>
                </a:solidFill>
                <a:latin typeface="Calibri" panose="020F0502020204030204"/>
              </a:rPr>
              <a:t>▪  </a:t>
            </a:r>
            <a:r>
              <a:rPr sz="2400" b="0" i="0" dirty="0">
                <a:solidFill>
                  <a:srgbClr val="2B2B2B"/>
                </a:solidFill>
                <a:latin typeface="Calibri" panose="020F0502020204030204"/>
              </a:rPr>
              <a:t>A controlled study across two cohorts — owned boards vs. one shared instance.</a:t>
            </a:r>
          </a:p>
          <a:p>
            <a:pPr>
              <a:spcBef>
                <a:spcPts val="0"/>
              </a:spcBef>
              <a:spcAft>
                <a:spcPts val="1200"/>
              </a:spcAft>
            </a:pPr>
            <a:r>
              <a:rPr sz="2400" b="1" i="0" dirty="0">
                <a:solidFill>
                  <a:srgbClr val="2E7046"/>
                </a:solidFill>
                <a:latin typeface="Calibri" panose="020F0502020204030204"/>
              </a:rPr>
              <a:t>▪  </a:t>
            </a:r>
            <a:r>
              <a:rPr sz="2400" b="0" i="0" dirty="0">
                <a:solidFill>
                  <a:srgbClr val="2B2B2B"/>
                </a:solidFill>
                <a:latin typeface="Calibri" panose="020F0502020204030204"/>
              </a:rPr>
              <a:t>A hosted remote-laboratory deployment over the network.</a:t>
            </a:r>
          </a:p>
          <a:p>
            <a:pPr>
              <a:spcBef>
                <a:spcPts val="0"/>
              </a:spcBef>
              <a:spcAft>
                <a:spcPts val="1200"/>
              </a:spcAft>
            </a:pPr>
            <a:r>
              <a:rPr sz="2400" b="1" i="0" dirty="0">
                <a:solidFill>
                  <a:srgbClr val="2E7046"/>
                </a:solidFill>
                <a:latin typeface="Calibri" panose="020F0502020204030204"/>
              </a:rPr>
              <a:t>▪  </a:t>
            </a:r>
            <a:r>
              <a:rPr sz="2400" b="0" i="0" dirty="0">
                <a:solidFill>
                  <a:srgbClr val="2B2B2B"/>
                </a:solidFill>
                <a:latin typeface="Calibri" panose="020F0502020204030204"/>
              </a:rPr>
              <a:t>A more capable model through the same verified flow</a:t>
            </a:r>
            <a:r>
              <a:rPr sz="2000" b="0" i="0" dirty="0">
                <a:solidFill>
                  <a:srgbClr val="2B2B2B"/>
                </a:solidFill>
                <a:latin typeface="Calibri" panose="020F0502020204030204"/>
              </a:rPr>
              <a:t>.</a:t>
            </a:r>
          </a:p>
        </p:txBody>
      </p:sp>
      <p:sp>
        <p:nvSpPr>
          <p:cNvPr id="6" name="TextBox 5"/>
          <p:cNvSpPr txBox="1"/>
          <p:nvPr/>
        </p:nvSpPr>
        <p:spPr>
          <a:xfrm>
            <a:off x="11551922" y="5985748"/>
            <a:ext cx="463294" cy="369332"/>
          </a:xfrm>
          <a:prstGeom prst="rect">
            <a:avLst/>
          </a:prstGeom>
          <a:noFill/>
        </p:spPr>
        <p:txBody>
          <a:bodyPr wrap="square" rtlCol="0">
            <a:spAutoFit/>
          </a:bodyPr>
          <a:lstStyle/>
          <a:p>
            <a:r>
              <a:rPr lang="en-US"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330518"/>
            <a:ext cx="10515600" cy="846455"/>
          </a:xfrm>
        </p:spPr>
        <p:txBody>
          <a:bodyPr wrap="square">
            <a:normAutofit/>
          </a:bodyPr>
          <a:lstStyle/>
          <a:p>
            <a:r>
              <a:rPr b="1" dirty="0">
                <a:solidFill>
                  <a:srgbClr val="7A1E2B"/>
                </a:solidFill>
                <a:latin typeface="Calibri" panose="020F0502020204030204"/>
              </a:rPr>
              <a:t>The takeaway</a:t>
            </a:r>
          </a:p>
        </p:txBody>
      </p:sp>
      <p:sp>
        <p:nvSpPr>
          <p:cNvPr id="3" name="Rounded Rectangle 2"/>
          <p:cNvSpPr/>
          <p:nvPr/>
        </p:nvSpPr>
        <p:spPr>
          <a:xfrm>
            <a:off x="815340" y="1594326"/>
            <a:ext cx="10561320" cy="2697480"/>
          </a:xfrm>
          <a:prstGeom prst="roundRect">
            <a:avLst>
              <a:gd name="adj" fmla="val 4000"/>
            </a:avLst>
          </a:prstGeom>
          <a:solidFill>
            <a:srgbClr val="F6ECDB"/>
          </a:solidFill>
          <a:ln w="22225">
            <a:solidFill>
              <a:srgbClr val="BE7C26"/>
            </a:solidFill>
          </a:ln>
          <a:effectLst/>
        </p:spPr>
        <p:style>
          <a:lnRef idx="1">
            <a:schemeClr val="accent1"/>
          </a:lnRef>
          <a:fillRef idx="3">
            <a:schemeClr val="accent1"/>
          </a:fillRef>
          <a:effectRef idx="2">
            <a:schemeClr val="accent1"/>
          </a:effectRef>
          <a:fontRef idx="minor">
            <a:schemeClr val="lt1"/>
          </a:fontRef>
        </p:style>
        <p:txBody>
          <a:bodyPr wrap="square" lIns="365760" tIns="36576" rIns="365760" bIns="36576" rtlCol="0" anchor="ctr"/>
          <a:lstStyle/>
          <a:p>
            <a:pPr algn="ctr"/>
            <a:r>
              <a:rPr sz="3200" b="1" i="0" dirty="0">
                <a:solidFill>
                  <a:srgbClr val="7A1E2B"/>
                </a:solidFill>
                <a:latin typeface="Calibri" panose="020F0502020204030204"/>
              </a:rPr>
              <a:t>This is not about building a better FPGA.</a:t>
            </a:r>
          </a:p>
          <a:p>
            <a:pPr algn="ctr">
              <a:spcBef>
                <a:spcPts val="800"/>
              </a:spcBef>
            </a:pPr>
            <a:r>
              <a:rPr sz="2400" b="0" i="0" dirty="0">
                <a:solidFill>
                  <a:srgbClr val="2B2B2B"/>
                </a:solidFill>
                <a:latin typeface="Calibri" panose="020F0502020204030204"/>
              </a:rPr>
              <a:t>It is an educational resource that lets distance learners run authentic embedded machine-learning experiments — on affordable hardware they own, with correctness they can verify for themselves.</a:t>
            </a:r>
          </a:p>
        </p:txBody>
      </p:sp>
      <p:sp>
        <p:nvSpPr>
          <p:cNvPr id="4" name="Rounded Rectangle 3"/>
          <p:cNvSpPr/>
          <p:nvPr/>
        </p:nvSpPr>
        <p:spPr>
          <a:xfrm>
            <a:off x="822960" y="4709160"/>
            <a:ext cx="10561320" cy="868680"/>
          </a:xfrm>
          <a:prstGeom prst="roundRect">
            <a:avLst>
              <a:gd name="adj" fmla="val 10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100"/>
              </a:spcAft>
            </a:pPr>
            <a:r>
              <a:rPr sz="2400" b="1" i="0">
                <a:solidFill>
                  <a:srgbClr val="355274"/>
                </a:solidFill>
                <a:latin typeface="Calibri" panose="020F0502020204030204"/>
              </a:rPr>
              <a:t>Affordable &amp; owned    ·    Full-stack in one project    ·    Bit-exact verified</a:t>
            </a:r>
          </a:p>
        </p:txBody>
      </p:sp>
      <p:sp>
        <p:nvSpPr>
          <p:cNvPr id="6" name="TextBox 5"/>
          <p:cNvSpPr txBox="1"/>
          <p:nvPr/>
        </p:nvSpPr>
        <p:spPr>
          <a:xfrm>
            <a:off x="11576304" y="5985748"/>
            <a:ext cx="438912" cy="369332"/>
          </a:xfrm>
          <a:prstGeom prst="rect">
            <a:avLst/>
          </a:prstGeom>
          <a:noFill/>
        </p:spPr>
        <p:txBody>
          <a:bodyPr wrap="square" rtlCol="0">
            <a:spAutoFit/>
          </a:bodyPr>
          <a:lstStyle/>
          <a:p>
            <a:r>
              <a:rPr lang="en-US"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6764" y="1947673"/>
            <a:ext cx="4538472" cy="1549908"/>
          </a:xfrm>
        </p:spPr>
        <p:txBody>
          <a:bodyPr wrap="square">
            <a:normAutofit/>
          </a:bodyPr>
          <a:lstStyle/>
          <a:p>
            <a:r>
              <a:rPr sz="6600" b="1" dirty="0">
                <a:solidFill>
                  <a:srgbClr val="7A1E2B"/>
                </a:solidFill>
                <a:latin typeface="Calibri" panose="020F0502020204030204"/>
              </a:rPr>
              <a:t>Thank you</a:t>
            </a:r>
            <a:r>
              <a:rPr lang="en-US" sz="6600" b="1" dirty="0">
                <a:solidFill>
                  <a:srgbClr val="7A1E2B"/>
                </a:solidFill>
                <a:latin typeface="Calibri" panose="020F0502020204030204"/>
              </a:rPr>
              <a:t>!</a:t>
            </a:r>
            <a:endParaRPr sz="6600" b="1" dirty="0">
              <a:solidFill>
                <a:srgbClr val="7A1E2B"/>
              </a:solidFill>
              <a:latin typeface="Calibri" panose="020F0502020204030204"/>
            </a:endParaRPr>
          </a:p>
        </p:txBody>
      </p:sp>
      <p:sp>
        <p:nvSpPr>
          <p:cNvPr id="4" name="Rounded Rectangle 3"/>
          <p:cNvSpPr/>
          <p:nvPr/>
        </p:nvSpPr>
        <p:spPr>
          <a:xfrm>
            <a:off x="2260854" y="4773167"/>
            <a:ext cx="7670292" cy="1298448"/>
          </a:xfrm>
          <a:prstGeom prst="roundRect">
            <a:avLst>
              <a:gd name="adj" fmla="val 8000"/>
            </a:avLst>
          </a:prstGeom>
          <a:solidFill>
            <a:srgbClr val="F2F1E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dirty="0">
                <a:solidFill>
                  <a:srgbClr val="2B2B2B"/>
                </a:solidFill>
                <a:latin typeface="Calibri" panose="020F0502020204030204"/>
              </a:rPr>
              <a:t>Wimalachandra R.D.M.K.T.</a:t>
            </a:r>
          </a:p>
          <a:p>
            <a:pPr algn="ctr"/>
            <a:r>
              <a:rPr sz="1600" b="0" i="0" dirty="0">
                <a:solidFill>
                  <a:srgbClr val="666666"/>
                </a:solidFill>
                <a:latin typeface="Calibri" panose="020F0502020204030204"/>
              </a:rPr>
              <a:t>Department of Electrical and Information Engineering, University of Ruhuna</a:t>
            </a:r>
          </a:p>
          <a:p>
            <a:pPr algn="ctr"/>
            <a:r>
              <a:rPr sz="1600" b="0" i="0" dirty="0">
                <a:solidFill>
                  <a:srgbClr val="355274"/>
                </a:solidFill>
                <a:latin typeface="Calibri" panose="020F0502020204030204"/>
              </a:rPr>
              <a:t>wimalachandrathivanka@gmail.com</a:t>
            </a:r>
          </a:p>
        </p:txBody>
      </p:sp>
      <p:sp>
        <p:nvSpPr>
          <p:cNvPr id="5" name="TextBox 4"/>
          <p:cNvSpPr txBox="1"/>
          <p:nvPr/>
        </p:nvSpPr>
        <p:spPr>
          <a:xfrm>
            <a:off x="11558016" y="5985748"/>
            <a:ext cx="457200" cy="369332"/>
          </a:xfrm>
          <a:prstGeom prst="rect">
            <a:avLst/>
          </a:prstGeom>
          <a:noFill/>
        </p:spPr>
        <p:txBody>
          <a:bodyPr wrap="square" rtlCol="0">
            <a:spAutoFit/>
          </a:bodyPr>
          <a:lstStyle/>
          <a:p>
            <a:r>
              <a:rPr lang="en-US" dirty="0"/>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2913</Words>
  <Application>Microsoft Office PowerPoint</Application>
  <PresentationFormat>Widescreen</PresentationFormat>
  <Paragraphs>157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Batang</vt:lpstr>
      <vt:lpstr>Arial</vt:lpstr>
      <vt:lpstr>Calibri</vt:lpstr>
      <vt:lpstr>Calibri Light</vt:lpstr>
      <vt:lpstr>Helvetica Light</vt:lpstr>
      <vt:lpstr>Office Theme</vt:lpstr>
      <vt:lpstr>A Low-Cost, Verifiable FPGA Resource for Embedded Machine-Learning Education in Open and Distance Learning</vt:lpstr>
      <vt:lpstr>Engineers must put models on real hardware — distance learners rarely can</vt:lpstr>
      <vt:lpstr>Why existing options fall short for distance learners</vt:lpstr>
      <vt:lpstr>The proposed resource: a verifiable FPGA you own</vt:lpstr>
      <vt:lpstr>One pipeline: from trained model to verified hardware</vt:lpstr>
      <vt:lpstr>Bit-exact verification — the heart of the idea</vt:lpstr>
      <vt:lpstr>Why embedded machine learning is the demonstration</vt:lpstr>
      <vt:lpstr>PowerPoint Presentation</vt:lpstr>
      <vt:lpstr>Verifiability as pedagogy — and what is new here</vt:lpstr>
      <vt:lpstr>Limitations &amp; what comes next</vt:lpstr>
      <vt:lpstr>The takeaway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Janithapriya Buddhika K. PATHIRAGE DON</dc:creator>
  <cp:lastModifiedBy>Thivanka Wimalachandra</cp:lastModifiedBy>
  <cp:revision>55</cp:revision>
  <dcterms:created xsi:type="dcterms:W3CDTF">2023-10-19T00:48:00Z</dcterms:created>
  <dcterms:modified xsi:type="dcterms:W3CDTF">2026-08-03T05:38:24Z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E324FA15A5BE4483BFF7E2A551AA0250_12</vt:lpwstr>
  </property>
  <property fmtid="{D5CDD505-2E9C-101B-9397-08002B2CF9AE}" pid="3" name="KSOProductBuildVer">
    <vt:lpwstr>1033-12.1.0.28032</vt:lpwstr>
  </property>
</Properties>
</file>
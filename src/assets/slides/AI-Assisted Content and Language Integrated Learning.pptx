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2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44546A"/>
                </a:solidFill>
                <a:latin typeface="Calibri"/>
              </a:defRPr>
            </a:pPr>
            <a:r>
              <a:rPr lang="en-GB" sz="1400" b="0" i="0" u="none" strike="noStrike">
                <a:solidFill>
                  <a:srgbClr val="44546A"/>
                </a:solidFill>
                <a:latin typeface="Calibri"/>
              </a:rPr>
              <a:t>Mean Reading &amp; Writing Scores (n = 34)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Score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262626"/>
                    </a:solidFill>
                    <a:latin typeface="Calibri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Pre-test</c:v>
                </c:pt>
                <c:pt idx="1">
                  <c:v>Post-test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68.760000000000005</c:v>
                </c:pt>
                <c:pt idx="1">
                  <c:v>71.180000000000007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685-0F40-A74B-DF70BCB16D3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26262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12700" cap="flat">
              <a:solidFill>
                <a:srgbClr val="E7E6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95959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2F984B-65C1-694E-AAF0-AA68D78F3C5B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2387C0-C7B3-DC41-83FF-7BA71FCBCB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96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Content and Language Integrated Learning (CLIL)</a:t>
            </a:r>
            <a:endParaRPr lang="en-US" sz="3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27889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English Language Proficiency among Tamil-Medium Social Sciences Undergraduates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3977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Luxika Raguram¹        Sharmi Shanmuganathan²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4348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¹Department of ELT, University of Jaffna, Sri Lanka</a:t>
            </a:r>
            <a:endParaRPr lang="en-US" sz="1400" dirty="0"/>
          </a:p>
          <a:p>
            <a:pPr marL="0" indent="0" algn="ctr">
              <a:lnSpc>
                <a:spcPts val="2000"/>
              </a:lnSpc>
              <a:buNone/>
            </a:pPr>
            <a:r>
              <a:rPr lang="en-US" sz="14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²School of Business, SLIIT Northern University, Jaffna, Sri Lanka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luxika@univ.jfn.ac.lk        |        SharmiS@NorthernUni.com</a:t>
            </a:r>
            <a:endParaRPr lang="en-US" sz="13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7EABD2D-56E2-348A-4BB1-F7895B94FE21}"/>
              </a:ext>
            </a:extLst>
          </p:cNvPr>
          <p:cNvSpPr txBox="1"/>
          <p:nvPr/>
        </p:nvSpPr>
        <p:spPr>
          <a:xfrm>
            <a:off x="495759" y="362188"/>
            <a:ext cx="108428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ICODE2026 – International Conference on Open and Digital Education</a:t>
            </a:r>
          </a:p>
          <a:p>
            <a:pPr algn="ctr"/>
            <a:r>
              <a:rPr lang="en-GB" b="1" dirty="0"/>
              <a:t>Centre for Open and Distance Learning (CODL), University of Moratuwa</a:t>
            </a:r>
          </a:p>
          <a:p>
            <a:pPr algn="ctr"/>
            <a:r>
              <a:rPr lang="en-GB" b="1" dirty="0"/>
              <a:t>Colombo, Sri Lanka</a:t>
            </a:r>
          </a:p>
          <a:p>
            <a:pPr algn="ctr"/>
            <a:r>
              <a:rPr lang="en-GB" b="1" dirty="0"/>
              <a:t>5</a:t>
            </a:r>
            <a:r>
              <a:rPr lang="en-GB" b="1" baseline="30000" dirty="0"/>
              <a:t>th</a:t>
            </a:r>
            <a:r>
              <a:rPr lang="en-GB" b="1" dirty="0"/>
              <a:t>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55448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Context</a:t>
            </a:r>
          </a:p>
          <a:p>
            <a:pPr marL="228600" indent="-228600">
              <a:spcAft>
                <a:spcPts val="1600"/>
              </a:spcAft>
              <a:buSzPct val="100000"/>
              <a:buFontTx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&amp; Discussion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just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and Language Integrated Learning (CLIL) is widely recognised as an effective pedagogical approach for integrating disciplinary content with second language development.</a:t>
            </a:r>
            <a:endParaRPr lang="en-US" sz="2000" dirty="0"/>
          </a:p>
          <a:p>
            <a:pPr marL="228600" indent="-228600" algn="just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CLIL focuses on the successful acquisition of a new language through the processes of understanding and creating meaning.</a:t>
            </a:r>
            <a:endParaRPr lang="en-US" sz="2000" dirty="0"/>
          </a:p>
          <a:p>
            <a:pPr marL="228600" indent="-228600" algn="just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CLIL, content and target-language acquisition are treated as being of equal importance, whereas in English Medium Instruction (EMI), content takes precedence over the medium through which it is delivered.</a:t>
            </a:r>
            <a:endParaRPr lang="en-US" sz="2000" dirty="0"/>
          </a:p>
          <a:p>
            <a:pPr marL="228600" indent="-228600" algn="just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growing integration of artificial intelligence in higher education has opened new possibilities for enhancing both language learning and subject-content understanding through AI-assisted CLIL.</a:t>
            </a:r>
            <a:endParaRPr lang="en-US" sz="2000" dirty="0"/>
          </a:p>
          <a:p>
            <a:pPr marL="228600" indent="-228600" algn="just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investigates the effectiveness of AI-assisted CLIL in improving the English language proficiency of Tamil-medium, second-year Social Sciences undergraduates at the University of Jaffna, Sri Lanka.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Context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11064240" cy="5120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traditional approaches, the CLIL approach focuses on the creative and functional use of language for cognitive development and communication.</a:t>
            </a:r>
            <a:endParaRPr lang="en-US" sz="20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Thompson and McKinley note that CLIL supports learners in achieving their situational language needs.</a:t>
            </a:r>
            <a:endParaRPr lang="en-US" sz="20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Sri Lankan context, CLIL aligns with national educational goals of improving English proficiency for academic advancement and global opportunities.</a:t>
            </a:r>
            <a:endParaRPr lang="en-US" sz="20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suggests that CLIL enhances learner engagement by providing comprehensible input, encouraging interaction, and facilitating meaningful output, fostering cognitive and linguistic development.</a:t>
            </a:r>
            <a:endParaRPr lang="en-US" sz="20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CLIL also promotes learner motivation through authentic and relevant content, contributing to positive language-identity formation.</a:t>
            </a:r>
            <a:endParaRPr lang="en-US" sz="2000" dirty="0"/>
          </a:p>
          <a:p>
            <a:pPr marL="228600" indent="-228600" algn="just">
              <a:spcAft>
                <a:spcPts val="11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integration offers additional support by providing adaptive input, scaffolding comprehension, and enhancing reading engagement.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0789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800"/>
              </a:lnSpc>
              <a:buNone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examine the effectiveness of AI-assisted CLIL in improving the L2 proficiency of second-year Tamil-medium Social Sciences undergraduates at the University of Jaffna, Sri Lanka.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3749041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Hypothesis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94360" y="461661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lnSpc>
                <a:spcPts val="2600"/>
              </a:lnSpc>
              <a:buNone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Students' performance in L2 is significantly higher after the AI-assisted CLIL intervention.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72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9019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One-group quasi-experimental, mixed-methods design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0" y="1463040"/>
            <a:ext cx="3383280" cy="1234440"/>
          </a:xfrm>
          <a:prstGeom prst="roundRect">
            <a:avLst>
              <a:gd name="adj" fmla="val 592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57276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901952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second-year Tamil-medium Social Sciences undergraduates, one academic semester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80960" y="1463040"/>
            <a:ext cx="3931920" cy="1234440"/>
          </a:xfrm>
          <a:prstGeom prst="roundRect">
            <a:avLst>
              <a:gd name="adj" fmla="val 5926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0" y="1572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863840" y="1901952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6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Pre-test, post-test, and semi-structured interviews (ethical approval and informed consent obtained)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2971800"/>
            <a:ext cx="110642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completed researcher-developed pre-test and post-test assessments measuring English reading and writing skills.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Semi-structured interviews were conducted to explore learners' perceptions of, and experiences with, the intervention.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engaged with Social Sciences-related English texts and tasks while using AI tools such as ChatGPT and Gemini to support content and vocabulary development and text comprehension.</a:t>
            </a:r>
            <a:endParaRPr lang="en-US" sz="20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presentations were also held to develop speaking fluency, although this fell outside the primary research focus.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Pre-test vs. Post-test Scores</a:t>
            </a:r>
            <a:endParaRPr lang="en-US" sz="3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548640" y="1371600"/>
          <a:ext cx="58521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6766560" y="141732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949440" y="147218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Pre-test (M, SD)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784080" y="147218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68.76, 10.74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766560" y="228600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49440" y="234086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 (M, SD)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784080" y="234086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71.18, 11.57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766560" y="315468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49440" y="320954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t-test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9784080" y="320954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t(33) = 2.68, p = .011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6766560" y="402336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49440" y="407822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784080" y="407822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Cohen's d = 0.46 (moderate)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766560" y="4892040"/>
            <a:ext cx="4846320" cy="777240"/>
          </a:xfrm>
          <a:prstGeom prst="roundRect">
            <a:avLst>
              <a:gd name="adj" fmla="val 7059"/>
            </a:avLst>
          </a:prstGeom>
          <a:solidFill>
            <a:srgbClr val="F2F4F8"/>
          </a:solidFill>
          <a:ln w="12700">
            <a:solidFill>
              <a:srgbClr val="F2F4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49440" y="4946904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improved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9784080" y="4946904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34 (67.6%)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Post-test scores were significantly higher than pre-test scores, indicating a statistically significant and educationally meaningful improvement in students' English reading and writing performance following the AI-assisted CLIL intervention.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Findings: Learner Perceptions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 perceived AI-assisted CLIL as conducive to independent learning.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participants reported increased confidence in using, and an improved ability to access and understand, materials in English.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majority of participants also reported a growing reliance on AI tools for self-directed learning.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Participants' speaking fluency in relation to subject-related topics also appeared to improve.</a:t>
            </a:r>
            <a:endParaRPr lang="en-US" sz="2800" dirty="0"/>
          </a:p>
          <a:p>
            <a:pPr marL="228600" indent="-228600">
              <a:spcAft>
                <a:spcPts val="16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together, these findings suggest that AI plays a valuable role in supporting self-directed learning within a CLIL framework.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CLIL is an effective pedagogical approach for promoting English language development while supporting disciplinary knowledge and learner autonomy.</a:t>
            </a:r>
            <a:endParaRPr lang="en-US" sz="2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the majority of students reported a degree of over-reliance on AI for self-directed learning, there is a clear need for facilitators to teach Critical AI Literacy.</a:t>
            </a:r>
            <a:endParaRPr lang="en-US" sz="2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AI Literacy training should equip students to recognise bias, identify misinformation, and use AI tools ethically.</a:t>
            </a:r>
            <a:endParaRPr lang="en-US" sz="2800" dirty="0"/>
          </a:p>
          <a:p>
            <a:pPr marL="228600" indent="-228600">
              <a:spcAft>
                <a:spcPts val="1800"/>
              </a:spcAft>
              <a:buSzPct val="100000"/>
              <a:buChar char="•"/>
            </a:pPr>
            <a:r>
              <a:rPr lang="en-US" sz="28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could investigate the long-term impact of AI-assisted CLIL across different disciplines, using larger samples and longitudinal research designs.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11064240" cy="5029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L. Lightbown and N. Spada, How Languages Are Learned, 3rd ed. Oxford, U.K.: Oxford University Press, 2006.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Thompson and G. McKinley, "Integration of content and language learning," in TESOL Encyclopedia of English Language Teaching. Hoboken, NJ, USA: Wiley, 2018.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Nanayakkara, "Bilingual Education Programme in Sri Lanka," in Language and Learning Conference: A Deliberation on Language-in-Education Policy and Practice in Pakistan, Lahore, Pakistan: SAHE, 2017, pp. 1-8.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Coyle, P. Hood, and D. Marsh, CLIL: Content and Language Integrated Learning. Cambridge, U.K.: Cambridge University Press, 2010.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Mehisto, D. Marsh, and M. J. Frigols, Uncovering CLIL: Content and Language Integrated Learning in Bilingual and Multilingual Education. Oxford, U.K.: Macmillan, 2008.</a:t>
            </a:r>
            <a:endParaRPr lang="en-US" sz="2000" dirty="0"/>
          </a:p>
          <a:p>
            <a:pPr marL="0" indent="0">
              <a:spcAft>
                <a:spcPts val="1000"/>
              </a:spcAft>
              <a:buNone/>
            </a:pPr>
            <a:r>
              <a:rPr lang="en-US" sz="2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Cross and M. Gearon, "Research and evaluation of the CLIL approach to teaching and learning languages in Victorian schools," The Internet TESL Journal, vol. 9, no. 2, Feb. 2003.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152144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44546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8346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0" y="37490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9DD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1033</Words>
  <Application>Microsoft Office PowerPoint</Application>
  <PresentationFormat>Widescreen</PresentationFormat>
  <Paragraphs>99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USER</cp:lastModifiedBy>
  <cp:revision>3</cp:revision>
  <dcterms:created xsi:type="dcterms:W3CDTF">2026-07-25T11:38:28Z</dcterms:created>
  <dcterms:modified xsi:type="dcterms:W3CDTF">2026-08-01T15:40:47Z</dcterms:modified>
</cp:coreProperties>
</file>
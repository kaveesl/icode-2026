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8" r:id="rId4"/>
    <p:sldId id="269" r:id="rId5"/>
    <p:sldId id="270" r:id="rId6"/>
    <p:sldId id="271" r:id="rId7"/>
    <p:sldId id="275" r:id="rId8"/>
    <p:sldId id="276" r:id="rId9"/>
    <p:sldId id="277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1095"/>
    <a:srgbClr val="D8963D"/>
    <a:srgbClr val="BE7C26"/>
    <a:srgbClr val="BF5A4B"/>
    <a:srgbClr val="776612"/>
    <a:srgbClr val="FDDB89"/>
    <a:srgbClr val="FCECAE"/>
    <a:srgbClr val="AA988F"/>
    <a:srgbClr val="F7C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2"/>
    <p:restoredTop sz="94976" autoAdjust="0"/>
  </p:normalViewPr>
  <p:slideViewPr>
    <p:cSldViewPr snapToGrid="0">
      <p:cViewPr varScale="1">
        <p:scale>
          <a:sx n="79" d="100"/>
          <a:sy n="79" d="100"/>
        </p:scale>
        <p:origin x="9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0D744-E84F-6343-A86E-B978A19DD84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8C1E9-10D7-BC49-9440-411BDAEE25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08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3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267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A4AEA7-C69E-EC95-FA96-07651E7F961E}"/>
              </a:ext>
            </a:extLst>
          </p:cNvPr>
          <p:cNvSpPr/>
          <p:nvPr userDrawn="1"/>
        </p:nvSpPr>
        <p:spPr>
          <a:xfrm>
            <a:off x="0" y="5873610"/>
            <a:ext cx="12192000" cy="984390"/>
          </a:xfrm>
          <a:prstGeom prst="rect">
            <a:avLst/>
          </a:prstGeom>
          <a:solidFill>
            <a:srgbClr val="BE7C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823CD2-D686-F273-ACE8-AC6A5193C3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3032" y="3601484"/>
            <a:ext cx="10420768" cy="1488697"/>
          </a:xfrm>
        </p:spPr>
        <p:txBody>
          <a:bodyPr anchor="b"/>
          <a:lstStyle>
            <a:lvl1pPr algn="l">
              <a:defRPr sz="28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907D2-0D25-00D2-327C-3DF761F69F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3032" y="5195330"/>
            <a:ext cx="10420768" cy="47847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A7B7-97FF-9CD1-FD2F-BCF95653E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602" y="6470650"/>
            <a:ext cx="885024" cy="365125"/>
          </a:xfrm>
        </p:spPr>
        <p:txBody>
          <a:bodyPr/>
          <a:lstStyle/>
          <a:p>
            <a:fld id="{2CA05847-19ED-4347-AEF2-B952E6249A27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DF7C-F842-163C-A5D7-8DC89EC5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A logo of university of moratuna&#10;&#10;Description automatically generated">
            <a:extLst>
              <a:ext uri="{FF2B5EF4-FFF2-40B4-BE49-F238E27FC236}">
                <a16:creationId xmlns:a16="http://schemas.microsoft.com/office/drawing/2014/main" id="{10FCD895-49D4-2C2B-0DDA-EB174522DF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810152"/>
            <a:ext cx="993179" cy="1047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E5BC98-C9BE-F182-327E-BA1B46C3C367}"/>
              </a:ext>
            </a:extLst>
          </p:cNvPr>
          <p:cNvSpPr txBox="1"/>
          <p:nvPr userDrawn="1"/>
        </p:nvSpPr>
        <p:spPr>
          <a:xfrm>
            <a:off x="5062822" y="6078801"/>
            <a:ext cx="3499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12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Distance Learning</a:t>
            </a:r>
            <a:endParaRPr lang="en-US" sz="16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F38F87-AB65-252B-4161-C4F3025B79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2189" b="28622"/>
          <a:stretch>
            <a:fillRect/>
          </a:stretch>
        </p:blipFill>
        <p:spPr>
          <a:xfrm>
            <a:off x="0" y="0"/>
            <a:ext cx="12192000" cy="31745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BCC698-00FA-02AC-2EC8-E03C42F083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8490" y="6097902"/>
            <a:ext cx="555310" cy="5553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8C88C4-B11C-9D28-79DC-BE2A7143E42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492998" y="6089239"/>
            <a:ext cx="547928" cy="5479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CDFCA1-516B-CA9E-9106-61501DE8953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2376" y="6146958"/>
            <a:ext cx="3949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8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6725CB-DD15-E2D5-8817-D451B2847E89}"/>
              </a:ext>
            </a:extLst>
          </p:cNvPr>
          <p:cNvSpPr/>
          <p:nvPr userDrawn="1"/>
        </p:nvSpPr>
        <p:spPr>
          <a:xfrm>
            <a:off x="0" y="6386513"/>
            <a:ext cx="12247233" cy="471487"/>
          </a:xfrm>
          <a:prstGeom prst="rect">
            <a:avLst/>
          </a:prstGeom>
          <a:solidFill>
            <a:srgbClr val="D896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D97062-BBA5-C8F4-B8C5-FC4B9E6AC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773" y="6467507"/>
            <a:ext cx="333792" cy="333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66E85E-58C5-3FDA-6529-8BC9EE028F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2337" y="6478912"/>
            <a:ext cx="329714" cy="3297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DB0DD7-EFDB-94C9-A0F9-DFF7316946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428" y="6464962"/>
            <a:ext cx="337679" cy="3376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678ECB-9A15-B439-AF83-8F512B9DD0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52765" y="6467688"/>
            <a:ext cx="2848362" cy="32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16F693-A763-0D6D-D42F-7AAE7F4D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455"/>
          </a:xfrm>
        </p:spPr>
        <p:txBody>
          <a:bodyPr>
            <a:normAutofit/>
          </a:bodyPr>
          <a:lstStyle>
            <a:lvl1pPr>
              <a:defRPr sz="32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FEBE-C4E2-45C5-F282-8D45A264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718"/>
            <a:ext cx="10515600" cy="4881245"/>
          </a:xfrm>
        </p:spPr>
        <p:txBody>
          <a:bodyPr/>
          <a:lstStyle>
            <a:lvl1pPr>
              <a:defRPr sz="2400" b="0" i="0">
                <a:latin typeface="Helvetica Light" panose="020B0403020202020204" pitchFamily="34" charset="0"/>
              </a:defRPr>
            </a:lvl1pPr>
            <a:lvl2pPr>
              <a:defRPr sz="2000" b="0" i="0">
                <a:latin typeface="Helvetica Light" panose="020B0403020202020204" pitchFamily="34" charset="0"/>
              </a:defRPr>
            </a:lvl2pPr>
            <a:lvl3pPr>
              <a:defRPr sz="1600" b="0" i="0">
                <a:latin typeface="Helvetica Light" panose="020B0403020202020204" pitchFamily="34" charset="0"/>
              </a:defRPr>
            </a:lvl3pPr>
            <a:lvl4pPr>
              <a:defRPr sz="1400" b="0" i="0">
                <a:latin typeface="Helvetica Light" panose="020B0403020202020204" pitchFamily="34" charset="0"/>
              </a:defRPr>
            </a:lvl4pPr>
            <a:lvl5pPr>
              <a:defRPr sz="12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535BE-12FB-ABC9-1582-FEA1C5A9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2025" y="6451600"/>
            <a:ext cx="2743200" cy="365125"/>
          </a:xfrm>
        </p:spPr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1F0D1-18D2-E00A-1709-989FADF3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BF95-FD3F-9D31-E0D8-D1B7C1BE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919E0-AD3E-C694-05D7-9C8811DCBB6C}"/>
              </a:ext>
            </a:extLst>
          </p:cNvPr>
          <p:cNvSpPr txBox="1"/>
          <p:nvPr userDrawn="1"/>
        </p:nvSpPr>
        <p:spPr>
          <a:xfrm>
            <a:off x="4346425" y="6456645"/>
            <a:ext cx="3499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8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 Distance Learning</a:t>
            </a:r>
            <a:endParaRPr lang="en-US" sz="10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229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B7258-7DF7-6F12-F6A4-FA86F20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392C8-15D6-5420-8CC6-1FE77A02D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79B64-BBDE-4ED8-6931-53EFBEE50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BE1F675-7703-4C18-A059-3C6B370B5644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29463-8263-DA6C-1CA8-766FCBB6B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E67D-10E4-C059-B683-7A8710201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5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fif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43855B9-DB2C-F27C-5B9D-47B749731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032" y="3224714"/>
            <a:ext cx="10420768" cy="1318098"/>
          </a:xfrm>
        </p:spPr>
        <p:txBody>
          <a:bodyPr/>
          <a:lstStyle/>
          <a:p>
            <a:r>
              <a:rPr lang="en-US" b="1" dirty="0"/>
              <a:t>From Novice to Digital Expert: Insights of the Learning Journeys of Fashion Design Professionals in Sri Lanka</a:t>
            </a:r>
            <a:br>
              <a:rPr lang="en-US" dirty="0"/>
            </a:br>
            <a:endParaRPr lang="en-US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E15B6C6-B1A2-75CE-4997-9076D5766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86" y="4241256"/>
            <a:ext cx="10420768" cy="991393"/>
          </a:xfrm>
        </p:spPr>
        <p:txBody>
          <a:bodyPr>
            <a:normAutofit/>
          </a:bodyPr>
          <a:lstStyle/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1000" dirty="0"/>
              <a:t>Mihirini De Silva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1000" dirty="0"/>
              <a:t>Department of Integrated Design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1000" dirty="0"/>
              <a:t>Faculty of Architecture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1000" dirty="0"/>
              <a:t>University of Moratuwa, Colombo, Sri Lanka.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B532A-0E1B-B62C-36B8-F727E515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74077-899A-4B14-AB6E-0313F990C7DA}" type="datetime1">
              <a:rPr lang="en-US" smtClean="0"/>
              <a:t>8/2/2026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F0C1A2-1F13-6E8B-D62B-54C30DB94949}"/>
              </a:ext>
            </a:extLst>
          </p:cNvPr>
          <p:cNvCxnSpPr/>
          <p:nvPr/>
        </p:nvCxnSpPr>
        <p:spPr>
          <a:xfrm>
            <a:off x="1031132" y="5187420"/>
            <a:ext cx="11070077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ubtitle 10">
            <a:extLst>
              <a:ext uri="{FF2B5EF4-FFF2-40B4-BE49-F238E27FC236}">
                <a16:creationId xmlns:a16="http://schemas.microsoft.com/office/drawing/2014/main" id="{55AB25E2-1758-27A1-272B-0D367604E2DB}"/>
              </a:ext>
            </a:extLst>
          </p:cNvPr>
          <p:cNvSpPr txBox="1">
            <a:spLocks/>
          </p:cNvSpPr>
          <p:nvPr/>
        </p:nvSpPr>
        <p:spPr>
          <a:xfrm>
            <a:off x="952486" y="5252520"/>
            <a:ext cx="2773208" cy="56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Helvetica Light" panose="020B04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900" dirty="0"/>
              <a:t>Dr. (Mrs.) </a:t>
            </a:r>
            <a:r>
              <a:rPr lang="en-US" sz="900" dirty="0" err="1"/>
              <a:t>Sumanthri</a:t>
            </a:r>
            <a:r>
              <a:rPr lang="en-US" sz="900" dirty="0"/>
              <a:t> Samarawickrama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900" dirty="0"/>
              <a:t>Department of Integrated Design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900" dirty="0"/>
              <a:t>Faculty of Architecture 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900" dirty="0"/>
              <a:t>University of Moratuwa, Sri Lanka</a:t>
            </a:r>
          </a:p>
        </p:txBody>
      </p:sp>
      <p:sp>
        <p:nvSpPr>
          <p:cNvPr id="6" name="Subtitle 10">
            <a:extLst>
              <a:ext uri="{FF2B5EF4-FFF2-40B4-BE49-F238E27FC236}">
                <a16:creationId xmlns:a16="http://schemas.microsoft.com/office/drawing/2014/main" id="{DB653809-F649-4399-83A8-B8BD6F3CDA0F}"/>
              </a:ext>
            </a:extLst>
          </p:cNvPr>
          <p:cNvSpPr txBox="1">
            <a:spLocks/>
          </p:cNvSpPr>
          <p:nvPr/>
        </p:nvSpPr>
        <p:spPr>
          <a:xfrm>
            <a:off x="952486" y="5057971"/>
            <a:ext cx="1682885" cy="1776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Helvetica Light" panose="020B04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"/>
              </a:lnSpc>
              <a:spcBef>
                <a:spcPts val="1200"/>
              </a:spcBef>
            </a:pPr>
            <a:r>
              <a:rPr lang="en-US" sz="1100" b="1" dirty="0"/>
              <a:t>Supervisors.</a:t>
            </a:r>
          </a:p>
        </p:txBody>
      </p:sp>
      <p:sp>
        <p:nvSpPr>
          <p:cNvPr id="8" name="Subtitle 10">
            <a:extLst>
              <a:ext uri="{FF2B5EF4-FFF2-40B4-BE49-F238E27FC236}">
                <a16:creationId xmlns:a16="http://schemas.microsoft.com/office/drawing/2014/main" id="{E20593FB-14B3-0209-A163-1838D8115649}"/>
              </a:ext>
            </a:extLst>
          </p:cNvPr>
          <p:cNvSpPr txBox="1">
            <a:spLocks/>
          </p:cNvSpPr>
          <p:nvPr/>
        </p:nvSpPr>
        <p:spPr>
          <a:xfrm>
            <a:off x="7079704" y="5262248"/>
            <a:ext cx="2773208" cy="56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Helvetica Light" panose="020B04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900" dirty="0"/>
              <a:t>Dr. Sumith Gopura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900" dirty="0"/>
              <a:t>Department of Textile &amp; Apparel Engineering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900" dirty="0"/>
              <a:t>Faculty of Engineering 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r>
              <a:rPr lang="en-US" sz="900" dirty="0"/>
              <a:t>University of Moratuwa, Sri Lanka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AD1555D-E05F-1947-1D24-0433ECB70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05372" y="0"/>
            <a:ext cx="5694729" cy="31784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D5A4A4C-4936-B568-7470-8508716306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" t="3977" r="-80" b="49754"/>
          <a:stretch>
            <a:fillRect/>
          </a:stretch>
        </p:blipFill>
        <p:spPr>
          <a:xfrm>
            <a:off x="0" y="0"/>
            <a:ext cx="6858000" cy="317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5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D428C3-C6C5-C588-F0A8-8EC4D0B8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Research Context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AD189A8-9DF0-4A7D-5611-C7570DD55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01"/>
            <a:ext cx="10515600" cy="4881245"/>
          </a:xfrm>
        </p:spPr>
        <p:txBody>
          <a:bodyPr/>
          <a:lstStyle/>
          <a:p>
            <a:pPr lvl="0"/>
            <a:r>
              <a:rPr lang="en-US" dirty="0"/>
              <a:t>Digital transformation is reshaping the global apparel and fashion industry. </a:t>
            </a:r>
          </a:p>
          <a:p>
            <a:pPr lvl="0"/>
            <a:r>
              <a:rPr lang="en-US" dirty="0"/>
              <a:t>Fashion designers increasingly require digital competencies beyond traditional creative skills. </a:t>
            </a:r>
          </a:p>
          <a:p>
            <a:pPr lvl="0"/>
            <a:r>
              <a:rPr lang="en-US" dirty="0"/>
              <a:t>Developing countries, including Sri Lanka, face challenges aligning fashion education with industry expectations. </a:t>
            </a:r>
          </a:p>
          <a:p>
            <a:pPr lvl="0"/>
            <a:r>
              <a:rPr lang="en-US" dirty="0"/>
              <a:t>Limited understanding exists regarding how professionals actually develop digital capabilities</a:t>
            </a:r>
          </a:p>
          <a:p>
            <a:pPr lvl="0"/>
            <a:endParaRPr lang="en-US" dirty="0"/>
          </a:p>
          <a:p>
            <a:pPr marL="0" lvl="0" indent="0" algn="ctr">
              <a:buNone/>
            </a:pPr>
            <a:r>
              <a:rPr lang="en-US" b="1" dirty="0"/>
              <a:t>Digital transformation → Fashion industry → Education gap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3696D-E439-FAD9-193F-773219E8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9E16CE-D55E-7594-4432-6B8D8E7A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D8CAE9-9730-EAF2-803E-4067DCF4A48B}"/>
              </a:ext>
            </a:extLst>
          </p:cNvPr>
          <p:cNvSpPr/>
          <p:nvPr/>
        </p:nvSpPr>
        <p:spPr>
          <a:xfrm>
            <a:off x="838200" y="5301575"/>
            <a:ext cx="10515600" cy="9236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80DEA-F16B-6B6D-437A-66AC7A08611C}"/>
              </a:ext>
            </a:extLst>
          </p:cNvPr>
          <p:cNvSpPr txBox="1"/>
          <p:nvPr/>
        </p:nvSpPr>
        <p:spPr>
          <a:xfrm>
            <a:off x="838200" y="5267427"/>
            <a:ext cx="994166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Amorim et al. (2025)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Baytar</a:t>
            </a:r>
            <a:r>
              <a:rPr lang="en-US" sz="1100" dirty="0"/>
              <a:t> (2018)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Conlon &amp; Gallery (2024)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Lee (2022)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Papahristou</a:t>
            </a:r>
            <a:r>
              <a:rPr lang="en-US" sz="1100" dirty="0"/>
              <a:t> &amp; Tatsi (2024)</a:t>
            </a:r>
          </a:p>
        </p:txBody>
      </p:sp>
    </p:spTree>
    <p:extLst>
      <p:ext uri="{BB962C8B-B14F-4D97-AF65-F5344CB8AC3E}">
        <p14:creationId xmlns:p14="http://schemas.microsoft.com/office/powerpoint/2010/main" val="2278078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9764-D212-30A5-3C08-06F24582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Problem &amp;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40736-CF67-92AC-5F2E-54E676E7C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718"/>
            <a:ext cx="10515600" cy="4105799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Existing studies mainly focus on: </a:t>
            </a:r>
          </a:p>
          <a:p>
            <a:pPr lvl="1"/>
            <a:r>
              <a:rPr lang="en-US" dirty="0"/>
              <a:t>Digital tools in fashion education </a:t>
            </a:r>
          </a:p>
          <a:p>
            <a:pPr lvl="1"/>
            <a:r>
              <a:rPr lang="en-US" dirty="0"/>
              <a:t>Curriculum integration </a:t>
            </a:r>
          </a:p>
          <a:p>
            <a:pPr lvl="1"/>
            <a:r>
              <a:rPr lang="en-US" dirty="0"/>
              <a:t>Technology adoption </a:t>
            </a:r>
          </a:p>
          <a:p>
            <a:pPr marL="0" lvl="0" indent="0">
              <a:buNone/>
            </a:pPr>
            <a:r>
              <a:rPr lang="en-US" dirty="0"/>
              <a:t>Limited empirical evidence on: </a:t>
            </a:r>
          </a:p>
          <a:p>
            <a:pPr lvl="1"/>
            <a:r>
              <a:rPr lang="en-US" dirty="0"/>
              <a:t>How fashion professionals develop digital competencies </a:t>
            </a:r>
          </a:p>
          <a:p>
            <a:pPr lvl="1"/>
            <a:r>
              <a:rPr lang="en-US" dirty="0"/>
              <a:t>What educational experiences shaped their digital journeys </a:t>
            </a:r>
          </a:p>
          <a:p>
            <a:pPr lvl="1"/>
            <a:r>
              <a:rPr lang="en-US" dirty="0"/>
              <a:t>How industry practice influences competency development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Research gap statement: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"Understanding professional digital learning journeys is essential for developing context-responsive strategies for fashion education."</a:t>
            </a:r>
          </a:p>
          <a:p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EFCE9-7D6B-4994-C400-B5F2AFE6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3F643-8210-FBB2-A830-C30C49F7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3D5C14-C25A-2F2A-7DA5-126E08418BB7}"/>
              </a:ext>
            </a:extLst>
          </p:cNvPr>
          <p:cNvSpPr/>
          <p:nvPr/>
        </p:nvSpPr>
        <p:spPr>
          <a:xfrm>
            <a:off x="838200" y="5484721"/>
            <a:ext cx="10515600" cy="7404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C4291-33DB-71FF-5468-FE608E9C281B}"/>
              </a:ext>
            </a:extLst>
          </p:cNvPr>
          <p:cNvSpPr txBox="1"/>
          <p:nvPr/>
        </p:nvSpPr>
        <p:spPr>
          <a:xfrm>
            <a:off x="838200" y="5541829"/>
            <a:ext cx="99416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Amorim et al. (2025)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Conlon &amp; Gallery (2024)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Papahristou</a:t>
            </a:r>
            <a:r>
              <a:rPr lang="en-US" sz="1100" dirty="0"/>
              <a:t> &amp; Tatsi (2024)</a:t>
            </a:r>
          </a:p>
        </p:txBody>
      </p:sp>
    </p:spTree>
    <p:extLst>
      <p:ext uri="{BB962C8B-B14F-4D97-AF65-F5344CB8AC3E}">
        <p14:creationId xmlns:p14="http://schemas.microsoft.com/office/powerpoint/2010/main" val="3072717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E7D8E-EBFD-CC3C-D361-7CA3D6F9A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Aim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05EB-1A15-7146-A780-1986370B2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Aim:</a:t>
            </a:r>
            <a:br>
              <a:rPr lang="en-US" dirty="0"/>
            </a:br>
            <a:r>
              <a:rPr lang="en-US" dirty="0"/>
              <a:t>	To explore how fashion design professionals in Sri Lanka develop digital 	competencies and identify factors influencing their digital preparedness.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Explore professionals' digital competency development journeys. </a:t>
            </a:r>
          </a:p>
          <a:p>
            <a:pPr lvl="0"/>
            <a:r>
              <a:rPr lang="en-US" dirty="0"/>
              <a:t>Identify educational and professional experiences shaping digital capabilities. </a:t>
            </a:r>
          </a:p>
          <a:p>
            <a:pPr lvl="0"/>
            <a:r>
              <a:rPr lang="en-US" dirty="0"/>
              <a:t>Understand industry expectations regarding digital competencies. </a:t>
            </a:r>
          </a:p>
          <a:p>
            <a:pPr lvl="0"/>
            <a:r>
              <a:rPr lang="en-US" dirty="0"/>
              <a:t>Provide recommendations for strengthening fashion education.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AF787-8BCF-A9CA-ADDB-5BB936480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69C77-16CE-3917-4350-574FDD731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34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4AC17-9A6F-A55D-B14E-310DB89B3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Methodology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E3E9D3-4C87-190B-A7C2-F72A00417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" t="15908" r="270" b="13150"/>
          <a:stretch>
            <a:fillRect/>
          </a:stretch>
        </p:blipFill>
        <p:spPr>
          <a:xfrm>
            <a:off x="1601520" y="1354576"/>
            <a:ext cx="8748709" cy="414884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94933-EACD-7886-48A2-71239B0D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2CB87-5795-0008-284A-BE8C5F748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344BED-4F6A-8366-DA28-FDBBF6A1006E}"/>
              </a:ext>
            </a:extLst>
          </p:cNvPr>
          <p:cNvSpPr/>
          <p:nvPr/>
        </p:nvSpPr>
        <p:spPr>
          <a:xfrm>
            <a:off x="838200" y="5729384"/>
            <a:ext cx="10515600" cy="4958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34015-9C5D-80B3-3D65-4CEDE3F713EC}"/>
              </a:ext>
            </a:extLst>
          </p:cNvPr>
          <p:cNvSpPr txBox="1"/>
          <p:nvPr/>
        </p:nvSpPr>
        <p:spPr>
          <a:xfrm>
            <a:off x="838200" y="5765568"/>
            <a:ext cx="99416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Braun &amp; Clarke (2022)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Creswell &amp; Poth (2018)</a:t>
            </a:r>
          </a:p>
        </p:txBody>
      </p:sp>
    </p:spTree>
    <p:extLst>
      <p:ext uri="{BB962C8B-B14F-4D97-AF65-F5344CB8AC3E}">
        <p14:creationId xmlns:p14="http://schemas.microsoft.com/office/powerpoint/2010/main" val="4077205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2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6A74-77C2-68CA-D254-B201BD87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Professional Digital Competency Development Journey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1D0BC49-F98E-00D7-91AA-9D48540FA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427" b="18602"/>
          <a:stretch>
            <a:fillRect/>
          </a:stretch>
        </p:blipFill>
        <p:spPr>
          <a:xfrm>
            <a:off x="970830" y="1481206"/>
            <a:ext cx="7611195" cy="4110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F1766-E731-0F9C-3037-255774A8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37697-25B4-D580-475C-A0B8AA4A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02264DD5-FDB6-9BA9-DC49-E8990B04E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5" t="81268" r="66715" b="23"/>
          <a:stretch>
            <a:fillRect/>
          </a:stretch>
        </p:blipFill>
        <p:spPr>
          <a:xfrm>
            <a:off x="8337212" y="1481206"/>
            <a:ext cx="2268166" cy="1789889"/>
          </a:xfrm>
          <a:prstGeom prst="rect">
            <a:avLst/>
          </a:prstGeom>
        </p:spPr>
      </p:pic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AF09C236-037E-8ED3-022E-61A453A91E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47" t="81268" r="36553" b="23"/>
          <a:stretch>
            <a:fillRect/>
          </a:stretch>
        </p:blipFill>
        <p:spPr>
          <a:xfrm>
            <a:off x="8337212" y="3216694"/>
            <a:ext cx="2268166" cy="1789889"/>
          </a:xfrm>
          <a:prstGeom prst="rect">
            <a:avLst/>
          </a:prstGeom>
        </p:spPr>
      </p:pic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9C50D0AC-008A-1902-BCBA-64C922BFF4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78" t="81268" r="6722" b="9004"/>
          <a:stretch>
            <a:fillRect/>
          </a:stretch>
        </p:blipFill>
        <p:spPr>
          <a:xfrm>
            <a:off x="8337212" y="4976414"/>
            <a:ext cx="2268166" cy="93070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E7E4B56-60AB-9ACF-1376-805236CF7BB9}"/>
              </a:ext>
            </a:extLst>
          </p:cNvPr>
          <p:cNvSpPr/>
          <p:nvPr/>
        </p:nvSpPr>
        <p:spPr>
          <a:xfrm>
            <a:off x="838200" y="1079770"/>
            <a:ext cx="2819400" cy="4827351"/>
          </a:xfrm>
          <a:prstGeom prst="roundRect">
            <a:avLst/>
          </a:prstGeom>
          <a:noFill/>
          <a:ln w="28575">
            <a:solidFill>
              <a:srgbClr val="BF5A4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B71554-2EC3-05AE-EFB2-A57187A76027}"/>
              </a:ext>
            </a:extLst>
          </p:cNvPr>
          <p:cNvSpPr/>
          <p:nvPr/>
        </p:nvSpPr>
        <p:spPr>
          <a:xfrm>
            <a:off x="1342417" y="5717431"/>
            <a:ext cx="1945532" cy="379379"/>
          </a:xfrm>
          <a:prstGeom prst="rect">
            <a:avLst/>
          </a:prstGeom>
          <a:solidFill>
            <a:srgbClr val="BF5A4B"/>
          </a:solidFill>
          <a:ln>
            <a:solidFill>
              <a:srgbClr val="BF5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BC6E20-F0CD-985A-7EBF-E77F1DE928CF}"/>
              </a:ext>
            </a:extLst>
          </p:cNvPr>
          <p:cNvSpPr txBox="1"/>
          <p:nvPr/>
        </p:nvSpPr>
        <p:spPr>
          <a:xfrm>
            <a:off x="1342417" y="5737962"/>
            <a:ext cx="1977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 Light" panose="020B0403020202020204" pitchFamily="34" charset="0"/>
              </a:rPr>
              <a:t>Limited Early Exposure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83A51D-066D-4E20-78CF-80275C538CF5}"/>
              </a:ext>
            </a:extLst>
          </p:cNvPr>
          <p:cNvSpPr/>
          <p:nvPr/>
        </p:nvSpPr>
        <p:spPr>
          <a:xfrm>
            <a:off x="3511685" y="1079770"/>
            <a:ext cx="2470826" cy="4827351"/>
          </a:xfrm>
          <a:prstGeom prst="roundRect">
            <a:avLst/>
          </a:prstGeom>
          <a:noFill/>
          <a:ln w="2857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D44FFD-F256-783A-E2B6-9D681132EA8C}"/>
              </a:ext>
            </a:extLst>
          </p:cNvPr>
          <p:cNvSpPr/>
          <p:nvPr/>
        </p:nvSpPr>
        <p:spPr>
          <a:xfrm>
            <a:off x="3822970" y="5592006"/>
            <a:ext cx="1891422" cy="584741"/>
          </a:xfrm>
          <a:prstGeom prst="rect">
            <a:avLst/>
          </a:prstGeom>
          <a:solidFill>
            <a:srgbClr val="BE7C26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F02C5F-08CF-CE17-9780-1E70CABF8638}"/>
              </a:ext>
            </a:extLst>
          </p:cNvPr>
          <p:cNvSpPr txBox="1"/>
          <p:nvPr/>
        </p:nvSpPr>
        <p:spPr>
          <a:xfrm>
            <a:off x="3833916" y="5635145"/>
            <a:ext cx="1944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 Light" panose="020B0403020202020204" pitchFamily="34" charset="0"/>
              </a:rPr>
              <a:t>Educational Preparedness </a:t>
            </a:r>
          </a:p>
          <a:p>
            <a:pPr algn="ctr"/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 Light" panose="020B0403020202020204" pitchFamily="34" charset="0"/>
              </a:rPr>
              <a:t>&amp; Gaps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3783F5-6AA7-E0FC-9557-949FF685B986}"/>
              </a:ext>
            </a:extLst>
          </p:cNvPr>
          <p:cNvSpPr/>
          <p:nvPr/>
        </p:nvSpPr>
        <p:spPr>
          <a:xfrm>
            <a:off x="5714392" y="1079769"/>
            <a:ext cx="2470826" cy="1964987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525546-32B9-0495-D232-A2FDED219CB6}"/>
              </a:ext>
            </a:extLst>
          </p:cNvPr>
          <p:cNvSpPr/>
          <p:nvPr/>
        </p:nvSpPr>
        <p:spPr>
          <a:xfrm>
            <a:off x="7101192" y="1032431"/>
            <a:ext cx="3504186" cy="35829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54AB9B-25BD-1812-18C9-343A3FFE17F2}"/>
              </a:ext>
            </a:extLst>
          </p:cNvPr>
          <p:cNvSpPr txBox="1"/>
          <p:nvPr/>
        </p:nvSpPr>
        <p:spPr>
          <a:xfrm>
            <a:off x="6949805" y="1038616"/>
            <a:ext cx="3841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Helvetica Light" panose="020B0403020202020204" pitchFamily="34" charset="0"/>
              </a:rPr>
              <a:t>Challenging Education-to-Industry Transition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0D107A-FA90-89BA-27F4-0FC8C5B46C78}"/>
              </a:ext>
            </a:extLst>
          </p:cNvPr>
          <p:cNvSpPr/>
          <p:nvPr/>
        </p:nvSpPr>
        <p:spPr>
          <a:xfrm>
            <a:off x="5714392" y="2928026"/>
            <a:ext cx="2470826" cy="1556425"/>
          </a:xfrm>
          <a:prstGeom prst="roundRect">
            <a:avLst/>
          </a:prstGeom>
          <a:noFill/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E3881B-BF3E-AAE5-376E-1FFC0AB0FC72}"/>
              </a:ext>
            </a:extLst>
          </p:cNvPr>
          <p:cNvSpPr/>
          <p:nvPr/>
        </p:nvSpPr>
        <p:spPr>
          <a:xfrm>
            <a:off x="7363837" y="3003274"/>
            <a:ext cx="3241541" cy="35829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2068BE-56B7-50FC-BC83-9EE3C3C7852A}"/>
              </a:ext>
            </a:extLst>
          </p:cNvPr>
          <p:cNvSpPr txBox="1"/>
          <p:nvPr/>
        </p:nvSpPr>
        <p:spPr>
          <a:xfrm>
            <a:off x="7211439" y="3029932"/>
            <a:ext cx="3504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Helvetica Light" panose="020B0403020202020204" pitchFamily="34" charset="0"/>
              </a:rPr>
              <a:t>Digital Competencies Through Practice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B28E23-4EA7-01D3-9AA8-E6640CAB36CD}"/>
              </a:ext>
            </a:extLst>
          </p:cNvPr>
          <p:cNvSpPr/>
          <p:nvPr/>
        </p:nvSpPr>
        <p:spPr>
          <a:xfrm>
            <a:off x="5714393" y="4252044"/>
            <a:ext cx="2470826" cy="1789889"/>
          </a:xfrm>
          <a:prstGeom prst="roundRect">
            <a:avLst/>
          </a:prstGeom>
          <a:noFill/>
          <a:ln w="28575">
            <a:solidFill>
              <a:srgbClr val="F010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BF77DC-64D5-AFE8-A06C-2881A4375759}"/>
              </a:ext>
            </a:extLst>
          </p:cNvPr>
          <p:cNvSpPr/>
          <p:nvPr/>
        </p:nvSpPr>
        <p:spPr>
          <a:xfrm>
            <a:off x="6631934" y="5924675"/>
            <a:ext cx="3973443" cy="365126"/>
          </a:xfrm>
          <a:prstGeom prst="rect">
            <a:avLst/>
          </a:prstGeom>
          <a:solidFill>
            <a:srgbClr val="F01095"/>
          </a:solidFill>
          <a:ln>
            <a:solidFill>
              <a:srgbClr val="F010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3F19D3-B1E5-991A-E575-5E64FF9A18BB}"/>
              </a:ext>
            </a:extLst>
          </p:cNvPr>
          <p:cNvSpPr txBox="1"/>
          <p:nvPr/>
        </p:nvSpPr>
        <p:spPr>
          <a:xfrm>
            <a:off x="6568097" y="5932116"/>
            <a:ext cx="3973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Helvetica Light" panose="020B0403020202020204" pitchFamily="34" charset="0"/>
              </a:rPr>
              <a:t>Self-directed and Experiential Learning</a:t>
            </a:r>
          </a:p>
        </p:txBody>
      </p:sp>
    </p:spTree>
    <p:extLst>
      <p:ext uri="{BB962C8B-B14F-4D97-AF65-F5344CB8AC3E}">
        <p14:creationId xmlns:p14="http://schemas.microsoft.com/office/powerpoint/2010/main" val="3548289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 animBg="1"/>
      <p:bldP spid="9" grpId="0"/>
      <p:bldP spid="10" grpId="0" animBg="1"/>
      <p:bldP spid="12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0" grpId="0"/>
      <p:bldP spid="21" grpId="0" animBg="1"/>
      <p:bldP spid="22" grpId="0" animBg="1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DF81C-3053-ECB2-2671-7D25064C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Industry-Oriented Digital Competency Development Framework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5D07EE-29DD-FFD4-A441-64C9CA769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228" y="1211580"/>
            <a:ext cx="7322344" cy="48815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F9D5D-F953-3A67-9E05-A9448372E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8FDEF-512D-7193-B944-19130AEE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D26442-FE5F-90DC-39F6-2EF1AB6CB80E}"/>
              </a:ext>
            </a:extLst>
          </p:cNvPr>
          <p:cNvSpPr txBox="1">
            <a:spLocks/>
          </p:cNvSpPr>
          <p:nvPr/>
        </p:nvSpPr>
        <p:spPr>
          <a:xfrm>
            <a:off x="8610600" y="707798"/>
            <a:ext cx="3662394" cy="846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Helvetica Light" panose="020B0403020202020204" pitchFamily="34" charset="0"/>
                <a:ea typeface="+mj-ea"/>
                <a:cs typeface="+mj-cs"/>
              </a:defRPr>
            </a:lvl1pPr>
          </a:lstStyle>
          <a:p>
            <a:r>
              <a:rPr lang="en-US" sz="2000" i="1" dirty="0"/>
              <a:t>I-ODCD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944F1-E80D-9DAC-420A-B9D0C3D86329}"/>
              </a:ext>
            </a:extLst>
          </p:cNvPr>
          <p:cNvSpPr txBox="1"/>
          <p:nvPr/>
        </p:nvSpPr>
        <p:spPr>
          <a:xfrm>
            <a:off x="8582025" y="1925969"/>
            <a:ext cx="2546747" cy="4224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 Light" panose="020B0403020202020204" pitchFamily="34" charset="0"/>
                <a:ea typeface="+mj-ea"/>
                <a:cs typeface="+mj-cs"/>
              </a:rPr>
              <a:t>Key Contributions</a:t>
            </a:r>
          </a:p>
          <a:p>
            <a:endParaRPr lang="en-US" sz="1600" dirty="0">
              <a:latin typeface="Helvetica Light" panose="020B0403020202020204" pitchFamily="34" charset="0"/>
              <a:ea typeface="+mj-ea"/>
              <a:cs typeface="+mj-c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Helvetica Light" panose="020B0403020202020204" pitchFamily="34" charset="0"/>
                <a:ea typeface="+mj-ea"/>
                <a:cs typeface="+mj-cs"/>
              </a:rPr>
              <a:t>Digital competency develops across three interconnected stages.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Helvetica Light" panose="020B0403020202020204" pitchFamily="34" charset="0"/>
                <a:ea typeface="+mj-ea"/>
                <a:cs typeface="+mj-cs"/>
              </a:rPr>
              <a:t>Industry experience strengthens digital capability.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Helvetica Light" panose="020B0403020202020204" pitchFamily="34" charset="0"/>
                <a:ea typeface="+mj-ea"/>
                <a:cs typeface="+mj-cs"/>
              </a:rPr>
              <a:t>Continuous self-directed learning bridges educational gaps.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Helvetica Light" panose="020B0403020202020204" pitchFamily="34" charset="0"/>
                <a:ea typeface="+mj-ea"/>
                <a:cs typeface="+mj-cs"/>
              </a:rPr>
              <a:t>Industry feedback informs curriculum improvement.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Helvetica Light" panose="020B0403020202020204" pitchFamily="34" charset="0"/>
                <a:ea typeface="+mj-ea"/>
                <a:cs typeface="+mj-cs"/>
              </a:rPr>
              <a:t>Collaboration between education and industry supports lifelong digital competency development.</a:t>
            </a:r>
          </a:p>
          <a:p>
            <a:endParaRPr lang="en-US" sz="1600" dirty="0">
              <a:latin typeface="Helvetica Light" panose="020B0403020202020204" pitchFamily="34" charset="0"/>
              <a:ea typeface="+mj-ea"/>
              <a:cs typeface="+mj-cs"/>
            </a:endParaRPr>
          </a:p>
          <a:p>
            <a:endParaRPr lang="en-US" sz="10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3A2E3A-3DA2-0670-0BD6-C371C17A9619}"/>
              </a:ext>
            </a:extLst>
          </p:cNvPr>
          <p:cNvSpPr/>
          <p:nvPr/>
        </p:nvSpPr>
        <p:spPr>
          <a:xfrm>
            <a:off x="838200" y="1099226"/>
            <a:ext cx="2838855" cy="4688731"/>
          </a:xfrm>
          <a:prstGeom prst="roundRect">
            <a:avLst/>
          </a:prstGeom>
          <a:noFill/>
          <a:ln w="28575">
            <a:solidFill>
              <a:srgbClr val="D8963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29A975-F596-D46C-2CA1-0897941B2F44}"/>
              </a:ext>
            </a:extLst>
          </p:cNvPr>
          <p:cNvSpPr/>
          <p:nvPr/>
        </p:nvSpPr>
        <p:spPr>
          <a:xfrm>
            <a:off x="3581401" y="1099226"/>
            <a:ext cx="2838855" cy="4688731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5C6D5E-EE7C-296E-FB79-70AB66F68FA0}"/>
              </a:ext>
            </a:extLst>
          </p:cNvPr>
          <p:cNvSpPr/>
          <p:nvPr/>
        </p:nvSpPr>
        <p:spPr>
          <a:xfrm>
            <a:off x="6313252" y="1099225"/>
            <a:ext cx="2201696" cy="4688731"/>
          </a:xfrm>
          <a:prstGeom prst="roundRect">
            <a:avLst/>
          </a:prstGeom>
          <a:noFill/>
          <a:ln w="285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ADD649B-FB6E-6489-F273-080A72B3D4A2}"/>
              </a:ext>
            </a:extLst>
          </p:cNvPr>
          <p:cNvSpPr/>
          <p:nvPr/>
        </p:nvSpPr>
        <p:spPr>
          <a:xfrm>
            <a:off x="3463047" y="2422187"/>
            <a:ext cx="680936" cy="398834"/>
          </a:xfrm>
          <a:prstGeom prst="rightArrow">
            <a:avLst/>
          </a:prstGeom>
          <a:solidFill>
            <a:srgbClr val="F01095"/>
          </a:solidFill>
          <a:ln>
            <a:solidFill>
              <a:srgbClr val="F010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B6F4402-36C3-6878-5B57-5F1070638C01}"/>
              </a:ext>
            </a:extLst>
          </p:cNvPr>
          <p:cNvSpPr/>
          <p:nvPr/>
        </p:nvSpPr>
        <p:spPr>
          <a:xfrm>
            <a:off x="5939246" y="2423808"/>
            <a:ext cx="680936" cy="398834"/>
          </a:xfrm>
          <a:prstGeom prst="rightArrow">
            <a:avLst/>
          </a:prstGeom>
          <a:solidFill>
            <a:srgbClr val="F01095"/>
          </a:solidFill>
          <a:ln>
            <a:solidFill>
              <a:srgbClr val="F010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522337A-A6CF-5527-37DA-6EE2BA888F25}"/>
              </a:ext>
            </a:extLst>
          </p:cNvPr>
          <p:cNvSpPr/>
          <p:nvPr/>
        </p:nvSpPr>
        <p:spPr>
          <a:xfrm flipH="1">
            <a:off x="5964348" y="3852476"/>
            <a:ext cx="680936" cy="398834"/>
          </a:xfrm>
          <a:prstGeom prst="rightArrow">
            <a:avLst/>
          </a:prstGeom>
          <a:solidFill>
            <a:srgbClr val="F01095"/>
          </a:solidFill>
          <a:ln>
            <a:solidFill>
              <a:srgbClr val="F010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CF1D9BB-0B1C-03AB-83CF-262D5D794416}"/>
              </a:ext>
            </a:extLst>
          </p:cNvPr>
          <p:cNvSpPr/>
          <p:nvPr/>
        </p:nvSpPr>
        <p:spPr>
          <a:xfrm flipH="1">
            <a:off x="3463047" y="3832211"/>
            <a:ext cx="680936" cy="398834"/>
          </a:xfrm>
          <a:prstGeom prst="rightArrow">
            <a:avLst/>
          </a:prstGeom>
          <a:solidFill>
            <a:srgbClr val="F01095"/>
          </a:solidFill>
          <a:ln>
            <a:solidFill>
              <a:srgbClr val="F010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60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5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750"/>
                            </p:stCondLst>
                            <p:childTnLst>
                              <p:par>
                                <p:cTn id="5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6" grpId="0" animBg="1"/>
      <p:bldP spid="9" grpId="0" animBg="1"/>
      <p:bldP spid="10" grpId="0" animBg="1"/>
      <p:bldP spid="16" grpId="0" animBg="1"/>
      <p:bldP spid="18" grpId="0" animBg="1"/>
      <p:bldP spid="20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FD2E-A3D6-B596-C202-E40465A0A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6C52-BD49-FD3D-757B-51B80242E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477" y="1211580"/>
            <a:ext cx="10515600" cy="48812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For Fashion Education:</a:t>
            </a:r>
            <a:endParaRPr lang="en-US" sz="1800" dirty="0"/>
          </a:p>
          <a:p>
            <a:pPr lvl="0"/>
            <a:r>
              <a:rPr lang="en-US" sz="1800" dirty="0"/>
              <a:t>Introduce digital literacy earlier. </a:t>
            </a:r>
          </a:p>
          <a:p>
            <a:pPr lvl="0"/>
            <a:r>
              <a:rPr lang="en-US" sz="1800" dirty="0"/>
              <a:t>Integrate industry-relevant tools. </a:t>
            </a:r>
          </a:p>
          <a:p>
            <a:pPr lvl="0"/>
            <a:r>
              <a:rPr lang="en-US" sz="1800" dirty="0"/>
              <a:t>Strengthen academia–industry </a:t>
            </a:r>
          </a:p>
          <a:p>
            <a:pPr marL="0" lvl="0" indent="0">
              <a:buNone/>
            </a:pPr>
            <a:r>
              <a:rPr lang="en-US" sz="1800" dirty="0"/>
              <a:t>collaboration. 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For Industry:</a:t>
            </a:r>
            <a:endParaRPr lang="en-US" sz="1800" dirty="0"/>
          </a:p>
          <a:p>
            <a:pPr lvl="0"/>
            <a:r>
              <a:rPr lang="en-US" sz="1800" dirty="0"/>
              <a:t>Support graduate transition</a:t>
            </a:r>
          </a:p>
          <a:p>
            <a:pPr marL="0" lvl="0" indent="0">
              <a:buNone/>
            </a:pPr>
            <a:r>
              <a:rPr lang="en-US" sz="1800" dirty="0"/>
              <a:t>through mentoring. </a:t>
            </a:r>
          </a:p>
          <a:p>
            <a:pPr lvl="0"/>
            <a:r>
              <a:rPr lang="en-US" sz="1800" dirty="0"/>
              <a:t>Provide continuous learning </a:t>
            </a:r>
          </a:p>
          <a:p>
            <a:pPr marL="0" lvl="0" indent="0">
              <a:buNone/>
            </a:pPr>
            <a:r>
              <a:rPr lang="en-US" sz="1800" dirty="0"/>
              <a:t>opportunities. 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For Future Research:</a:t>
            </a:r>
            <a:endParaRPr lang="en-US" sz="1800" dirty="0"/>
          </a:p>
          <a:p>
            <a:pPr lvl="0"/>
            <a:r>
              <a:rPr lang="en-US" sz="1800" dirty="0"/>
              <a:t>Validate framework across wider contexts.</a:t>
            </a:r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787D7-C9BE-3DDD-5F6E-DAB3B6A43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87EC5-8432-1AFB-DE48-98E38DA2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AD0BDCCC-5FA1-AA23-A123-186E3EEC5A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" b="58448"/>
          <a:stretch>
            <a:fillRect/>
          </a:stretch>
        </p:blipFill>
        <p:spPr>
          <a:xfrm>
            <a:off x="4483546" y="1425995"/>
            <a:ext cx="7064808" cy="36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014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EFFB-AB91-5513-7178-4DC62CEEE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67" y="1065159"/>
            <a:ext cx="10515600" cy="846455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20022-03C7-6947-3B00-BA12AAAEA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4366"/>
            <a:ext cx="10515600" cy="3832597"/>
          </a:xfrm>
        </p:spPr>
        <p:txBody>
          <a:bodyPr/>
          <a:lstStyle/>
          <a:p>
            <a:pPr lvl="0"/>
            <a:r>
              <a:rPr lang="en-US" dirty="0"/>
              <a:t>Digital competency development is a continuous learning journey. </a:t>
            </a:r>
          </a:p>
          <a:p>
            <a:pPr lvl="0"/>
            <a:r>
              <a:rPr lang="en-US" dirty="0"/>
              <a:t>Professional practice plays a major role in building digital capabilities. </a:t>
            </a:r>
          </a:p>
          <a:p>
            <a:pPr lvl="0"/>
            <a:r>
              <a:rPr lang="en-US" dirty="0"/>
              <a:t>Fashion education must evolve through stronger industry alignment.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97CC3-2BCF-7BEC-2AA4-E91335A64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0FF39-08A2-86DA-AEDD-CD05ECDC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168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81E57-4904-1121-F3DD-35620126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736"/>
            <a:ext cx="10515600" cy="595322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6600" i="1" noProof="0" dirty="0">
                <a:latin typeface="PT Serif" panose="020A0603040505020204" pitchFamily="18" charset="77"/>
              </a:rPr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1A926-1169-9624-491B-7194F47A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1DE-ACE6-410C-A367-B03B5EAE8009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A65A1-14CD-5290-6306-74B3982D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6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4651</TotalTime>
  <Words>493</Words>
  <Application>Microsoft Office PowerPoint</Application>
  <PresentationFormat>Widescreen</PresentationFormat>
  <Paragraphs>110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Batang</vt:lpstr>
      <vt:lpstr>Arial</vt:lpstr>
      <vt:lpstr>Calibri</vt:lpstr>
      <vt:lpstr>Calibri Light</vt:lpstr>
      <vt:lpstr>Helvetica Light</vt:lpstr>
      <vt:lpstr>PT Serif</vt:lpstr>
      <vt:lpstr>Wingdings</vt:lpstr>
      <vt:lpstr>Office Theme</vt:lpstr>
      <vt:lpstr>From Novice to Digital Expert: Insights of the Learning Journeys of Fashion Design Professionals in Sri Lanka </vt:lpstr>
      <vt:lpstr>Background &amp; Research Context</vt:lpstr>
      <vt:lpstr>Research Problem &amp; Gap</vt:lpstr>
      <vt:lpstr>Research Aim &amp; Objectives</vt:lpstr>
      <vt:lpstr>Research Methodology</vt:lpstr>
      <vt:lpstr>Professional Digital Competency Development Journey</vt:lpstr>
      <vt:lpstr>Industry-Oriented Digital Competency Development Framework </vt:lpstr>
      <vt:lpstr>Implications &amp;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Janithapriya Buddhika K. PATHIRAGE DON</dc:creator>
  <cp:lastModifiedBy>Mihirini De Silva</cp:lastModifiedBy>
  <cp:revision>63</cp:revision>
  <dcterms:created xsi:type="dcterms:W3CDTF">2023-10-19T00:48:35Z</dcterms:created>
  <dcterms:modified xsi:type="dcterms:W3CDTF">2026-08-02T10:31:04Z</dcterms:modified>
</cp:coreProperties>
</file>